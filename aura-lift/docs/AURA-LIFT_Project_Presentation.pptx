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685800" y="960120"/>
            <a:ext cx="10789920" cy="274320"/>
          </a:xfrm>
          <a:prstGeom prst="rect">
            <a:avLst/>
          </a:prstGeom>
          <a:noFill/>
          <a:ln/>
        </p:spPr>
        <p:txBody>
          <a:bodyPr wrap="square" lIns="0" tIns="0" rIns="0" bIns="0" rtlCol="0" anchor="ctr"/>
          <a:lstStyle/>
          <a:p>
            <a:pPr indent="0" marL="0">
              <a:buNone/>
            </a:pPr>
            <a:r>
              <a:rPr lang="en-US" sz="1150" b="1" spc="160" kern="0" dirty="0">
                <a:solidFill>
                  <a:srgbClr val="5FC8D2"/>
                </a:solidFill>
                <a:latin typeface="Arial" pitchFamily="34" charset="0"/>
                <a:ea typeface="Arial" pitchFamily="34" charset="-122"/>
                <a:cs typeface="Arial" pitchFamily="34" charset="-120"/>
              </a:rPr>
              <a:t>ELECTRICAL-SIGNATURE DIAGNOSTICS FOR ELEVATOR DRIVES</a:t>
            </a:r>
            <a:endParaRPr lang="en-US" sz="1150" dirty="0"/>
          </a:p>
        </p:txBody>
      </p:sp>
      <p:sp>
        <p:nvSpPr>
          <p:cNvPr id="3" name="Text 1"/>
          <p:cNvSpPr txBox="1"/>
          <p:nvPr/>
        </p:nvSpPr>
        <p:spPr>
          <a:xfrm>
            <a:off x="685800" y="1335024"/>
            <a:ext cx="10789920" cy="100584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AURA-LIFT</a:t>
            </a:r>
            <a:endParaRPr lang="en-US" sz="6000" dirty="0"/>
          </a:p>
        </p:txBody>
      </p:sp>
      <p:sp>
        <p:nvSpPr>
          <p:cNvPr id="4" name="Text 2"/>
          <p:cNvSpPr txBox="1"/>
          <p:nvPr/>
        </p:nvSpPr>
        <p:spPr>
          <a:xfrm>
            <a:off x="713232" y="2395728"/>
            <a:ext cx="8412480" cy="822960"/>
          </a:xfrm>
          <a:prstGeom prst="rect">
            <a:avLst/>
          </a:prstGeom>
          <a:noFill/>
          <a:ln/>
        </p:spPr>
        <p:txBody>
          <a:bodyPr wrap="square" lIns="0" tIns="0" rIns="0" bIns="0" rtlCol="0" anchor="t"/>
          <a:lstStyle/>
          <a:p>
            <a:pPr indent="0" marL="0">
              <a:lnSpc>
                <a:spcPts val="2100"/>
              </a:lnSpc>
              <a:buNone/>
            </a:pPr>
            <a:r>
              <a:rPr lang="en-US" sz="1450" dirty="0">
                <a:solidFill>
                  <a:srgbClr val="B6C6D2"/>
                </a:solidFill>
                <a:latin typeface="Arial" pitchFamily="34" charset="0"/>
                <a:ea typeface="Arial" pitchFamily="34" charset="-122"/>
                <a:cs typeface="Arial" pitchFamily="34" charset="-120"/>
              </a:rPr>
              <a:t>A working hardware prototype that acquires motor current and voltage in real time, and six research-backed fault models that show how a drive fault appears in those same two signals.</a:t>
            </a:r>
            <a:endParaRPr lang="en-US" sz="1450" dirty="0"/>
          </a:p>
        </p:txBody>
      </p:sp>
      <p:sp>
        <p:nvSpPr>
          <p:cNvPr id="5" name="Shape 3"/>
          <p:cNvSpPr/>
          <p:nvPr/>
        </p:nvSpPr>
        <p:spPr>
          <a:xfrm>
            <a:off x="713232" y="3364992"/>
            <a:ext cx="10762488" cy="0"/>
          </a:xfrm>
          <a:prstGeom prst="line">
            <a:avLst/>
          </a:prstGeom>
          <a:noFill/>
          <a:ln w="12700">
            <a:solidFill>
              <a:srgbClr val="2E3F4F"/>
            </a:solidFill>
            <a:prstDash val="solid"/>
          </a:ln>
        </p:spPr>
      </p:sp>
      <p:sp>
        <p:nvSpPr>
          <p:cNvPr id="6" name="Text 4"/>
          <p:cNvSpPr txBox="1"/>
          <p:nvPr/>
        </p:nvSpPr>
        <p:spPr>
          <a:xfrm>
            <a:off x="713232" y="3602736"/>
            <a:ext cx="2468880" cy="512064"/>
          </a:xfrm>
          <a:prstGeom prst="rect">
            <a:avLst/>
          </a:prstGeom>
          <a:noFill/>
          <a:ln/>
        </p:spPr>
        <p:txBody>
          <a:bodyPr wrap="square" lIns="0" tIns="0" rIns="0" bIns="0" rtlCol="0" anchor="t"/>
          <a:lstStyle/>
          <a:p>
            <a:pPr indent="0" marL="0">
              <a:buNone/>
            </a:pPr>
            <a:r>
              <a:rPr lang="en-US" sz="3400" b="1" dirty="0">
                <a:solidFill>
                  <a:srgbClr val="0E7C86"/>
                </a:solidFill>
                <a:latin typeface="Arial" pitchFamily="34" charset="0"/>
                <a:ea typeface="Arial" pitchFamily="34" charset="-122"/>
                <a:cs typeface="Arial" pitchFamily="34" charset="-120"/>
              </a:rPr>
              <a:t>6</a:t>
            </a:r>
            <a:endParaRPr lang="en-US" sz="3400" dirty="0"/>
          </a:p>
        </p:txBody>
      </p:sp>
      <p:sp>
        <p:nvSpPr>
          <p:cNvPr id="7" name="Text 5"/>
          <p:cNvSpPr txBox="1"/>
          <p:nvPr/>
        </p:nvSpPr>
        <p:spPr>
          <a:xfrm>
            <a:off x="713232" y="4133088"/>
            <a:ext cx="2468880" cy="420624"/>
          </a:xfrm>
          <a:prstGeom prst="rect">
            <a:avLst/>
          </a:prstGeom>
          <a:noFill/>
          <a:ln/>
        </p:spPr>
        <p:txBody>
          <a:bodyPr wrap="square" lIns="0" tIns="0" rIns="0" bIns="0" rtlCol="0" anchor="t"/>
          <a:lstStyle/>
          <a:p>
            <a:pPr indent="0" marL="0">
              <a:lnSpc>
                <a:spcPts val="1500"/>
              </a:lnSpc>
              <a:buNone/>
            </a:pPr>
            <a:r>
              <a:rPr lang="en-US" sz="1100" dirty="0">
                <a:solidFill>
                  <a:srgbClr val="A9BAC6"/>
                </a:solidFill>
                <a:latin typeface="Arial" pitchFamily="34" charset="0"/>
                <a:ea typeface="Arial" pitchFamily="34" charset="-122"/>
                <a:cs typeface="Arial" pitchFamily="34" charset="-120"/>
              </a:rPr>
              <a:t>fault models built and validated against published engineering data</a:t>
            </a:r>
            <a:endParaRPr lang="en-US" sz="1100" dirty="0"/>
          </a:p>
        </p:txBody>
      </p:sp>
      <p:sp>
        <p:nvSpPr>
          <p:cNvPr id="8" name="Text 6"/>
          <p:cNvSpPr txBox="1"/>
          <p:nvPr/>
        </p:nvSpPr>
        <p:spPr>
          <a:xfrm>
            <a:off x="3456432" y="3602736"/>
            <a:ext cx="2468880" cy="512064"/>
          </a:xfrm>
          <a:prstGeom prst="rect">
            <a:avLst/>
          </a:prstGeom>
          <a:noFill/>
          <a:ln/>
        </p:spPr>
        <p:txBody>
          <a:bodyPr wrap="square" lIns="0" tIns="0" rIns="0" bIns="0" rtlCol="0" anchor="t"/>
          <a:lstStyle/>
          <a:p>
            <a:pPr indent="0" marL="0">
              <a:buNone/>
            </a:pPr>
            <a:r>
              <a:rPr lang="en-US" sz="3400" b="1" dirty="0">
                <a:solidFill>
                  <a:srgbClr val="5FC8D2"/>
                </a:solidFill>
                <a:latin typeface="Arial" pitchFamily="34" charset="0"/>
                <a:ea typeface="Arial" pitchFamily="34" charset="-122"/>
                <a:cs typeface="Arial" pitchFamily="34" charset="-120"/>
              </a:rPr>
              <a:t>7</a:t>
            </a:r>
            <a:endParaRPr lang="en-US" sz="3400" dirty="0"/>
          </a:p>
        </p:txBody>
      </p:sp>
      <p:sp>
        <p:nvSpPr>
          <p:cNvPr id="9" name="Text 7"/>
          <p:cNvSpPr txBox="1"/>
          <p:nvPr/>
        </p:nvSpPr>
        <p:spPr>
          <a:xfrm>
            <a:off x="3456432" y="4133088"/>
            <a:ext cx="2468880" cy="420624"/>
          </a:xfrm>
          <a:prstGeom prst="rect">
            <a:avLst/>
          </a:prstGeom>
          <a:noFill/>
          <a:ln/>
        </p:spPr>
        <p:txBody>
          <a:bodyPr wrap="square" lIns="0" tIns="0" rIns="0" bIns="0" rtlCol="0" anchor="t"/>
          <a:lstStyle/>
          <a:p>
            <a:pPr indent="0" marL="0">
              <a:lnSpc>
                <a:spcPts val="1500"/>
              </a:lnSpc>
              <a:buNone/>
            </a:pPr>
            <a:r>
              <a:rPr lang="en-US" sz="1100" dirty="0">
                <a:solidFill>
                  <a:srgbClr val="A9BAC6"/>
                </a:solidFill>
                <a:latin typeface="Arial" pitchFamily="34" charset="0"/>
                <a:ea typeface="Arial" pitchFamily="34" charset="-122"/>
                <a:cs typeface="Arial" pitchFamily="34" charset="-120"/>
              </a:rPr>
              <a:t>journeys logged live on our own hardware, segmented by trip phase</a:t>
            </a:r>
            <a:endParaRPr lang="en-US" sz="1100" dirty="0"/>
          </a:p>
        </p:txBody>
      </p:sp>
      <p:sp>
        <p:nvSpPr>
          <p:cNvPr id="10" name="Text 8"/>
          <p:cNvSpPr txBox="1"/>
          <p:nvPr/>
        </p:nvSpPr>
        <p:spPr>
          <a:xfrm>
            <a:off x="6199632" y="3602736"/>
            <a:ext cx="2468880" cy="512064"/>
          </a:xfrm>
          <a:prstGeom prst="rect">
            <a:avLst/>
          </a:prstGeom>
          <a:noFill/>
          <a:ln/>
        </p:spPr>
        <p:txBody>
          <a:bodyPr wrap="square" lIns="0" tIns="0" rIns="0" bIns="0" rtlCol="0" anchor="t"/>
          <a:lstStyle/>
          <a:p>
            <a:pPr indent="0" marL="0">
              <a:buNone/>
            </a:pPr>
            <a:r>
              <a:rPr lang="en-US" sz="3400" b="1" dirty="0">
                <a:solidFill>
                  <a:srgbClr val="5FC8D2"/>
                </a:solidFill>
                <a:latin typeface="Arial" pitchFamily="34" charset="0"/>
                <a:ea typeface="Arial" pitchFamily="34" charset="-122"/>
                <a:cs typeface="Arial" pitchFamily="34" charset="-120"/>
              </a:rPr>
              <a:t>3</a:t>
            </a:r>
            <a:endParaRPr lang="en-US" sz="3400" dirty="0"/>
          </a:p>
        </p:txBody>
      </p:sp>
      <p:sp>
        <p:nvSpPr>
          <p:cNvPr id="11" name="Text 9"/>
          <p:cNvSpPr txBox="1"/>
          <p:nvPr/>
        </p:nvSpPr>
        <p:spPr>
          <a:xfrm>
            <a:off x="6199632" y="4133088"/>
            <a:ext cx="2468880" cy="420624"/>
          </a:xfrm>
          <a:prstGeom prst="rect">
            <a:avLst/>
          </a:prstGeom>
          <a:noFill/>
          <a:ln/>
        </p:spPr>
        <p:txBody>
          <a:bodyPr wrap="square" lIns="0" tIns="0" rIns="0" bIns="0" rtlCol="0" anchor="t"/>
          <a:lstStyle/>
          <a:p>
            <a:pPr indent="0" marL="0">
              <a:lnSpc>
                <a:spcPts val="1500"/>
              </a:lnSpc>
              <a:buNone/>
            </a:pPr>
            <a:r>
              <a:rPr lang="en-US" sz="1100" dirty="0">
                <a:solidFill>
                  <a:srgbClr val="A9BAC6"/>
                </a:solidFill>
                <a:latin typeface="Arial" pitchFamily="34" charset="0"/>
                <a:ea typeface="Arial" pitchFamily="34" charset="-122"/>
                <a:cs typeface="Arial" pitchFamily="34" charset="-120"/>
              </a:rPr>
              <a:t>manufacturer worked examples reproduced exactly</a:t>
            </a:r>
            <a:endParaRPr lang="en-US" sz="1100" dirty="0"/>
          </a:p>
        </p:txBody>
      </p:sp>
      <p:sp>
        <p:nvSpPr>
          <p:cNvPr id="12" name="Text 10"/>
          <p:cNvSpPr txBox="1"/>
          <p:nvPr/>
        </p:nvSpPr>
        <p:spPr>
          <a:xfrm>
            <a:off x="8942832" y="3602736"/>
            <a:ext cx="2468880" cy="512064"/>
          </a:xfrm>
          <a:prstGeom prst="rect">
            <a:avLst/>
          </a:prstGeom>
          <a:noFill/>
          <a:ln/>
        </p:spPr>
        <p:txBody>
          <a:bodyPr wrap="square" lIns="0" tIns="0" rIns="0" bIns="0" rtlCol="0" anchor="t"/>
          <a:lstStyle/>
          <a:p>
            <a:pPr indent="0" marL="0">
              <a:buNone/>
            </a:pPr>
            <a:r>
              <a:rPr lang="en-US" sz="3400" b="1" dirty="0">
                <a:solidFill>
                  <a:srgbClr val="E8A25C"/>
                </a:solidFill>
                <a:latin typeface="Arial" pitchFamily="34" charset="0"/>
                <a:ea typeface="Arial" pitchFamily="34" charset="-122"/>
                <a:cs typeface="Arial" pitchFamily="34" charset="-120"/>
              </a:rPr>
              <a:t>2 of 6</a:t>
            </a:r>
            <a:endParaRPr lang="en-US" sz="3400" dirty="0"/>
          </a:p>
        </p:txBody>
      </p:sp>
      <p:sp>
        <p:nvSpPr>
          <p:cNvPr id="13" name="Text 11"/>
          <p:cNvSpPr txBox="1"/>
          <p:nvPr/>
        </p:nvSpPr>
        <p:spPr>
          <a:xfrm>
            <a:off x="8942832" y="4133088"/>
            <a:ext cx="2468880" cy="420624"/>
          </a:xfrm>
          <a:prstGeom prst="rect">
            <a:avLst/>
          </a:prstGeom>
          <a:noFill/>
          <a:ln/>
        </p:spPr>
        <p:txBody>
          <a:bodyPr wrap="square" lIns="0" tIns="0" rIns="0" bIns="0" rtlCol="0" anchor="t"/>
          <a:lstStyle/>
          <a:p>
            <a:pPr indent="0" marL="0">
              <a:lnSpc>
                <a:spcPts val="1500"/>
              </a:lnSpc>
              <a:buNone/>
            </a:pPr>
            <a:r>
              <a:rPr lang="en-US" sz="1100" dirty="0">
                <a:solidFill>
                  <a:srgbClr val="A9BAC6"/>
                </a:solidFill>
                <a:latin typeface="Arial" pitchFamily="34" charset="0"/>
                <a:ea typeface="Arial" pitchFamily="34" charset="-122"/>
                <a:cs typeface="Arial" pitchFamily="34" charset="-120"/>
              </a:rPr>
              <a:t>faults we can trace to a cause — and we show where the rest stop</a:t>
            </a:r>
            <a:endParaRPr lang="en-US" sz="1100" dirty="0"/>
          </a:p>
        </p:txBody>
      </p:sp>
      <p:sp>
        <p:nvSpPr>
          <p:cNvPr id="14" name="Shape 12"/>
          <p:cNvSpPr/>
          <p:nvPr/>
        </p:nvSpPr>
        <p:spPr>
          <a:xfrm>
            <a:off x="713232" y="4956048"/>
            <a:ext cx="10762488" cy="0"/>
          </a:xfrm>
          <a:prstGeom prst="line">
            <a:avLst/>
          </a:prstGeom>
          <a:noFill/>
          <a:ln w="12700">
            <a:solidFill>
              <a:srgbClr val="2E3F4F"/>
            </a:solidFill>
            <a:prstDash val="solid"/>
          </a:ln>
        </p:spPr>
      </p:sp>
      <p:sp>
        <p:nvSpPr>
          <p:cNvPr id="15" name="Text 13"/>
          <p:cNvSpPr txBox="1"/>
          <p:nvPr/>
        </p:nvSpPr>
        <p:spPr>
          <a:xfrm>
            <a:off x="713232" y="5138928"/>
            <a:ext cx="457200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Team Immortal</a:t>
            </a:r>
            <a:endParaRPr lang="en-US" sz="1500" dirty="0"/>
          </a:p>
        </p:txBody>
      </p:sp>
      <p:sp>
        <p:nvSpPr>
          <p:cNvPr id="16" name="Text 14"/>
          <p:cNvSpPr txBox="1"/>
          <p:nvPr/>
        </p:nvSpPr>
        <p:spPr>
          <a:xfrm>
            <a:off x="713232" y="5431536"/>
            <a:ext cx="5943600" cy="274320"/>
          </a:xfrm>
          <a:prstGeom prst="rect">
            <a:avLst/>
          </a:prstGeom>
          <a:noFill/>
          <a:ln/>
        </p:spPr>
        <p:txBody>
          <a:bodyPr wrap="square" lIns="0" tIns="0" rIns="0" bIns="0" rtlCol="0" anchor="t"/>
          <a:lstStyle/>
          <a:p>
            <a:pPr indent="0" marL="0">
              <a:buNone/>
            </a:pPr>
            <a:r>
              <a:rPr lang="en-US" sz="1200" dirty="0">
                <a:solidFill>
                  <a:srgbClr val="8FA2B0"/>
                </a:solidFill>
                <a:latin typeface="Arial" pitchFamily="34" charset="0"/>
                <a:ea typeface="Arial" pitchFamily="34" charset="-122"/>
                <a:cs typeface="Arial" pitchFamily="34" charset="-120"/>
              </a:rPr>
              <a:t>KIT — Kalaignar Karunanidhi Institute of Technology, Coimbatore</a:t>
            </a:r>
            <a:endParaRPr lang="en-US" sz="1200" dirty="0"/>
          </a:p>
        </p:txBody>
      </p:sp>
      <p:sp>
        <p:nvSpPr>
          <p:cNvPr id="17" name="Text 15"/>
          <p:cNvSpPr txBox="1"/>
          <p:nvPr/>
        </p:nvSpPr>
        <p:spPr>
          <a:xfrm>
            <a:off x="713232" y="5742432"/>
            <a:ext cx="5943600" cy="274320"/>
          </a:xfrm>
          <a:prstGeom prst="rect">
            <a:avLst/>
          </a:prstGeom>
          <a:noFill/>
          <a:ln/>
        </p:spPr>
        <p:txBody>
          <a:bodyPr wrap="square" lIns="0" tIns="0" rIns="0" bIns="0" rtlCol="0" anchor="t"/>
          <a:lstStyle/>
          <a:p>
            <a:pPr indent="0" marL="0">
              <a:buNone/>
            </a:pPr>
            <a:r>
              <a:rPr lang="en-US" sz="1200" dirty="0">
                <a:solidFill>
                  <a:srgbClr val="8FA2B0"/>
                </a:solidFill>
                <a:latin typeface="Arial" pitchFamily="34" charset="0"/>
                <a:ea typeface="Arial" pitchFamily="34" charset="-122"/>
                <a:cs typeface="Arial" pitchFamily="34" charset="-120"/>
              </a:rPr>
              <a:t>Houshik R  ·  Joshitha G  ·  Charunethra S</a:t>
            </a:r>
            <a:endParaRPr lang="en-US" sz="1200" dirty="0"/>
          </a:p>
        </p:txBody>
      </p:sp>
      <p:sp>
        <p:nvSpPr>
          <p:cNvPr id="18" name="Text 16"/>
          <p:cNvSpPr txBox="1"/>
          <p:nvPr/>
        </p:nvSpPr>
        <p:spPr>
          <a:xfrm>
            <a:off x="7498080" y="5138928"/>
            <a:ext cx="3977640" cy="914400"/>
          </a:xfrm>
          <a:prstGeom prst="rect">
            <a:avLst/>
          </a:prstGeom>
          <a:noFill/>
          <a:ln/>
        </p:spPr>
        <p:txBody>
          <a:bodyPr wrap="square" lIns="0" tIns="0" rIns="0" bIns="0" rtlCol="0" anchor="t"/>
          <a:lstStyle/>
          <a:p>
            <a:pPr indent="0" marL="0">
              <a:lnSpc>
                <a:spcPts val="1800"/>
              </a:lnSpc>
              <a:buNone/>
            </a:pPr>
            <a:r>
              <a:rPr lang="en-US" sz="1200" b="1" dirty="0">
                <a:solidFill>
                  <a:srgbClr val="5FC8D2"/>
                </a:solidFill>
                <a:latin typeface="Arial" pitchFamily="34" charset="0"/>
                <a:ea typeface="Arial" pitchFamily="34" charset="-122"/>
                <a:cs typeface="Arial" pitchFamily="34" charset="-120"/>
              </a:rPr>
              <a:t>The question the project answers
</a:t>
            </a:r>
            <a:pPr indent="0" marL="0">
              <a:lnSpc>
                <a:spcPts val="1800"/>
              </a:lnSpc>
              <a:buNone/>
            </a:pPr>
            <a:r>
              <a:rPr lang="en-US" sz="1200" dirty="0">
                <a:solidFill>
                  <a:srgbClr val="B6C6D2"/>
                </a:solidFill>
                <a:latin typeface="Arial" pitchFamily="34" charset="0"/>
                <a:ea typeface="Arial" pitchFamily="34" charset="-122"/>
                <a:cs typeface="Arial" pitchFamily="34" charset="-120"/>
              </a:rPr>
              <a:t>What can voltage and current alone prove about the health of an elevator drive?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19456"/>
          </a:xfrm>
          <a:prstGeom prst="rect">
            <a:avLst/>
          </a:prstGeom>
          <a:noFill/>
          <a:ln/>
        </p:spPr>
        <p:txBody>
          <a:bodyPr wrap="square" lIns="0" tIns="0" rIns="0" bIns="0" rtlCol="0" anchor="t"/>
          <a:lstStyle/>
          <a:p>
            <a:pPr indent="0" marL="0">
              <a:buNone/>
            </a:pPr>
            <a:r>
              <a:rPr lang="en-US" sz="1050" b="1" spc="140" kern="0" dirty="0">
                <a:solidFill>
                  <a:srgbClr val="0E7C86"/>
                </a:solidFill>
                <a:latin typeface="Arial" pitchFamily="34" charset="0"/>
                <a:ea typeface="Arial" pitchFamily="34" charset="-122"/>
                <a:cs typeface="Arial" pitchFamily="34" charset="-120"/>
              </a:rPr>
              <a:t>THE PROBLEM</a:t>
            </a:r>
            <a:endParaRPr lang="en-US" sz="1050" dirty="0"/>
          </a:p>
        </p:txBody>
      </p:sp>
      <p:sp>
        <p:nvSpPr>
          <p:cNvPr id="3" name="Text 1"/>
          <p:cNvSpPr txBox="1"/>
          <p:nvPr/>
        </p:nvSpPr>
        <p:spPr>
          <a:xfrm>
            <a:off x="548640" y="566928"/>
            <a:ext cx="11064240" cy="512064"/>
          </a:xfrm>
          <a:prstGeom prst="rect">
            <a:avLst/>
          </a:prstGeom>
          <a:noFill/>
          <a:ln/>
        </p:spPr>
        <p:txBody>
          <a:bodyPr wrap="square" lIns="0" tIns="0" rIns="0" bIns="0" rtlCol="0" anchor="t"/>
          <a:lstStyle/>
          <a:p>
            <a:pPr indent="0" marL="0">
              <a:buNone/>
            </a:pPr>
            <a:r>
              <a:rPr lang="en-US" sz="2900" b="1" dirty="0">
                <a:solidFill>
                  <a:srgbClr val="1A2430"/>
                </a:solidFill>
                <a:latin typeface="Arial" pitchFamily="34" charset="0"/>
                <a:ea typeface="Arial" pitchFamily="34" charset="-122"/>
                <a:cs typeface="Arial" pitchFamily="34" charset="-120"/>
              </a:rPr>
              <a:t>Drive faults are confirmed too late</a:t>
            </a:r>
            <a:endParaRPr lang="en-US" sz="2900" dirty="0"/>
          </a:p>
        </p:txBody>
      </p:sp>
      <p:sp>
        <p:nvSpPr>
          <p:cNvPr id="4" name="Text 2"/>
          <p:cNvSpPr txBox="1"/>
          <p:nvPr/>
        </p:nvSpPr>
        <p:spPr>
          <a:xfrm>
            <a:off x="548640" y="6327648"/>
            <a:ext cx="5486400" cy="219456"/>
          </a:xfrm>
          <a:prstGeom prst="rect">
            <a:avLst/>
          </a:prstGeom>
          <a:noFill/>
          <a:ln/>
        </p:spPr>
        <p:txBody>
          <a:bodyPr wrap="square" lIns="0" tIns="0" rIns="0" bIns="0" rtlCol="0" anchor="ctr"/>
          <a:lstStyle/>
          <a:p>
            <a:pPr indent="0" marL="0">
              <a:buNone/>
            </a:pPr>
            <a:r>
              <a:rPr lang="en-US" sz="900" dirty="0">
                <a:solidFill>
                  <a:srgbClr val="6B7A86"/>
                </a:solidFill>
                <a:latin typeface="Arial" pitchFamily="34" charset="0"/>
                <a:ea typeface="Arial" pitchFamily="34" charset="-122"/>
                <a:cs typeface="Arial" pitchFamily="34" charset="-120"/>
              </a:rPr>
              <a:t>AURA-LIFT  ·  Team Immortal</a:t>
            </a:r>
            <a:endParaRPr lang="en-US" sz="900" dirty="0"/>
          </a:p>
        </p:txBody>
      </p:sp>
      <p:sp>
        <p:nvSpPr>
          <p:cNvPr id="5" name="Text 3"/>
          <p:cNvSpPr txBox="1"/>
          <p:nvPr/>
        </p:nvSpPr>
        <p:spPr>
          <a:xfrm>
            <a:off x="10972800" y="6327648"/>
            <a:ext cx="667512" cy="219456"/>
          </a:xfrm>
          <a:prstGeom prst="rect">
            <a:avLst/>
          </a:prstGeom>
          <a:noFill/>
          <a:ln/>
        </p:spPr>
        <p:txBody>
          <a:bodyPr wrap="square" lIns="0" tIns="0" rIns="0" bIns="0" rtlCol="0" anchor="ctr"/>
          <a:lstStyle/>
          <a:p>
            <a:pPr algn="r" indent="0" marL="0">
              <a:buNone/>
            </a:pPr>
            <a:r>
              <a:rPr lang="en-US" sz="900" dirty="0">
                <a:solidFill>
                  <a:srgbClr val="6B7A86"/>
                </a:solidFill>
                <a:latin typeface="Arial" pitchFamily="34" charset="0"/>
                <a:ea typeface="Arial" pitchFamily="34" charset="-122"/>
                <a:cs typeface="Arial" pitchFamily="34" charset="-120"/>
              </a:rPr>
              <a:t>2</a:t>
            </a:r>
            <a:endParaRPr lang="en-US" sz="900" dirty="0"/>
          </a:p>
        </p:txBody>
      </p:sp>
      <p:sp>
        <p:nvSpPr>
          <p:cNvPr id="6" name="Text 4"/>
          <p:cNvSpPr txBox="1"/>
          <p:nvPr/>
        </p:nvSpPr>
        <p:spPr>
          <a:xfrm>
            <a:off x="548640" y="1143000"/>
            <a:ext cx="11091672" cy="274320"/>
          </a:xfrm>
          <a:prstGeom prst="rect">
            <a:avLst/>
          </a:prstGeom>
          <a:noFill/>
          <a:ln/>
        </p:spPr>
        <p:txBody>
          <a:bodyPr wrap="square" lIns="0" tIns="0" rIns="0" bIns="0" rtlCol="0" anchor="t"/>
          <a:lstStyle/>
          <a:p>
            <a:pPr indent="0" marL="0">
              <a:lnSpc>
                <a:spcPts val="1632"/>
              </a:lnSpc>
              <a:buNone/>
            </a:pPr>
            <a:r>
              <a:rPr lang="en-US" sz="1200" dirty="0">
                <a:solidFill>
                  <a:srgbClr val="5B6B7A"/>
                </a:solidFill>
                <a:latin typeface="Arial" pitchFamily="34" charset="0"/>
                <a:ea typeface="Arial" pitchFamily="34" charset="-122"/>
                <a:cs typeface="Arial" pitchFamily="34" charset="-120"/>
              </a:rPr>
              <a:t>The components that fail in an elevator drive degrade slowly. The information that would reveal it is already being measured.</a:t>
            </a:r>
            <a:endParaRPr lang="en-US" sz="1200" dirty="0"/>
          </a:p>
        </p:txBody>
      </p:sp>
      <p:sp>
        <p:nvSpPr>
          <p:cNvPr id="7" name="Shape 5"/>
          <p:cNvSpPr/>
          <p:nvPr/>
        </p:nvSpPr>
        <p:spPr>
          <a:xfrm>
            <a:off x="548640" y="1572768"/>
            <a:ext cx="11091672" cy="1444752"/>
          </a:xfrm>
          <a:prstGeom prst="roundRect">
            <a:avLst>
              <a:gd name="adj" fmla="val 4430"/>
            </a:avLst>
          </a:prstGeom>
          <a:solidFill>
            <a:srgbClr val="F2F5F7"/>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8" name="Text 6"/>
          <p:cNvSpPr txBox="1"/>
          <p:nvPr/>
        </p:nvSpPr>
        <p:spPr>
          <a:xfrm>
            <a:off x="804672" y="1755648"/>
            <a:ext cx="10607040" cy="237744"/>
          </a:xfrm>
          <a:prstGeom prst="rect">
            <a:avLst/>
          </a:prstGeom>
          <a:noFill/>
          <a:ln/>
        </p:spPr>
        <p:txBody>
          <a:bodyPr wrap="square" lIns="0" tIns="0" rIns="0" bIns="0" rtlCol="0" anchor="t"/>
          <a:lstStyle/>
          <a:p>
            <a:pPr indent="0" marL="0">
              <a:buNone/>
            </a:pPr>
            <a:r>
              <a:rPr lang="en-US" sz="1300" b="1" spc="50" kern="0" dirty="0">
                <a:solidFill>
                  <a:srgbClr val="1A2430"/>
                </a:solidFill>
                <a:latin typeface="Arial" pitchFamily="34" charset="0"/>
                <a:ea typeface="Arial" pitchFamily="34" charset="-122"/>
                <a:cs typeface="Arial" pitchFamily="34" charset="-120"/>
              </a:rPr>
              <a:t>HOW A DRIVE FAULT IS FOUND TODAY</a:t>
            </a:r>
            <a:endParaRPr lang="en-US" sz="1300" dirty="0"/>
          </a:p>
        </p:txBody>
      </p:sp>
      <p:sp>
        <p:nvSpPr>
          <p:cNvPr id="9" name="Shape 7"/>
          <p:cNvSpPr/>
          <p:nvPr/>
        </p:nvSpPr>
        <p:spPr>
          <a:xfrm>
            <a:off x="804672" y="2084832"/>
            <a:ext cx="2377440" cy="749808"/>
          </a:xfrm>
          <a:prstGeom prst="roundRect">
            <a:avLst>
              <a:gd name="adj" fmla="val 7317"/>
            </a:avLst>
          </a:prstGeom>
          <a:solidFill>
            <a:srgbClr val="FFFFFF"/>
          </a:solidFill>
          <a:ln w="12700">
            <a:solidFill>
              <a:srgbClr val="D7E0E6"/>
            </a:solidFill>
            <a:prstDash val="solid"/>
          </a:ln>
        </p:spPr>
      </p:sp>
      <p:sp>
        <p:nvSpPr>
          <p:cNvPr id="10" name="Text 8"/>
          <p:cNvSpPr txBox="1"/>
          <p:nvPr/>
        </p:nvSpPr>
        <p:spPr>
          <a:xfrm>
            <a:off x="932688" y="2176272"/>
            <a:ext cx="2121408" cy="237744"/>
          </a:xfrm>
          <a:prstGeom prst="rect">
            <a:avLst/>
          </a:prstGeom>
          <a:noFill/>
          <a:ln/>
        </p:spPr>
        <p:txBody>
          <a:bodyPr wrap="square" lIns="0" tIns="0" rIns="0" bIns="0" rtlCol="0" anchor="t"/>
          <a:lstStyle/>
          <a:p>
            <a:pPr indent="0" marL="0">
              <a:buNone/>
            </a:pPr>
            <a:r>
              <a:rPr lang="en-US" sz="1100" b="1" dirty="0">
                <a:solidFill>
                  <a:srgbClr val="1A2430"/>
                </a:solidFill>
                <a:latin typeface="Arial" pitchFamily="34" charset="0"/>
                <a:ea typeface="Arial" pitchFamily="34" charset="-122"/>
                <a:cs typeface="Arial" pitchFamily="34" charset="-120"/>
              </a:rPr>
              <a:t>Degradation begins</a:t>
            </a:r>
            <a:endParaRPr lang="en-US" sz="1100" dirty="0"/>
          </a:p>
        </p:txBody>
      </p:sp>
      <p:sp>
        <p:nvSpPr>
          <p:cNvPr id="11" name="Text 9"/>
          <p:cNvSpPr txBox="1"/>
          <p:nvPr/>
        </p:nvSpPr>
        <p:spPr>
          <a:xfrm>
            <a:off x="932688" y="2414016"/>
            <a:ext cx="2121408" cy="384048"/>
          </a:xfrm>
          <a:prstGeom prst="rect">
            <a:avLst/>
          </a:prstGeom>
          <a:noFill/>
          <a:ln/>
        </p:spPr>
        <p:txBody>
          <a:bodyPr wrap="square" lIns="0" tIns="0" rIns="0" bIns="0" rtlCol="0" anchor="t"/>
          <a:lstStyle/>
          <a:p>
            <a:pPr indent="0" marL="0">
              <a:lnSpc>
                <a:spcPts val="1250"/>
              </a:lnSpc>
              <a:buNone/>
            </a:pPr>
            <a:r>
              <a:rPr lang="en-US" sz="950" dirty="0">
                <a:solidFill>
                  <a:srgbClr val="5B6B7A"/>
                </a:solidFill>
                <a:latin typeface="Arial" pitchFamily="34" charset="0"/>
                <a:ea typeface="Arial" pitchFamily="34" charset="-122"/>
                <a:cs typeface="Arial" pitchFamily="34" charset="-120"/>
              </a:rPr>
              <a:t>capacitor dries out, a switch weakens, drag rises</a:t>
            </a:r>
            <a:endParaRPr lang="en-US" sz="950" dirty="0"/>
          </a:p>
        </p:txBody>
      </p:sp>
      <p:sp>
        <p:nvSpPr>
          <p:cNvPr id="12" name="Shape 10"/>
          <p:cNvSpPr/>
          <p:nvPr/>
        </p:nvSpPr>
        <p:spPr>
          <a:xfrm>
            <a:off x="3209544" y="2459736"/>
            <a:ext cx="219456" cy="0"/>
          </a:xfrm>
          <a:prstGeom prst="line">
            <a:avLst/>
          </a:prstGeom>
          <a:noFill/>
          <a:ln w="16510">
            <a:solidFill>
              <a:srgbClr val="A8B7C2"/>
            </a:solidFill>
            <a:prstDash val="solid"/>
            <a:tailEnd type="triangle"/>
          </a:ln>
        </p:spPr>
      </p:sp>
      <p:sp>
        <p:nvSpPr>
          <p:cNvPr id="13" name="Shape 11"/>
          <p:cNvSpPr/>
          <p:nvPr/>
        </p:nvSpPr>
        <p:spPr>
          <a:xfrm>
            <a:off x="3474720" y="2084832"/>
            <a:ext cx="2377440" cy="749808"/>
          </a:xfrm>
          <a:prstGeom prst="roundRect">
            <a:avLst>
              <a:gd name="adj" fmla="val 7317"/>
            </a:avLst>
          </a:prstGeom>
          <a:solidFill>
            <a:srgbClr val="FFFFFF"/>
          </a:solidFill>
          <a:ln w="12700">
            <a:solidFill>
              <a:srgbClr val="D7E0E6"/>
            </a:solidFill>
            <a:prstDash val="solid"/>
          </a:ln>
        </p:spPr>
      </p:sp>
      <p:sp>
        <p:nvSpPr>
          <p:cNvPr id="14" name="Text 12"/>
          <p:cNvSpPr txBox="1"/>
          <p:nvPr/>
        </p:nvSpPr>
        <p:spPr>
          <a:xfrm>
            <a:off x="3602736" y="2176272"/>
            <a:ext cx="2121408" cy="237744"/>
          </a:xfrm>
          <a:prstGeom prst="rect">
            <a:avLst/>
          </a:prstGeom>
          <a:noFill/>
          <a:ln/>
        </p:spPr>
        <p:txBody>
          <a:bodyPr wrap="square" lIns="0" tIns="0" rIns="0" bIns="0" rtlCol="0" anchor="t"/>
          <a:lstStyle/>
          <a:p>
            <a:pPr indent="0" marL="0">
              <a:buNone/>
            </a:pPr>
            <a:r>
              <a:rPr lang="en-US" sz="1100" b="1" dirty="0">
                <a:solidFill>
                  <a:srgbClr val="1A2430"/>
                </a:solidFill>
                <a:latin typeface="Arial" pitchFamily="34" charset="0"/>
                <a:ea typeface="Arial" pitchFamily="34" charset="-122"/>
                <a:cs typeface="Arial" pitchFamily="34" charset="-120"/>
              </a:rPr>
              <a:t>Months pass</a:t>
            </a:r>
            <a:endParaRPr lang="en-US" sz="1100" dirty="0"/>
          </a:p>
        </p:txBody>
      </p:sp>
      <p:sp>
        <p:nvSpPr>
          <p:cNvPr id="15" name="Text 13"/>
          <p:cNvSpPr txBox="1"/>
          <p:nvPr/>
        </p:nvSpPr>
        <p:spPr>
          <a:xfrm>
            <a:off x="3602736" y="2414016"/>
            <a:ext cx="2121408" cy="384048"/>
          </a:xfrm>
          <a:prstGeom prst="rect">
            <a:avLst/>
          </a:prstGeom>
          <a:noFill/>
          <a:ln/>
        </p:spPr>
        <p:txBody>
          <a:bodyPr wrap="square" lIns="0" tIns="0" rIns="0" bIns="0" rtlCol="0" anchor="t"/>
          <a:lstStyle/>
          <a:p>
            <a:pPr indent="0" marL="0">
              <a:lnSpc>
                <a:spcPts val="1250"/>
              </a:lnSpc>
              <a:buNone/>
            </a:pPr>
            <a:r>
              <a:rPr lang="en-US" sz="950" dirty="0">
                <a:solidFill>
                  <a:srgbClr val="5B6B7A"/>
                </a:solidFill>
                <a:latin typeface="Arial" pitchFamily="34" charset="0"/>
                <a:ea typeface="Arial" pitchFamily="34" charset="-122"/>
                <a:cs typeface="Arial" pitchFamily="34" charset="-120"/>
              </a:rPr>
              <a:t>nothing in the maintenance schedule looks at it</a:t>
            </a:r>
            <a:endParaRPr lang="en-US" sz="950" dirty="0"/>
          </a:p>
        </p:txBody>
      </p:sp>
      <p:sp>
        <p:nvSpPr>
          <p:cNvPr id="16" name="Shape 14"/>
          <p:cNvSpPr/>
          <p:nvPr/>
        </p:nvSpPr>
        <p:spPr>
          <a:xfrm>
            <a:off x="5879592" y="2459736"/>
            <a:ext cx="219456" cy="0"/>
          </a:xfrm>
          <a:prstGeom prst="line">
            <a:avLst/>
          </a:prstGeom>
          <a:noFill/>
          <a:ln w="16510">
            <a:solidFill>
              <a:srgbClr val="A8B7C2"/>
            </a:solidFill>
            <a:prstDash val="solid"/>
            <a:tailEnd type="triangle"/>
          </a:ln>
        </p:spPr>
      </p:sp>
      <p:sp>
        <p:nvSpPr>
          <p:cNvPr id="17" name="Shape 15"/>
          <p:cNvSpPr/>
          <p:nvPr/>
        </p:nvSpPr>
        <p:spPr>
          <a:xfrm>
            <a:off x="6144768" y="2084832"/>
            <a:ext cx="2377440" cy="749808"/>
          </a:xfrm>
          <a:prstGeom prst="roundRect">
            <a:avLst>
              <a:gd name="adj" fmla="val 7317"/>
            </a:avLst>
          </a:prstGeom>
          <a:solidFill>
            <a:srgbClr val="FFFFFF"/>
          </a:solidFill>
          <a:ln w="12700">
            <a:solidFill>
              <a:srgbClr val="D7E0E6"/>
            </a:solidFill>
            <a:prstDash val="solid"/>
          </a:ln>
        </p:spPr>
      </p:sp>
      <p:sp>
        <p:nvSpPr>
          <p:cNvPr id="18" name="Text 16"/>
          <p:cNvSpPr txBox="1"/>
          <p:nvPr/>
        </p:nvSpPr>
        <p:spPr>
          <a:xfrm>
            <a:off x="6272784" y="2176272"/>
            <a:ext cx="2121408" cy="237744"/>
          </a:xfrm>
          <a:prstGeom prst="rect">
            <a:avLst/>
          </a:prstGeom>
          <a:noFill/>
          <a:ln/>
        </p:spPr>
        <p:txBody>
          <a:bodyPr wrap="square" lIns="0" tIns="0" rIns="0" bIns="0" rtlCol="0" anchor="t"/>
          <a:lstStyle/>
          <a:p>
            <a:pPr indent="0" marL="0">
              <a:buNone/>
            </a:pPr>
            <a:r>
              <a:rPr lang="en-US" sz="1100" b="1" dirty="0">
                <a:solidFill>
                  <a:srgbClr val="1A2430"/>
                </a:solidFill>
                <a:latin typeface="Arial" pitchFamily="34" charset="0"/>
                <a:ea typeface="Arial" pitchFamily="34" charset="-122"/>
                <a:cs typeface="Arial" pitchFamily="34" charset="-120"/>
              </a:rPr>
              <a:t>The drive trips</a:t>
            </a:r>
            <a:endParaRPr lang="en-US" sz="1100" dirty="0"/>
          </a:p>
        </p:txBody>
      </p:sp>
      <p:sp>
        <p:nvSpPr>
          <p:cNvPr id="19" name="Text 17"/>
          <p:cNvSpPr txBox="1"/>
          <p:nvPr/>
        </p:nvSpPr>
        <p:spPr>
          <a:xfrm>
            <a:off x="6272784" y="2414016"/>
            <a:ext cx="2121408" cy="384048"/>
          </a:xfrm>
          <a:prstGeom prst="rect">
            <a:avLst/>
          </a:prstGeom>
          <a:noFill/>
          <a:ln/>
        </p:spPr>
        <p:txBody>
          <a:bodyPr wrap="square" lIns="0" tIns="0" rIns="0" bIns="0" rtlCol="0" anchor="t"/>
          <a:lstStyle/>
          <a:p>
            <a:pPr indent="0" marL="0">
              <a:lnSpc>
                <a:spcPts val="1250"/>
              </a:lnSpc>
              <a:buNone/>
            </a:pPr>
            <a:r>
              <a:rPr lang="en-US" sz="950" dirty="0">
                <a:solidFill>
                  <a:srgbClr val="5B6B7A"/>
                </a:solidFill>
                <a:latin typeface="Arial" pitchFamily="34" charset="0"/>
                <a:ea typeface="Arial" pitchFamily="34" charset="-122"/>
                <a:cs typeface="Arial" pitchFamily="34" charset="-120"/>
              </a:rPr>
              <a:t>or a passenger is stranded and a callback is raised</a:t>
            </a:r>
            <a:endParaRPr lang="en-US" sz="950" dirty="0"/>
          </a:p>
        </p:txBody>
      </p:sp>
      <p:sp>
        <p:nvSpPr>
          <p:cNvPr id="20" name="Shape 18"/>
          <p:cNvSpPr/>
          <p:nvPr/>
        </p:nvSpPr>
        <p:spPr>
          <a:xfrm>
            <a:off x="8549640" y="2459736"/>
            <a:ext cx="219456" cy="0"/>
          </a:xfrm>
          <a:prstGeom prst="line">
            <a:avLst/>
          </a:prstGeom>
          <a:noFill/>
          <a:ln w="16510">
            <a:solidFill>
              <a:srgbClr val="A8B7C2"/>
            </a:solidFill>
            <a:prstDash val="solid"/>
            <a:tailEnd type="triangle"/>
          </a:ln>
        </p:spPr>
      </p:sp>
      <p:sp>
        <p:nvSpPr>
          <p:cNvPr id="21" name="Shape 19"/>
          <p:cNvSpPr/>
          <p:nvPr/>
        </p:nvSpPr>
        <p:spPr>
          <a:xfrm>
            <a:off x="8814816" y="2084832"/>
            <a:ext cx="2377440" cy="749808"/>
          </a:xfrm>
          <a:prstGeom prst="roundRect">
            <a:avLst>
              <a:gd name="adj" fmla="val 7317"/>
            </a:avLst>
          </a:prstGeom>
          <a:solidFill>
            <a:srgbClr val="FFFFFF"/>
          </a:solidFill>
          <a:ln w="12700">
            <a:solidFill>
              <a:srgbClr val="D7E0E6"/>
            </a:solidFill>
            <a:prstDash val="solid"/>
          </a:ln>
        </p:spPr>
      </p:sp>
      <p:sp>
        <p:nvSpPr>
          <p:cNvPr id="22" name="Text 20"/>
          <p:cNvSpPr txBox="1"/>
          <p:nvPr/>
        </p:nvSpPr>
        <p:spPr>
          <a:xfrm>
            <a:off x="8942832" y="2176272"/>
            <a:ext cx="2121408" cy="237744"/>
          </a:xfrm>
          <a:prstGeom prst="rect">
            <a:avLst/>
          </a:prstGeom>
          <a:noFill/>
          <a:ln/>
        </p:spPr>
        <p:txBody>
          <a:bodyPr wrap="square" lIns="0" tIns="0" rIns="0" bIns="0" rtlCol="0" anchor="t"/>
          <a:lstStyle/>
          <a:p>
            <a:pPr indent="0" marL="0">
              <a:buNone/>
            </a:pPr>
            <a:r>
              <a:rPr lang="en-US" sz="1100" b="1" dirty="0">
                <a:solidFill>
                  <a:srgbClr val="B02A20"/>
                </a:solidFill>
                <a:latin typeface="Arial" pitchFamily="34" charset="0"/>
                <a:ea typeface="Arial" pitchFamily="34" charset="-122"/>
                <a:cs typeface="Arial" pitchFamily="34" charset="-120"/>
              </a:rPr>
              <a:t>Diagnosis on site</a:t>
            </a:r>
            <a:endParaRPr lang="en-US" sz="1100" dirty="0"/>
          </a:p>
        </p:txBody>
      </p:sp>
      <p:sp>
        <p:nvSpPr>
          <p:cNvPr id="23" name="Text 21"/>
          <p:cNvSpPr txBox="1"/>
          <p:nvPr/>
        </p:nvSpPr>
        <p:spPr>
          <a:xfrm>
            <a:off x="8942832" y="2414016"/>
            <a:ext cx="2121408" cy="384048"/>
          </a:xfrm>
          <a:prstGeom prst="rect">
            <a:avLst/>
          </a:prstGeom>
          <a:noFill/>
          <a:ln/>
        </p:spPr>
        <p:txBody>
          <a:bodyPr wrap="square" lIns="0" tIns="0" rIns="0" bIns="0" rtlCol="0" anchor="t"/>
          <a:lstStyle/>
          <a:p>
            <a:pPr indent="0" marL="0">
              <a:lnSpc>
                <a:spcPts val="1250"/>
              </a:lnSpc>
              <a:buNone/>
            </a:pPr>
            <a:r>
              <a:rPr lang="en-US" sz="950" dirty="0">
                <a:solidFill>
                  <a:srgbClr val="5B6B7A"/>
                </a:solidFill>
                <a:latin typeface="Arial" pitchFamily="34" charset="0"/>
                <a:ea typeface="Arial" pitchFamily="34" charset="-122"/>
                <a:cs typeface="Arial" pitchFamily="34" charset="-120"/>
              </a:rPr>
              <a:t>a fault code with several possible causes, found by substitution</a:t>
            </a:r>
            <a:endParaRPr lang="en-US" sz="950" dirty="0"/>
          </a:p>
        </p:txBody>
      </p:sp>
      <p:sp>
        <p:nvSpPr>
          <p:cNvPr id="24" name="Shape 22"/>
          <p:cNvSpPr/>
          <p:nvPr/>
        </p:nvSpPr>
        <p:spPr>
          <a:xfrm>
            <a:off x="548640" y="3255264"/>
            <a:ext cx="5486400" cy="1463040"/>
          </a:xfrm>
          <a:prstGeom prst="roundRect">
            <a:avLst>
              <a:gd name="adj" fmla="val 4375"/>
            </a:avLst>
          </a:prstGeom>
          <a:solidFill>
            <a:srgbClr val="E2F1F2"/>
          </a:solidFill>
          <a:ln w="12700">
            <a:solidFill>
              <a:srgbClr val="B9DEE1"/>
            </a:solidFill>
            <a:prstDash val="solid"/>
          </a:ln>
          <a:effectLst>
            <a:outerShdw sx="100000" sy="100000" kx="0" ky="0" algn="bl" rotWithShape="0" blurRad="88900" dist="25400" dir="5400000">
              <a:srgbClr val="AEBDC7">
                <a:alpha val="22000"/>
              </a:srgbClr>
            </a:outerShdw>
          </a:effectLst>
        </p:spPr>
      </p:sp>
      <p:sp>
        <p:nvSpPr>
          <p:cNvPr id="25" name="Text 23"/>
          <p:cNvSpPr txBox="1"/>
          <p:nvPr/>
        </p:nvSpPr>
        <p:spPr>
          <a:xfrm>
            <a:off x="804672" y="3438144"/>
            <a:ext cx="5029200" cy="237744"/>
          </a:xfrm>
          <a:prstGeom prst="rect">
            <a:avLst/>
          </a:prstGeom>
          <a:noFill/>
          <a:ln/>
        </p:spPr>
        <p:txBody>
          <a:bodyPr wrap="square" lIns="0" tIns="0" rIns="0" bIns="0" rtlCol="0" anchor="t"/>
          <a:lstStyle/>
          <a:p>
            <a:pPr indent="0" marL="0">
              <a:buNone/>
            </a:pPr>
            <a:r>
              <a:rPr lang="en-US" sz="1300" b="1" spc="50" kern="0" dirty="0">
                <a:solidFill>
                  <a:srgbClr val="0E7C86"/>
                </a:solidFill>
                <a:latin typeface="Arial" pitchFamily="34" charset="0"/>
                <a:ea typeface="Arial" pitchFamily="34" charset="-122"/>
                <a:cs typeface="Arial" pitchFamily="34" charset="-120"/>
              </a:rPr>
              <a:t>THE SIGNALS ARE ALREADY THERE</a:t>
            </a:r>
            <a:endParaRPr lang="en-US" sz="1300" dirty="0"/>
          </a:p>
        </p:txBody>
      </p:sp>
      <p:sp>
        <p:nvSpPr>
          <p:cNvPr id="26" name="Text 24"/>
          <p:cNvSpPr txBox="1"/>
          <p:nvPr/>
        </p:nvSpPr>
        <p:spPr>
          <a:xfrm>
            <a:off x="804672" y="3749040"/>
            <a:ext cx="4983480" cy="841248"/>
          </a:xfrm>
          <a:prstGeom prst="rect">
            <a:avLst/>
          </a:prstGeom>
          <a:noFill/>
          <a:ln/>
        </p:spPr>
        <p:txBody>
          <a:bodyPr wrap="square" lIns="0" tIns="0" rIns="0" bIns="0" rtlCol="0" anchor="t"/>
          <a:lstStyle/>
          <a:p>
            <a:pPr indent="0" marL="0">
              <a:lnSpc>
                <a:spcPts val="1428"/>
              </a:lnSpc>
              <a:buNone/>
            </a:pPr>
            <a:r>
              <a:rPr lang="en-US" sz="1050" dirty="0">
                <a:solidFill>
                  <a:srgbClr val="1A2430"/>
                </a:solidFill>
                <a:latin typeface="Arial" pitchFamily="34" charset="0"/>
                <a:ea typeface="Arial" pitchFamily="34" charset="-122"/>
                <a:cs typeface="Arial" pitchFamily="34" charset="-120"/>
              </a:rPr>
              <a:t>Every drive measures motor current and DC-bus voltage continuously, because it needs them to run the motor. Nothing has to be installed to read them. A diagnostic built only on those two signals deploys as software, across old and new equipment alike.</a:t>
            </a:r>
            <a:endParaRPr lang="en-US" sz="1050" dirty="0"/>
          </a:p>
        </p:txBody>
      </p:sp>
      <p:sp>
        <p:nvSpPr>
          <p:cNvPr id="27" name="Shape 25"/>
          <p:cNvSpPr/>
          <p:nvPr/>
        </p:nvSpPr>
        <p:spPr>
          <a:xfrm>
            <a:off x="6245352" y="3255264"/>
            <a:ext cx="5394960" cy="1463040"/>
          </a:xfrm>
          <a:prstGeom prst="roundRect">
            <a:avLst>
              <a:gd name="adj" fmla="val 4375"/>
            </a:avLst>
          </a:prstGeom>
          <a:solidFill>
            <a:srgbClr val="FBEEE2"/>
          </a:solidFill>
          <a:ln w="12700">
            <a:solidFill>
              <a:srgbClr val="EED6BE"/>
            </a:solidFill>
            <a:prstDash val="solid"/>
          </a:ln>
          <a:effectLst>
            <a:outerShdw sx="100000" sy="100000" kx="0" ky="0" algn="bl" rotWithShape="0" blurRad="88900" dist="25400" dir="5400000">
              <a:srgbClr val="AEBDC7">
                <a:alpha val="22000"/>
              </a:srgbClr>
            </a:outerShdw>
          </a:effectLst>
        </p:spPr>
      </p:sp>
      <p:sp>
        <p:nvSpPr>
          <p:cNvPr id="28" name="Text 26"/>
          <p:cNvSpPr txBox="1"/>
          <p:nvPr/>
        </p:nvSpPr>
        <p:spPr>
          <a:xfrm>
            <a:off x="6501384" y="3438144"/>
            <a:ext cx="4937760" cy="237744"/>
          </a:xfrm>
          <a:prstGeom prst="rect">
            <a:avLst/>
          </a:prstGeom>
          <a:noFill/>
          <a:ln/>
        </p:spPr>
        <p:txBody>
          <a:bodyPr wrap="square" lIns="0" tIns="0" rIns="0" bIns="0" rtlCol="0" anchor="t"/>
          <a:lstStyle/>
          <a:p>
            <a:pPr indent="0" marL="0">
              <a:buNone/>
            </a:pPr>
            <a:r>
              <a:rPr lang="en-US" sz="1300" b="1" spc="50" kern="0" dirty="0">
                <a:solidFill>
                  <a:srgbClr val="B4530A"/>
                </a:solidFill>
                <a:latin typeface="Arial" pitchFamily="34" charset="0"/>
                <a:ea typeface="Arial" pitchFamily="34" charset="-122"/>
                <a:cs typeface="Arial" pitchFamily="34" charset="-120"/>
              </a:rPr>
              <a:t>THE QUESTION NOBODY HAD ANSWERED</a:t>
            </a:r>
            <a:endParaRPr lang="en-US" sz="1300" dirty="0"/>
          </a:p>
        </p:txBody>
      </p:sp>
      <p:sp>
        <p:nvSpPr>
          <p:cNvPr id="29" name="Text 27"/>
          <p:cNvSpPr txBox="1"/>
          <p:nvPr/>
        </p:nvSpPr>
        <p:spPr>
          <a:xfrm>
            <a:off x="6501384" y="3749040"/>
            <a:ext cx="4892040" cy="841248"/>
          </a:xfrm>
          <a:prstGeom prst="rect">
            <a:avLst/>
          </a:prstGeom>
          <a:noFill/>
          <a:ln/>
        </p:spPr>
        <p:txBody>
          <a:bodyPr wrap="square" lIns="0" tIns="0" rIns="0" bIns="0" rtlCol="0" anchor="t"/>
          <a:lstStyle/>
          <a:p>
            <a:pPr indent="0" marL="0">
              <a:lnSpc>
                <a:spcPts val="1428"/>
              </a:lnSpc>
              <a:buNone/>
            </a:pPr>
            <a:r>
              <a:rPr lang="en-US" sz="1050" dirty="0">
                <a:solidFill>
                  <a:srgbClr val="1A2430"/>
                </a:solidFill>
                <a:latin typeface="Arial" pitchFamily="34" charset="0"/>
                <a:ea typeface="Arial" pitchFamily="34" charset="-122"/>
                <a:cs typeface="Arial" pitchFamily="34" charset="-120"/>
              </a:rPr>
              <a:t>Signature analysis is an established field. What we could not find was a measured answer to the practical question: across the faults that actually occur in a drive, how many can current and voltage identify, and where exactly does the evidence run out?</a:t>
            </a:r>
            <a:endParaRPr lang="en-US" sz="1050" dirty="0"/>
          </a:p>
        </p:txBody>
      </p:sp>
      <p:sp>
        <p:nvSpPr>
          <p:cNvPr id="30" name="Shape 28"/>
          <p:cNvSpPr/>
          <p:nvPr/>
        </p:nvSpPr>
        <p:spPr>
          <a:xfrm>
            <a:off x="548640" y="4956048"/>
            <a:ext cx="11091672" cy="1261872"/>
          </a:xfrm>
          <a:prstGeom prst="roundRect">
            <a:avLst>
              <a:gd name="adj" fmla="val 5072"/>
            </a:avLst>
          </a:prstGeom>
          <a:solidFill>
            <a:srgbClr val="16202B"/>
          </a:solidFill>
          <a:ln w="12700">
            <a:solidFill>
              <a:srgbClr val="16202B"/>
            </a:solidFill>
            <a:prstDash val="solid"/>
          </a:ln>
          <a:effectLst>
            <a:outerShdw sx="100000" sy="100000" kx="0" ky="0" algn="bl" rotWithShape="0" blurRad="88900" dist="25400" dir="5400000">
              <a:srgbClr val="AEBDC7">
                <a:alpha val="22000"/>
              </a:srgbClr>
            </a:outerShdw>
          </a:effectLst>
        </p:spPr>
      </p:sp>
      <p:sp>
        <p:nvSpPr>
          <p:cNvPr id="31" name="Text 29"/>
          <p:cNvSpPr txBox="1"/>
          <p:nvPr/>
        </p:nvSpPr>
        <p:spPr>
          <a:xfrm>
            <a:off x="822960" y="5138928"/>
            <a:ext cx="10515600" cy="329184"/>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So we set out to measure the answer, not assert it.</a:t>
            </a:r>
            <a:endParaRPr lang="en-US" sz="1700" dirty="0"/>
          </a:p>
        </p:txBody>
      </p:sp>
      <p:sp>
        <p:nvSpPr>
          <p:cNvPr id="32" name="Text 30"/>
          <p:cNvSpPr txBox="1"/>
          <p:nvPr/>
        </p:nvSpPr>
        <p:spPr>
          <a:xfrm>
            <a:off x="822960" y="5541264"/>
            <a:ext cx="10515600" cy="512064"/>
          </a:xfrm>
          <a:prstGeom prst="rect">
            <a:avLst/>
          </a:prstGeom>
          <a:noFill/>
          <a:ln/>
        </p:spPr>
        <p:txBody>
          <a:bodyPr wrap="square" lIns="0" tIns="0" rIns="0" bIns="0" rtlCol="0" anchor="t"/>
          <a:lstStyle/>
          <a:p>
            <a:pPr indent="0" marL="0">
              <a:lnSpc>
                <a:spcPts val="1800"/>
              </a:lnSpc>
              <a:buNone/>
            </a:pPr>
            <a:r>
              <a:rPr lang="en-US" sz="1250" dirty="0">
                <a:solidFill>
                  <a:srgbClr val="A9BAC6"/>
                </a:solidFill>
                <a:latin typeface="Arial" pitchFamily="34" charset="0"/>
                <a:ea typeface="Arial" pitchFamily="34" charset="-122"/>
                <a:cs typeface="Arial" pitchFamily="34" charset="-120"/>
              </a:rPr>
              <a:t>Build hardware that acquires the two signals for real, then build fault models where the fault is injected into a circuit and the physics produces the waveform — and see, fault by fault, what those signals support.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19456"/>
          </a:xfrm>
          <a:prstGeom prst="rect">
            <a:avLst/>
          </a:prstGeom>
          <a:noFill/>
          <a:ln/>
        </p:spPr>
        <p:txBody>
          <a:bodyPr wrap="square" lIns="0" tIns="0" rIns="0" bIns="0" rtlCol="0" anchor="t"/>
          <a:lstStyle/>
          <a:p>
            <a:pPr indent="0" marL="0">
              <a:buNone/>
            </a:pPr>
            <a:r>
              <a:rPr lang="en-US" sz="1050" b="1" spc="140" kern="0" dirty="0">
                <a:solidFill>
                  <a:srgbClr val="0E7C86"/>
                </a:solidFill>
                <a:latin typeface="Arial" pitchFamily="34" charset="0"/>
                <a:ea typeface="Arial" pitchFamily="34" charset="-122"/>
                <a:cs typeface="Arial" pitchFamily="34" charset="-120"/>
              </a:rPr>
              <a:t>THE SOLUTION</a:t>
            </a:r>
            <a:endParaRPr lang="en-US" sz="1050" dirty="0"/>
          </a:p>
        </p:txBody>
      </p:sp>
      <p:sp>
        <p:nvSpPr>
          <p:cNvPr id="3" name="Text 1"/>
          <p:cNvSpPr txBox="1"/>
          <p:nvPr/>
        </p:nvSpPr>
        <p:spPr>
          <a:xfrm>
            <a:off x="548640" y="566928"/>
            <a:ext cx="11064240" cy="512064"/>
          </a:xfrm>
          <a:prstGeom prst="rect">
            <a:avLst/>
          </a:prstGeom>
          <a:noFill/>
          <a:ln/>
        </p:spPr>
        <p:txBody>
          <a:bodyPr wrap="square" lIns="0" tIns="0" rIns="0" bIns="0" rtlCol="0" anchor="t"/>
          <a:lstStyle/>
          <a:p>
            <a:pPr indent="0" marL="0">
              <a:buNone/>
            </a:pPr>
            <a:r>
              <a:rPr lang="en-US" sz="2900" b="1" dirty="0">
                <a:solidFill>
                  <a:srgbClr val="1A2430"/>
                </a:solidFill>
                <a:latin typeface="Arial" pitchFamily="34" charset="0"/>
                <a:ea typeface="Arial" pitchFamily="34" charset="-122"/>
                <a:cs typeface="Arial" pitchFamily="34" charset="-120"/>
              </a:rPr>
              <a:t>AURA-LIFT</a:t>
            </a:r>
            <a:endParaRPr lang="en-US" sz="2900" dirty="0"/>
          </a:p>
        </p:txBody>
      </p:sp>
      <p:sp>
        <p:nvSpPr>
          <p:cNvPr id="4" name="Text 2"/>
          <p:cNvSpPr txBox="1"/>
          <p:nvPr/>
        </p:nvSpPr>
        <p:spPr>
          <a:xfrm>
            <a:off x="548640" y="6327648"/>
            <a:ext cx="5486400" cy="219456"/>
          </a:xfrm>
          <a:prstGeom prst="rect">
            <a:avLst/>
          </a:prstGeom>
          <a:noFill/>
          <a:ln/>
        </p:spPr>
        <p:txBody>
          <a:bodyPr wrap="square" lIns="0" tIns="0" rIns="0" bIns="0" rtlCol="0" anchor="ctr"/>
          <a:lstStyle/>
          <a:p>
            <a:pPr indent="0" marL="0">
              <a:buNone/>
            </a:pPr>
            <a:r>
              <a:rPr lang="en-US" sz="900" dirty="0">
                <a:solidFill>
                  <a:srgbClr val="6B7A86"/>
                </a:solidFill>
                <a:latin typeface="Arial" pitchFamily="34" charset="0"/>
                <a:ea typeface="Arial" pitchFamily="34" charset="-122"/>
                <a:cs typeface="Arial" pitchFamily="34" charset="-120"/>
              </a:rPr>
              <a:t>AURA-LIFT  ·  Team Immortal</a:t>
            </a:r>
            <a:endParaRPr lang="en-US" sz="900" dirty="0"/>
          </a:p>
        </p:txBody>
      </p:sp>
      <p:sp>
        <p:nvSpPr>
          <p:cNvPr id="5" name="Text 3"/>
          <p:cNvSpPr txBox="1"/>
          <p:nvPr/>
        </p:nvSpPr>
        <p:spPr>
          <a:xfrm>
            <a:off x="10972800" y="6327648"/>
            <a:ext cx="667512" cy="219456"/>
          </a:xfrm>
          <a:prstGeom prst="rect">
            <a:avLst/>
          </a:prstGeom>
          <a:noFill/>
          <a:ln/>
        </p:spPr>
        <p:txBody>
          <a:bodyPr wrap="square" lIns="0" tIns="0" rIns="0" bIns="0" rtlCol="0" anchor="ctr"/>
          <a:lstStyle/>
          <a:p>
            <a:pPr algn="r" indent="0" marL="0">
              <a:buNone/>
            </a:pPr>
            <a:r>
              <a:rPr lang="en-US" sz="900" dirty="0">
                <a:solidFill>
                  <a:srgbClr val="6B7A86"/>
                </a:solidFill>
                <a:latin typeface="Arial" pitchFamily="34" charset="0"/>
                <a:ea typeface="Arial" pitchFamily="34" charset="-122"/>
                <a:cs typeface="Arial" pitchFamily="34" charset="-120"/>
              </a:rPr>
              <a:t>3</a:t>
            </a:r>
            <a:endParaRPr lang="en-US" sz="900" dirty="0"/>
          </a:p>
        </p:txBody>
      </p:sp>
      <p:sp>
        <p:nvSpPr>
          <p:cNvPr id="6" name="Text 4"/>
          <p:cNvSpPr txBox="1"/>
          <p:nvPr/>
        </p:nvSpPr>
        <p:spPr>
          <a:xfrm>
            <a:off x="548640" y="1143000"/>
            <a:ext cx="11091672" cy="274320"/>
          </a:xfrm>
          <a:prstGeom prst="rect">
            <a:avLst/>
          </a:prstGeom>
          <a:noFill/>
          <a:ln/>
        </p:spPr>
        <p:txBody>
          <a:bodyPr wrap="square" lIns="0" tIns="0" rIns="0" bIns="0" rtlCol="0" anchor="t"/>
          <a:lstStyle/>
          <a:p>
            <a:pPr indent="0" marL="0">
              <a:lnSpc>
                <a:spcPts val="1632"/>
              </a:lnSpc>
              <a:buNone/>
            </a:pPr>
            <a:r>
              <a:rPr lang="en-US" sz="1200" dirty="0">
                <a:solidFill>
                  <a:srgbClr val="5B6B7A"/>
                </a:solidFill>
                <a:latin typeface="Arial" pitchFamily="34" charset="0"/>
                <a:ea typeface="Arial" pitchFamily="34" charset="-122"/>
                <a:cs typeface="Arial" pitchFamily="34" charset="-120"/>
              </a:rPr>
              <a:t>One constraint, two layers, and a single way of reading both.</a:t>
            </a:r>
            <a:endParaRPr lang="en-US" sz="1200" dirty="0"/>
          </a:p>
        </p:txBody>
      </p:sp>
      <p:sp>
        <p:nvSpPr>
          <p:cNvPr id="7" name="Shape 5"/>
          <p:cNvSpPr/>
          <p:nvPr/>
        </p:nvSpPr>
        <p:spPr>
          <a:xfrm>
            <a:off x="548640" y="1554480"/>
            <a:ext cx="11091672" cy="658368"/>
          </a:xfrm>
          <a:prstGeom prst="roundRect">
            <a:avLst>
              <a:gd name="adj" fmla="val 9722"/>
            </a:avLst>
          </a:prstGeom>
          <a:solidFill>
            <a:srgbClr val="16202B"/>
          </a:solidFill>
          <a:ln w="12700">
            <a:solidFill>
              <a:srgbClr val="16202B"/>
            </a:solidFill>
            <a:prstDash val="solid"/>
          </a:ln>
          <a:effectLst>
            <a:outerShdw sx="100000" sy="100000" kx="0" ky="0" algn="bl" rotWithShape="0" blurRad="88900" dist="25400" dir="5400000">
              <a:srgbClr val="AEBDC7">
                <a:alpha val="22000"/>
              </a:srgbClr>
            </a:outerShdw>
          </a:effectLst>
        </p:spPr>
      </p:sp>
      <p:sp>
        <p:nvSpPr>
          <p:cNvPr id="8" name="Text 6"/>
          <p:cNvSpPr txBox="1"/>
          <p:nvPr/>
        </p:nvSpPr>
        <p:spPr>
          <a:xfrm>
            <a:off x="822960" y="1554480"/>
            <a:ext cx="10515600" cy="65836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rule we held to throughout:  voltage and current, nothing else.</a:t>
            </a:r>
            <a:endParaRPr lang="en-US" sz="1600" dirty="0"/>
          </a:p>
        </p:txBody>
      </p:sp>
      <p:sp>
        <p:nvSpPr>
          <p:cNvPr id="9" name="Shape 7"/>
          <p:cNvSpPr/>
          <p:nvPr/>
        </p:nvSpPr>
        <p:spPr>
          <a:xfrm>
            <a:off x="548640" y="2395728"/>
            <a:ext cx="5486400" cy="2377440"/>
          </a:xfrm>
          <a:prstGeom prst="roundRect">
            <a:avLst>
              <a:gd name="adj" fmla="val 2692"/>
            </a:avLst>
          </a:prstGeom>
          <a:solidFill>
            <a:srgbClr val="E2F1F2"/>
          </a:solidFill>
          <a:ln w="12700">
            <a:solidFill>
              <a:srgbClr val="B9DEE1"/>
            </a:solidFill>
            <a:prstDash val="solid"/>
          </a:ln>
          <a:effectLst>
            <a:outerShdw sx="100000" sy="100000" kx="0" ky="0" algn="bl" rotWithShape="0" blurRad="88900" dist="25400" dir="5400000">
              <a:srgbClr val="AEBDC7">
                <a:alpha val="22000"/>
              </a:srgbClr>
            </a:outerShdw>
          </a:effectLst>
        </p:spPr>
      </p:sp>
      <p:sp>
        <p:nvSpPr>
          <p:cNvPr id="10" name="Shape 8"/>
          <p:cNvSpPr/>
          <p:nvPr/>
        </p:nvSpPr>
        <p:spPr>
          <a:xfrm>
            <a:off x="10853928" y="2578608"/>
            <a:ext cx="786384" cy="219456"/>
          </a:xfrm>
          <a:prstGeom prst="roundRect">
            <a:avLst>
              <a:gd name="adj" fmla="val 50000"/>
            </a:avLst>
          </a:prstGeom>
          <a:solidFill>
            <a:srgbClr val="0E7C86"/>
          </a:solidFill>
          <a:ln/>
        </p:spPr>
      </p:sp>
      <p:sp>
        <p:nvSpPr>
          <p:cNvPr id="11" name="Text 9"/>
          <p:cNvSpPr txBox="1"/>
          <p:nvPr/>
        </p:nvSpPr>
        <p:spPr>
          <a:xfrm>
            <a:off x="10853928" y="2578608"/>
            <a:ext cx="786384" cy="219456"/>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Arial" pitchFamily="34" charset="0"/>
                <a:ea typeface="Arial" pitchFamily="34" charset="-122"/>
                <a:cs typeface="Arial" pitchFamily="34" charset="-120"/>
              </a:rPr>
              <a:t>BUILT</a:t>
            </a:r>
            <a:endParaRPr lang="en-US" sz="900" dirty="0"/>
          </a:p>
        </p:txBody>
      </p:sp>
      <p:sp>
        <p:nvSpPr>
          <p:cNvPr id="12" name="Shape 10"/>
          <p:cNvSpPr/>
          <p:nvPr/>
        </p:nvSpPr>
        <p:spPr>
          <a:xfrm>
            <a:off x="804672" y="2578608"/>
            <a:ext cx="786384" cy="219456"/>
          </a:xfrm>
          <a:prstGeom prst="roundRect">
            <a:avLst>
              <a:gd name="adj" fmla="val 50000"/>
            </a:avLst>
          </a:prstGeom>
          <a:solidFill>
            <a:srgbClr val="0E7C86"/>
          </a:solidFill>
          <a:ln/>
        </p:spPr>
      </p:sp>
      <p:sp>
        <p:nvSpPr>
          <p:cNvPr id="13" name="Text 11"/>
          <p:cNvSpPr txBox="1"/>
          <p:nvPr/>
        </p:nvSpPr>
        <p:spPr>
          <a:xfrm>
            <a:off x="804672" y="2578608"/>
            <a:ext cx="786384"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BUILT</a:t>
            </a:r>
            <a:endParaRPr lang="en-US" sz="900" dirty="0"/>
          </a:p>
        </p:txBody>
      </p:sp>
      <p:sp>
        <p:nvSpPr>
          <p:cNvPr id="14" name="Text 12"/>
          <p:cNvSpPr txBox="1"/>
          <p:nvPr/>
        </p:nvSpPr>
        <p:spPr>
          <a:xfrm>
            <a:off x="804672" y="2889504"/>
            <a:ext cx="4754880" cy="310896"/>
          </a:xfrm>
          <a:prstGeom prst="rect">
            <a:avLst/>
          </a:prstGeom>
          <a:noFill/>
          <a:ln/>
        </p:spPr>
        <p:txBody>
          <a:bodyPr wrap="square" lIns="0" tIns="0" rIns="0" bIns="0" rtlCol="0" anchor="t"/>
          <a:lstStyle/>
          <a:p>
            <a:pPr indent="0" marL="0">
              <a:buNone/>
            </a:pPr>
            <a:r>
              <a:rPr lang="en-US" sz="1600" b="1" dirty="0">
                <a:solidFill>
                  <a:srgbClr val="1A2430"/>
                </a:solidFill>
                <a:latin typeface="Arial" pitchFamily="34" charset="0"/>
                <a:ea typeface="Arial" pitchFamily="34" charset="-122"/>
                <a:cs typeface="Arial" pitchFamily="34" charset="-120"/>
              </a:rPr>
              <a:t>Layer 1  ·  Acquisition</a:t>
            </a:r>
            <a:endParaRPr lang="en-US" sz="1600" dirty="0"/>
          </a:p>
        </p:txBody>
      </p:sp>
      <p:sp>
        <p:nvSpPr>
          <p:cNvPr id="15" name="Text 13"/>
          <p:cNvSpPr txBox="1"/>
          <p:nvPr/>
        </p:nvSpPr>
        <p:spPr>
          <a:xfrm>
            <a:off x="804672" y="3236976"/>
            <a:ext cx="4983480" cy="274320"/>
          </a:xfrm>
          <a:prstGeom prst="rect">
            <a:avLst/>
          </a:prstGeom>
          <a:noFill/>
          <a:ln/>
        </p:spPr>
        <p:txBody>
          <a:bodyPr wrap="square" lIns="0" tIns="0" rIns="0" bIns="0" rtlCol="0" anchor="t"/>
          <a:lstStyle/>
          <a:p>
            <a:pPr indent="0" marL="0">
              <a:lnSpc>
                <a:spcPts val="1428"/>
              </a:lnSpc>
              <a:buNone/>
            </a:pPr>
            <a:r>
              <a:rPr lang="en-US" sz="1050" dirty="0">
                <a:solidFill>
                  <a:srgbClr val="0E7C86"/>
                </a:solidFill>
                <a:latin typeface="Arial" pitchFamily="34" charset="0"/>
                <a:ea typeface="Arial" pitchFamily="34" charset="-122"/>
                <a:cs typeface="Arial" pitchFamily="34" charset="-120"/>
              </a:rPr>
              <a:t>A physical bench rig that measures, segments and logs</a:t>
            </a:r>
            <a:endParaRPr lang="en-US" sz="1050" dirty="0"/>
          </a:p>
        </p:txBody>
      </p:sp>
      <p:sp>
        <p:nvSpPr>
          <p:cNvPr id="16" name="Text 14"/>
          <p:cNvSpPr txBox="1"/>
          <p:nvPr/>
        </p:nvSpPr>
        <p:spPr>
          <a:xfrm>
            <a:off x="804672" y="3566160"/>
            <a:ext cx="4983480" cy="1133856"/>
          </a:xfrm>
          <a:prstGeom prst="rect">
            <a:avLst/>
          </a:prstGeom>
          <a:noFill/>
          <a:ln/>
        </p:spPr>
        <p:txBody>
          <a:bodyPr wrap="square" lIns="0" tIns="0" rIns="0" bIns="0" rtlCol="0" anchor="t"/>
          <a:lstStyle/>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ESP32 with current and voltage sensing on a driven DC load</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Journeys split into phases and averaged per phase</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UP and DOWN runs paired to separate load from loss</a:t>
            </a:r>
            <a:endParaRPr lang="en-US" sz="1050" dirty="0"/>
          </a:p>
        </p:txBody>
      </p:sp>
      <p:sp>
        <p:nvSpPr>
          <p:cNvPr id="17" name="Shape 15"/>
          <p:cNvSpPr/>
          <p:nvPr/>
        </p:nvSpPr>
        <p:spPr>
          <a:xfrm>
            <a:off x="6245352" y="2395728"/>
            <a:ext cx="5394960" cy="2377440"/>
          </a:xfrm>
          <a:prstGeom prst="roundRect">
            <a:avLst>
              <a:gd name="adj" fmla="val 2692"/>
            </a:avLst>
          </a:prstGeom>
          <a:solidFill>
            <a:srgbClr val="FBEEE2"/>
          </a:solidFill>
          <a:ln w="12700">
            <a:solidFill>
              <a:srgbClr val="EED6BE"/>
            </a:solidFill>
            <a:prstDash val="solid"/>
          </a:ln>
          <a:effectLst>
            <a:outerShdw sx="100000" sy="100000" kx="0" ky="0" algn="bl" rotWithShape="0" blurRad="88900" dist="25400" dir="5400000">
              <a:srgbClr val="AEBDC7">
                <a:alpha val="22000"/>
              </a:srgbClr>
            </a:outerShdw>
          </a:effectLst>
        </p:spPr>
      </p:sp>
      <p:sp>
        <p:nvSpPr>
          <p:cNvPr id="18" name="Shape 16"/>
          <p:cNvSpPr/>
          <p:nvPr/>
        </p:nvSpPr>
        <p:spPr>
          <a:xfrm>
            <a:off x="6501384" y="2578608"/>
            <a:ext cx="786384" cy="219456"/>
          </a:xfrm>
          <a:prstGeom prst="roundRect">
            <a:avLst>
              <a:gd name="adj" fmla="val 50000"/>
            </a:avLst>
          </a:prstGeom>
          <a:solidFill>
            <a:srgbClr val="B4530A"/>
          </a:solidFill>
          <a:ln/>
        </p:spPr>
      </p:sp>
      <p:sp>
        <p:nvSpPr>
          <p:cNvPr id="19" name="Text 17"/>
          <p:cNvSpPr txBox="1"/>
          <p:nvPr/>
        </p:nvSpPr>
        <p:spPr>
          <a:xfrm>
            <a:off x="6501384" y="2578608"/>
            <a:ext cx="786384"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BUILT</a:t>
            </a:r>
            <a:endParaRPr lang="en-US" sz="900" dirty="0"/>
          </a:p>
        </p:txBody>
      </p:sp>
      <p:sp>
        <p:nvSpPr>
          <p:cNvPr id="20" name="Text 18"/>
          <p:cNvSpPr txBox="1"/>
          <p:nvPr/>
        </p:nvSpPr>
        <p:spPr>
          <a:xfrm>
            <a:off x="6501384" y="2889504"/>
            <a:ext cx="4754880" cy="310896"/>
          </a:xfrm>
          <a:prstGeom prst="rect">
            <a:avLst/>
          </a:prstGeom>
          <a:noFill/>
          <a:ln/>
        </p:spPr>
        <p:txBody>
          <a:bodyPr wrap="square" lIns="0" tIns="0" rIns="0" bIns="0" rtlCol="0" anchor="t"/>
          <a:lstStyle/>
          <a:p>
            <a:pPr indent="0" marL="0">
              <a:buNone/>
            </a:pPr>
            <a:r>
              <a:rPr lang="en-US" sz="1600" b="1" dirty="0">
                <a:solidFill>
                  <a:srgbClr val="1A2430"/>
                </a:solidFill>
                <a:latin typeface="Arial" pitchFamily="34" charset="0"/>
                <a:ea typeface="Arial" pitchFamily="34" charset="-122"/>
                <a:cs typeface="Arial" pitchFamily="34" charset="-120"/>
              </a:rPr>
              <a:t>Layer 2  ·  Fault models</a:t>
            </a:r>
            <a:endParaRPr lang="en-US" sz="1600" dirty="0"/>
          </a:p>
        </p:txBody>
      </p:sp>
      <p:sp>
        <p:nvSpPr>
          <p:cNvPr id="21" name="Text 19"/>
          <p:cNvSpPr txBox="1"/>
          <p:nvPr/>
        </p:nvSpPr>
        <p:spPr>
          <a:xfrm>
            <a:off x="6501384" y="3236976"/>
            <a:ext cx="4892040" cy="274320"/>
          </a:xfrm>
          <a:prstGeom prst="rect">
            <a:avLst/>
          </a:prstGeom>
          <a:noFill/>
          <a:ln/>
        </p:spPr>
        <p:txBody>
          <a:bodyPr wrap="square" lIns="0" tIns="0" rIns="0" bIns="0" rtlCol="0" anchor="t"/>
          <a:lstStyle/>
          <a:p>
            <a:pPr indent="0" marL="0">
              <a:lnSpc>
                <a:spcPts val="1428"/>
              </a:lnSpc>
              <a:buNone/>
            </a:pPr>
            <a:r>
              <a:rPr lang="en-US" sz="1050" dirty="0">
                <a:solidFill>
                  <a:srgbClr val="B4530A"/>
                </a:solidFill>
                <a:latin typeface="Arial" pitchFamily="34" charset="0"/>
                <a:ea typeface="Arial" pitchFamily="34" charset="-122"/>
                <a:cs typeface="Arial" pitchFamily="34" charset="-120"/>
              </a:rPr>
              <a:t>A simulated 400 V drive with injectable faults</a:t>
            </a:r>
            <a:endParaRPr lang="en-US" sz="1050" dirty="0"/>
          </a:p>
        </p:txBody>
      </p:sp>
      <p:sp>
        <p:nvSpPr>
          <p:cNvPr id="22" name="Text 20"/>
          <p:cNvSpPr txBox="1"/>
          <p:nvPr/>
        </p:nvSpPr>
        <p:spPr>
          <a:xfrm>
            <a:off x="6501384" y="3566160"/>
            <a:ext cx="4892040" cy="1133856"/>
          </a:xfrm>
          <a:prstGeom prst="rect">
            <a:avLst/>
          </a:prstGeom>
          <a:noFill/>
          <a:ln/>
        </p:spPr>
        <p:txBody>
          <a:bodyPr wrap="square" lIns="0" tIns="0" rIns="0" bIns="0" rtlCol="0" anchor="t"/>
          <a:lstStyle/>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Six faults spanning the whole power path</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The fault edits the circuit; the solver produces the waveform</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Features and thresholds drawn from published drive literature</a:t>
            </a:r>
            <a:endParaRPr lang="en-US" sz="1050" dirty="0"/>
          </a:p>
        </p:txBody>
      </p:sp>
      <p:sp>
        <p:nvSpPr>
          <p:cNvPr id="23" name="Shape 21"/>
          <p:cNvSpPr/>
          <p:nvPr/>
        </p:nvSpPr>
        <p:spPr>
          <a:xfrm>
            <a:off x="548640" y="5047488"/>
            <a:ext cx="11091672" cy="1170432"/>
          </a:xfrm>
          <a:prstGeom prst="roundRect">
            <a:avLst>
              <a:gd name="adj" fmla="val 5469"/>
            </a:avLst>
          </a:prstGeom>
          <a:solidFill>
            <a:srgbClr val="F2F5F7"/>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24" name="Text 22"/>
          <p:cNvSpPr txBox="1"/>
          <p:nvPr/>
        </p:nvSpPr>
        <p:spPr>
          <a:xfrm>
            <a:off x="822960" y="5212080"/>
            <a:ext cx="3840480" cy="237744"/>
          </a:xfrm>
          <a:prstGeom prst="rect">
            <a:avLst/>
          </a:prstGeom>
          <a:noFill/>
          <a:ln/>
        </p:spPr>
        <p:txBody>
          <a:bodyPr wrap="square" lIns="0" tIns="0" rIns="0" bIns="0" rtlCol="0" anchor="t"/>
          <a:lstStyle/>
          <a:p>
            <a:pPr indent="0" marL="0">
              <a:buNone/>
            </a:pPr>
            <a:r>
              <a:rPr lang="en-US" sz="1050" b="1" spc="80" kern="0" dirty="0">
                <a:solidFill>
                  <a:srgbClr val="1A2430"/>
                </a:solidFill>
                <a:latin typeface="Arial" pitchFamily="34" charset="0"/>
                <a:ea typeface="Arial" pitchFamily="34" charset="-122"/>
                <a:cs typeface="Arial" pitchFamily="34" charset="-120"/>
              </a:rPr>
              <a:t>BOTH LAYERS ARE READ THE SAME WAY</a:t>
            </a:r>
            <a:endParaRPr lang="en-US" sz="1050" dirty="0"/>
          </a:p>
        </p:txBody>
      </p:sp>
      <p:sp>
        <p:nvSpPr>
          <p:cNvPr id="25" name="Shape 23"/>
          <p:cNvSpPr/>
          <p:nvPr/>
        </p:nvSpPr>
        <p:spPr>
          <a:xfrm>
            <a:off x="822960" y="5541264"/>
            <a:ext cx="2377440" cy="402336"/>
          </a:xfrm>
          <a:prstGeom prst="roundRect">
            <a:avLst>
              <a:gd name="adj" fmla="val 13636"/>
            </a:avLst>
          </a:prstGeom>
          <a:solidFill>
            <a:srgbClr val="FFFFFF"/>
          </a:solidFill>
          <a:ln w="12700">
            <a:solidFill>
              <a:srgbClr val="B9DEE1"/>
            </a:solidFill>
            <a:prstDash val="solid"/>
          </a:ln>
        </p:spPr>
      </p:sp>
      <p:sp>
        <p:nvSpPr>
          <p:cNvPr id="26" name="Text 24"/>
          <p:cNvSpPr txBox="1"/>
          <p:nvPr/>
        </p:nvSpPr>
        <p:spPr>
          <a:xfrm>
            <a:off x="822960" y="5541264"/>
            <a:ext cx="2377440" cy="402336"/>
          </a:xfrm>
          <a:prstGeom prst="rect">
            <a:avLst/>
          </a:prstGeom>
          <a:noFill/>
          <a:ln/>
        </p:spPr>
        <p:txBody>
          <a:bodyPr wrap="square" lIns="0" tIns="0" rIns="0" bIns="0" rtlCol="0" anchor="ctr"/>
          <a:lstStyle/>
          <a:p>
            <a:pPr algn="ctr" indent="0" marL="0">
              <a:buNone/>
            </a:pPr>
            <a:r>
              <a:rPr lang="en-US" sz="1100" b="1" dirty="0">
                <a:solidFill>
                  <a:srgbClr val="0E7C86"/>
                </a:solidFill>
                <a:latin typeface="Arial" pitchFamily="34" charset="0"/>
                <a:ea typeface="Arial" pitchFamily="34" charset="-122"/>
                <a:cs typeface="Arial" pitchFamily="34" charset="-120"/>
              </a:rPr>
              <a:t>current + voltage</a:t>
            </a:r>
            <a:endParaRPr lang="en-US" sz="1100" dirty="0"/>
          </a:p>
        </p:txBody>
      </p:sp>
      <p:sp>
        <p:nvSpPr>
          <p:cNvPr id="27" name="Shape 25"/>
          <p:cNvSpPr/>
          <p:nvPr/>
        </p:nvSpPr>
        <p:spPr>
          <a:xfrm>
            <a:off x="3227832" y="5742432"/>
            <a:ext cx="219456" cy="0"/>
          </a:xfrm>
          <a:prstGeom prst="line">
            <a:avLst/>
          </a:prstGeom>
          <a:noFill/>
          <a:ln w="16510">
            <a:solidFill>
              <a:srgbClr val="0E7C86"/>
            </a:solidFill>
            <a:prstDash val="solid"/>
            <a:tailEnd type="triangle"/>
          </a:ln>
        </p:spPr>
      </p:sp>
      <p:sp>
        <p:nvSpPr>
          <p:cNvPr id="28" name="Shape 26"/>
          <p:cNvSpPr/>
          <p:nvPr/>
        </p:nvSpPr>
        <p:spPr>
          <a:xfrm>
            <a:off x="3493008" y="5541264"/>
            <a:ext cx="2377440" cy="402336"/>
          </a:xfrm>
          <a:prstGeom prst="roundRect">
            <a:avLst>
              <a:gd name="adj" fmla="val 13636"/>
            </a:avLst>
          </a:prstGeom>
          <a:solidFill>
            <a:srgbClr val="FFFFFF"/>
          </a:solidFill>
          <a:ln w="12700">
            <a:solidFill>
              <a:srgbClr val="B9DEE1"/>
            </a:solidFill>
            <a:prstDash val="solid"/>
          </a:ln>
        </p:spPr>
      </p:sp>
      <p:sp>
        <p:nvSpPr>
          <p:cNvPr id="29" name="Text 27"/>
          <p:cNvSpPr txBox="1"/>
          <p:nvPr/>
        </p:nvSpPr>
        <p:spPr>
          <a:xfrm>
            <a:off x="3493008" y="5541264"/>
            <a:ext cx="2377440" cy="402336"/>
          </a:xfrm>
          <a:prstGeom prst="rect">
            <a:avLst/>
          </a:prstGeom>
          <a:noFill/>
          <a:ln/>
        </p:spPr>
        <p:txBody>
          <a:bodyPr wrap="square" lIns="0" tIns="0" rIns="0" bIns="0" rtlCol="0" anchor="ctr"/>
          <a:lstStyle/>
          <a:p>
            <a:pPr algn="ctr" indent="0" marL="0">
              <a:buNone/>
            </a:pPr>
            <a:r>
              <a:rPr lang="en-US" sz="1100" b="1" dirty="0">
                <a:solidFill>
                  <a:srgbClr val="0E7C86"/>
                </a:solidFill>
                <a:latin typeface="Arial" pitchFamily="34" charset="0"/>
                <a:ea typeface="Arial" pitchFamily="34" charset="-122"/>
                <a:cs typeface="Arial" pitchFamily="34" charset="-120"/>
              </a:rPr>
              <a:t>derived feature</a:t>
            </a:r>
            <a:endParaRPr lang="en-US" sz="1100" dirty="0"/>
          </a:p>
        </p:txBody>
      </p:sp>
      <p:sp>
        <p:nvSpPr>
          <p:cNvPr id="30" name="Shape 28"/>
          <p:cNvSpPr/>
          <p:nvPr/>
        </p:nvSpPr>
        <p:spPr>
          <a:xfrm>
            <a:off x="5897880" y="5742432"/>
            <a:ext cx="219456" cy="0"/>
          </a:xfrm>
          <a:prstGeom prst="line">
            <a:avLst/>
          </a:prstGeom>
          <a:noFill/>
          <a:ln w="16510">
            <a:solidFill>
              <a:srgbClr val="0E7C86"/>
            </a:solidFill>
            <a:prstDash val="solid"/>
            <a:tailEnd type="triangle"/>
          </a:ln>
        </p:spPr>
      </p:sp>
      <p:sp>
        <p:nvSpPr>
          <p:cNvPr id="31" name="Shape 29"/>
          <p:cNvSpPr/>
          <p:nvPr/>
        </p:nvSpPr>
        <p:spPr>
          <a:xfrm>
            <a:off x="6163056" y="5541264"/>
            <a:ext cx="2377440" cy="402336"/>
          </a:xfrm>
          <a:prstGeom prst="roundRect">
            <a:avLst>
              <a:gd name="adj" fmla="val 13636"/>
            </a:avLst>
          </a:prstGeom>
          <a:solidFill>
            <a:srgbClr val="FFFFFF"/>
          </a:solidFill>
          <a:ln w="12700">
            <a:solidFill>
              <a:srgbClr val="B9DEE1"/>
            </a:solidFill>
            <a:prstDash val="solid"/>
          </a:ln>
        </p:spPr>
      </p:sp>
      <p:sp>
        <p:nvSpPr>
          <p:cNvPr id="32" name="Text 30"/>
          <p:cNvSpPr txBox="1"/>
          <p:nvPr/>
        </p:nvSpPr>
        <p:spPr>
          <a:xfrm>
            <a:off x="6163056" y="5541264"/>
            <a:ext cx="2377440" cy="402336"/>
          </a:xfrm>
          <a:prstGeom prst="rect">
            <a:avLst/>
          </a:prstGeom>
          <a:noFill/>
          <a:ln/>
        </p:spPr>
        <p:txBody>
          <a:bodyPr wrap="square" lIns="0" tIns="0" rIns="0" bIns="0" rtlCol="0" anchor="ctr"/>
          <a:lstStyle/>
          <a:p>
            <a:pPr algn="ctr" indent="0" marL="0">
              <a:buNone/>
            </a:pPr>
            <a:r>
              <a:rPr lang="en-US" sz="1100" b="1" dirty="0">
                <a:solidFill>
                  <a:srgbClr val="0E7C86"/>
                </a:solidFill>
                <a:latin typeface="Arial" pitchFamily="34" charset="0"/>
                <a:ea typeface="Arial" pitchFamily="34" charset="-122"/>
                <a:cs typeface="Arial" pitchFamily="34" charset="-120"/>
              </a:rPr>
              <a:t>physical explanation</a:t>
            </a:r>
            <a:endParaRPr lang="en-US" sz="1100" dirty="0"/>
          </a:p>
        </p:txBody>
      </p:sp>
      <p:sp>
        <p:nvSpPr>
          <p:cNvPr id="33" name="Shape 31"/>
          <p:cNvSpPr/>
          <p:nvPr/>
        </p:nvSpPr>
        <p:spPr>
          <a:xfrm>
            <a:off x="8567928" y="5742432"/>
            <a:ext cx="219456" cy="0"/>
          </a:xfrm>
          <a:prstGeom prst="line">
            <a:avLst/>
          </a:prstGeom>
          <a:noFill/>
          <a:ln w="16510">
            <a:solidFill>
              <a:srgbClr val="0E7C86"/>
            </a:solidFill>
            <a:prstDash val="solid"/>
            <a:tailEnd type="triangle"/>
          </a:ln>
        </p:spPr>
      </p:sp>
      <p:sp>
        <p:nvSpPr>
          <p:cNvPr id="34" name="Shape 32"/>
          <p:cNvSpPr/>
          <p:nvPr/>
        </p:nvSpPr>
        <p:spPr>
          <a:xfrm>
            <a:off x="8833104" y="5541264"/>
            <a:ext cx="2377440" cy="402336"/>
          </a:xfrm>
          <a:prstGeom prst="roundRect">
            <a:avLst>
              <a:gd name="adj" fmla="val 13636"/>
            </a:avLst>
          </a:prstGeom>
          <a:solidFill>
            <a:srgbClr val="FFFFFF"/>
          </a:solidFill>
          <a:ln w="12700">
            <a:solidFill>
              <a:srgbClr val="B9DEE1"/>
            </a:solidFill>
            <a:prstDash val="solid"/>
          </a:ln>
        </p:spPr>
      </p:sp>
      <p:sp>
        <p:nvSpPr>
          <p:cNvPr id="35" name="Text 33"/>
          <p:cNvSpPr txBox="1"/>
          <p:nvPr/>
        </p:nvSpPr>
        <p:spPr>
          <a:xfrm>
            <a:off x="8833104" y="5541264"/>
            <a:ext cx="2377440" cy="402336"/>
          </a:xfrm>
          <a:prstGeom prst="rect">
            <a:avLst/>
          </a:prstGeom>
          <a:noFill/>
          <a:ln/>
        </p:spPr>
        <p:txBody>
          <a:bodyPr wrap="square" lIns="0" tIns="0" rIns="0" bIns="0" rtlCol="0" anchor="ctr"/>
          <a:lstStyle/>
          <a:p>
            <a:pPr algn="ctr" indent="0" marL="0">
              <a:buNone/>
            </a:pPr>
            <a:r>
              <a:rPr lang="en-US" sz="1100" b="1" dirty="0">
                <a:solidFill>
                  <a:srgbClr val="0E7C86"/>
                </a:solidFill>
                <a:latin typeface="Arial" pitchFamily="34" charset="0"/>
                <a:ea typeface="Arial" pitchFamily="34" charset="-122"/>
                <a:cs typeface="Arial" pitchFamily="34" charset="-120"/>
              </a:rPr>
              <a:t>fault indication</a:t>
            </a:r>
            <a:endParaRPr lang="en-US" sz="1100" dirty="0"/>
          </a:p>
        </p:txBody>
      </p:sp>
      <p:sp>
        <p:nvSpPr>
          <p:cNvPr id="36" name="Text 34"/>
          <p:cNvSpPr txBox="1"/>
          <p:nvPr/>
        </p:nvSpPr>
        <p:spPr>
          <a:xfrm>
            <a:off x="4846320" y="5212080"/>
            <a:ext cx="6583680" cy="237744"/>
          </a:xfrm>
          <a:prstGeom prst="rect">
            <a:avLst/>
          </a:prstGeom>
          <a:noFill/>
          <a:ln/>
        </p:spPr>
        <p:txBody>
          <a:bodyPr wrap="square" lIns="0" tIns="0" rIns="0" bIns="0" rtlCol="0" anchor="t"/>
          <a:lstStyle/>
          <a:p>
            <a:pPr algn="r" indent="0" marL="0">
              <a:buNone/>
            </a:pPr>
            <a:r>
              <a:rPr lang="en-US" sz="1050" dirty="0">
                <a:solidFill>
                  <a:srgbClr val="5B6B7A"/>
                </a:solidFill>
                <a:latin typeface="Arial" pitchFamily="34" charset="0"/>
                <a:ea typeface="Arial" pitchFamily="34" charset="-122"/>
                <a:cs typeface="Arial" pitchFamily="34" charset="-120"/>
              </a:rPr>
              <a:t>Only the plant differs. The two layers are validated separately today; linking them is the next step.</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19456"/>
          </a:xfrm>
          <a:prstGeom prst="rect">
            <a:avLst/>
          </a:prstGeom>
          <a:noFill/>
          <a:ln/>
        </p:spPr>
        <p:txBody>
          <a:bodyPr wrap="square" lIns="0" tIns="0" rIns="0" bIns="0" rtlCol="0" anchor="t"/>
          <a:lstStyle/>
          <a:p>
            <a:pPr indent="0" marL="0">
              <a:buNone/>
            </a:pPr>
            <a:r>
              <a:rPr lang="en-US" sz="1050" b="1" spc="140" kern="0" dirty="0">
                <a:solidFill>
                  <a:srgbClr val="0E7C86"/>
                </a:solidFill>
                <a:latin typeface="Arial" pitchFamily="34" charset="0"/>
                <a:ea typeface="Arial" pitchFamily="34" charset="-122"/>
                <a:cs typeface="Arial" pitchFamily="34" charset="-120"/>
              </a:rPr>
              <a:t>WHAT WE BUILT</a:t>
            </a:r>
            <a:endParaRPr lang="en-US" sz="1050" dirty="0"/>
          </a:p>
        </p:txBody>
      </p:sp>
      <p:sp>
        <p:nvSpPr>
          <p:cNvPr id="3" name="Text 1"/>
          <p:cNvSpPr txBox="1"/>
          <p:nvPr/>
        </p:nvSpPr>
        <p:spPr>
          <a:xfrm>
            <a:off x="548640" y="566928"/>
            <a:ext cx="11064240" cy="512064"/>
          </a:xfrm>
          <a:prstGeom prst="rect">
            <a:avLst/>
          </a:prstGeom>
          <a:noFill/>
          <a:ln/>
        </p:spPr>
        <p:txBody>
          <a:bodyPr wrap="square" lIns="0" tIns="0" rIns="0" bIns="0" rtlCol="0" anchor="t"/>
          <a:lstStyle/>
          <a:p>
            <a:pPr indent="0" marL="0">
              <a:buNone/>
            </a:pPr>
            <a:r>
              <a:rPr lang="en-US" sz="2900" b="1" dirty="0">
                <a:solidFill>
                  <a:srgbClr val="1A2430"/>
                </a:solidFill>
                <a:latin typeface="Arial" pitchFamily="34" charset="0"/>
                <a:ea typeface="Arial" pitchFamily="34" charset="-122"/>
                <a:cs typeface="Arial" pitchFamily="34" charset="-120"/>
              </a:rPr>
              <a:t>The hardware prototype</a:t>
            </a:r>
            <a:endParaRPr lang="en-US" sz="2900" dirty="0"/>
          </a:p>
        </p:txBody>
      </p:sp>
      <p:sp>
        <p:nvSpPr>
          <p:cNvPr id="4" name="Text 2"/>
          <p:cNvSpPr txBox="1"/>
          <p:nvPr/>
        </p:nvSpPr>
        <p:spPr>
          <a:xfrm>
            <a:off x="548640" y="6327648"/>
            <a:ext cx="5486400" cy="219456"/>
          </a:xfrm>
          <a:prstGeom prst="rect">
            <a:avLst/>
          </a:prstGeom>
          <a:noFill/>
          <a:ln/>
        </p:spPr>
        <p:txBody>
          <a:bodyPr wrap="square" lIns="0" tIns="0" rIns="0" bIns="0" rtlCol="0" anchor="ctr"/>
          <a:lstStyle/>
          <a:p>
            <a:pPr indent="0" marL="0">
              <a:buNone/>
            </a:pPr>
            <a:r>
              <a:rPr lang="en-US" sz="900" dirty="0">
                <a:solidFill>
                  <a:srgbClr val="6B7A86"/>
                </a:solidFill>
                <a:latin typeface="Arial" pitchFamily="34" charset="0"/>
                <a:ea typeface="Arial" pitchFamily="34" charset="-122"/>
                <a:cs typeface="Arial" pitchFamily="34" charset="-120"/>
              </a:rPr>
              <a:t>AURA-LIFT  ·  Team Immortal</a:t>
            </a:r>
            <a:endParaRPr lang="en-US" sz="900" dirty="0"/>
          </a:p>
        </p:txBody>
      </p:sp>
      <p:sp>
        <p:nvSpPr>
          <p:cNvPr id="5" name="Text 3"/>
          <p:cNvSpPr txBox="1"/>
          <p:nvPr/>
        </p:nvSpPr>
        <p:spPr>
          <a:xfrm>
            <a:off x="10972800" y="6327648"/>
            <a:ext cx="667512" cy="219456"/>
          </a:xfrm>
          <a:prstGeom prst="rect">
            <a:avLst/>
          </a:prstGeom>
          <a:noFill/>
          <a:ln/>
        </p:spPr>
        <p:txBody>
          <a:bodyPr wrap="square" lIns="0" tIns="0" rIns="0" bIns="0" rtlCol="0" anchor="ctr"/>
          <a:lstStyle/>
          <a:p>
            <a:pPr algn="r" indent="0" marL="0">
              <a:buNone/>
            </a:pPr>
            <a:r>
              <a:rPr lang="en-US" sz="900" dirty="0">
                <a:solidFill>
                  <a:srgbClr val="6B7A86"/>
                </a:solidFill>
                <a:latin typeface="Arial" pitchFamily="34" charset="0"/>
                <a:ea typeface="Arial" pitchFamily="34" charset="-122"/>
                <a:cs typeface="Arial" pitchFamily="34" charset="-120"/>
              </a:rPr>
              <a:t>4</a:t>
            </a:r>
            <a:endParaRPr lang="en-US" sz="900" dirty="0"/>
          </a:p>
        </p:txBody>
      </p:sp>
      <p:sp>
        <p:nvSpPr>
          <p:cNvPr id="6" name="Shape 4"/>
          <p:cNvSpPr/>
          <p:nvPr/>
        </p:nvSpPr>
        <p:spPr>
          <a:xfrm>
            <a:off x="10853928" y="658368"/>
            <a:ext cx="786384" cy="219456"/>
          </a:xfrm>
          <a:prstGeom prst="roundRect">
            <a:avLst>
              <a:gd name="adj" fmla="val 50000"/>
            </a:avLst>
          </a:prstGeom>
          <a:solidFill>
            <a:srgbClr val="0E7C86"/>
          </a:solidFill>
          <a:ln/>
        </p:spPr>
      </p:sp>
      <p:sp>
        <p:nvSpPr>
          <p:cNvPr id="7" name="Text 5"/>
          <p:cNvSpPr txBox="1"/>
          <p:nvPr/>
        </p:nvSpPr>
        <p:spPr>
          <a:xfrm>
            <a:off x="10853928" y="658368"/>
            <a:ext cx="786384"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BUILT</a:t>
            </a:r>
            <a:endParaRPr lang="en-US" sz="900" dirty="0"/>
          </a:p>
        </p:txBody>
      </p:sp>
      <p:pic>
        <p:nvPicPr>
          <p:cNvPr id="8" name="Image 0" descr="preencoded.png">    </p:cNvPr>
          <p:cNvPicPr>
            <a:picLocks noChangeAspect="1"/>
          </p:cNvPicPr>
          <p:nvPr/>
        </p:nvPicPr>
        <p:blipFill>
          <a:blip r:embed="rId1"/>
          <a:stretch>
            <a:fillRect/>
          </a:stretch>
        </p:blipFill>
        <p:spPr>
          <a:xfrm>
            <a:off x="548640" y="1188720"/>
            <a:ext cx="5440680" cy="2542032"/>
          </a:xfrm>
          <a:prstGeom prst="rect">
            <a:avLst/>
          </a:prstGeom>
        </p:spPr>
      </p:pic>
      <p:sp>
        <p:nvSpPr>
          <p:cNvPr id="9" name="Text 6"/>
          <p:cNvSpPr txBox="1"/>
          <p:nvPr/>
        </p:nvSpPr>
        <p:spPr>
          <a:xfrm>
            <a:off x="548640" y="3767328"/>
            <a:ext cx="5440680" cy="219456"/>
          </a:xfrm>
          <a:prstGeom prst="rect">
            <a:avLst/>
          </a:prstGeom>
          <a:noFill/>
          <a:ln/>
        </p:spPr>
        <p:txBody>
          <a:bodyPr wrap="square" lIns="0" tIns="0" rIns="0" bIns="0" rtlCol="0" anchor="t"/>
          <a:lstStyle/>
          <a:p>
            <a:pPr indent="0" marL="0">
              <a:buNone/>
            </a:pPr>
            <a:r>
              <a:rPr lang="en-US" sz="950" dirty="0">
                <a:solidFill>
                  <a:srgbClr val="5B6B7A"/>
                </a:solidFill>
                <a:latin typeface="Arial" pitchFamily="34" charset="0"/>
                <a:ea typeface="Arial" pitchFamily="34" charset="-122"/>
                <a:cs typeface="Arial" pitchFamily="34" charset="-120"/>
              </a:rPr>
              <a:t>DC motor, driver, current and voltage sensing and an ESP32 on a single 12 V supply</a:t>
            </a:r>
            <a:endParaRPr lang="en-US" sz="950" dirty="0"/>
          </a:p>
        </p:txBody>
      </p:sp>
      <p:sp>
        <p:nvSpPr>
          <p:cNvPr id="10" name="Shape 7"/>
          <p:cNvSpPr/>
          <p:nvPr/>
        </p:nvSpPr>
        <p:spPr>
          <a:xfrm>
            <a:off x="6199632" y="1188720"/>
            <a:ext cx="5440680" cy="2743200"/>
          </a:xfrm>
          <a:prstGeom prst="roundRect">
            <a:avLst>
              <a:gd name="adj" fmla="val 2333"/>
            </a:avLst>
          </a:prstGeom>
          <a:solidFill>
            <a:srgbClr val="F2F5F7"/>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11" name="Text 8"/>
          <p:cNvSpPr txBox="1"/>
          <p:nvPr/>
        </p:nvSpPr>
        <p:spPr>
          <a:xfrm>
            <a:off x="6419088" y="1371600"/>
            <a:ext cx="5029200" cy="237744"/>
          </a:xfrm>
          <a:prstGeom prst="rect">
            <a:avLst/>
          </a:prstGeom>
          <a:noFill/>
          <a:ln/>
        </p:spPr>
        <p:txBody>
          <a:bodyPr wrap="square" lIns="0" tIns="0" rIns="0" bIns="0" rtlCol="0" anchor="t"/>
          <a:lstStyle/>
          <a:p>
            <a:pPr indent="0" marL="0">
              <a:buNone/>
            </a:pPr>
            <a:r>
              <a:rPr lang="en-US" sz="1300" b="1" spc="50" kern="0" dirty="0">
                <a:solidFill>
                  <a:srgbClr val="1A2430"/>
                </a:solidFill>
                <a:latin typeface="Arial" pitchFamily="34" charset="0"/>
                <a:ea typeface="Arial" pitchFamily="34" charset="-122"/>
                <a:cs typeface="Arial" pitchFamily="34" charset="-120"/>
              </a:rPr>
              <a:t>POWER AND SIGNAL PATH</a:t>
            </a:r>
            <a:endParaRPr lang="en-US" sz="1300" dirty="0"/>
          </a:p>
        </p:txBody>
      </p:sp>
      <p:sp>
        <p:nvSpPr>
          <p:cNvPr id="12" name="Shape 9"/>
          <p:cNvSpPr/>
          <p:nvPr/>
        </p:nvSpPr>
        <p:spPr>
          <a:xfrm>
            <a:off x="6419088" y="1755648"/>
            <a:ext cx="1170432" cy="384048"/>
          </a:xfrm>
          <a:prstGeom prst="roundRect">
            <a:avLst>
              <a:gd name="adj" fmla="val 14286"/>
            </a:avLst>
          </a:prstGeom>
          <a:solidFill>
            <a:srgbClr val="16202B"/>
          </a:solidFill>
          <a:ln/>
        </p:spPr>
      </p:sp>
      <p:sp>
        <p:nvSpPr>
          <p:cNvPr id="13" name="Text 10"/>
          <p:cNvSpPr txBox="1"/>
          <p:nvPr/>
        </p:nvSpPr>
        <p:spPr>
          <a:xfrm>
            <a:off x="6419088" y="1755648"/>
            <a:ext cx="1170432"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12 V adapter</a:t>
            </a:r>
            <a:endParaRPr lang="en-US" sz="950" dirty="0"/>
          </a:p>
        </p:txBody>
      </p:sp>
      <p:sp>
        <p:nvSpPr>
          <p:cNvPr id="14" name="Shape 11"/>
          <p:cNvSpPr/>
          <p:nvPr/>
        </p:nvSpPr>
        <p:spPr>
          <a:xfrm>
            <a:off x="7616952" y="1947672"/>
            <a:ext cx="128016" cy="0"/>
          </a:xfrm>
          <a:prstGeom prst="line">
            <a:avLst/>
          </a:prstGeom>
          <a:noFill/>
          <a:ln w="20320">
            <a:solidFill>
              <a:srgbClr val="B02A20"/>
            </a:solidFill>
            <a:prstDash val="solid"/>
            <a:tailEnd type="triangle"/>
          </a:ln>
        </p:spPr>
      </p:sp>
      <p:sp>
        <p:nvSpPr>
          <p:cNvPr id="15" name="Shape 12"/>
          <p:cNvSpPr/>
          <p:nvPr/>
        </p:nvSpPr>
        <p:spPr>
          <a:xfrm>
            <a:off x="7772400" y="1755648"/>
            <a:ext cx="1024128" cy="384048"/>
          </a:xfrm>
          <a:prstGeom prst="roundRect">
            <a:avLst>
              <a:gd name="adj" fmla="val 14286"/>
            </a:avLst>
          </a:prstGeom>
          <a:solidFill>
            <a:srgbClr val="16202B"/>
          </a:solidFill>
          <a:ln/>
        </p:spPr>
      </p:sp>
      <p:sp>
        <p:nvSpPr>
          <p:cNvPr id="16" name="Text 13"/>
          <p:cNvSpPr txBox="1"/>
          <p:nvPr/>
        </p:nvSpPr>
        <p:spPr>
          <a:xfrm>
            <a:off x="7772400" y="1755648"/>
            <a:ext cx="102412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ACS712</a:t>
            </a:r>
            <a:endParaRPr lang="en-US" sz="950" dirty="0"/>
          </a:p>
        </p:txBody>
      </p:sp>
      <p:sp>
        <p:nvSpPr>
          <p:cNvPr id="17" name="Shape 14"/>
          <p:cNvSpPr/>
          <p:nvPr/>
        </p:nvSpPr>
        <p:spPr>
          <a:xfrm>
            <a:off x="8823960" y="1947672"/>
            <a:ext cx="128016" cy="0"/>
          </a:xfrm>
          <a:prstGeom prst="line">
            <a:avLst/>
          </a:prstGeom>
          <a:noFill/>
          <a:ln w="20320">
            <a:solidFill>
              <a:srgbClr val="B02A20"/>
            </a:solidFill>
            <a:prstDash val="solid"/>
            <a:tailEnd type="triangle"/>
          </a:ln>
        </p:spPr>
      </p:sp>
      <p:sp>
        <p:nvSpPr>
          <p:cNvPr id="18" name="Shape 15"/>
          <p:cNvSpPr/>
          <p:nvPr/>
        </p:nvSpPr>
        <p:spPr>
          <a:xfrm>
            <a:off x="8979408" y="1755648"/>
            <a:ext cx="1097280" cy="384048"/>
          </a:xfrm>
          <a:prstGeom prst="roundRect">
            <a:avLst>
              <a:gd name="adj" fmla="val 14286"/>
            </a:avLst>
          </a:prstGeom>
          <a:solidFill>
            <a:srgbClr val="16202B"/>
          </a:solidFill>
          <a:ln/>
        </p:spPr>
      </p:sp>
      <p:sp>
        <p:nvSpPr>
          <p:cNvPr id="19" name="Text 16"/>
          <p:cNvSpPr txBox="1"/>
          <p:nvPr/>
        </p:nvSpPr>
        <p:spPr>
          <a:xfrm>
            <a:off x="8979408" y="1755648"/>
            <a:ext cx="109728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BTS7960</a:t>
            </a:r>
            <a:endParaRPr lang="en-US" sz="950" dirty="0"/>
          </a:p>
        </p:txBody>
      </p:sp>
      <p:sp>
        <p:nvSpPr>
          <p:cNvPr id="20" name="Shape 17"/>
          <p:cNvSpPr/>
          <p:nvPr/>
        </p:nvSpPr>
        <p:spPr>
          <a:xfrm>
            <a:off x="10104120" y="1947672"/>
            <a:ext cx="128016" cy="0"/>
          </a:xfrm>
          <a:prstGeom prst="line">
            <a:avLst/>
          </a:prstGeom>
          <a:noFill/>
          <a:ln w="20320">
            <a:solidFill>
              <a:srgbClr val="B02A20"/>
            </a:solidFill>
            <a:prstDash val="solid"/>
            <a:tailEnd type="triangle"/>
          </a:ln>
        </p:spPr>
      </p:sp>
      <p:sp>
        <p:nvSpPr>
          <p:cNvPr id="21" name="Shape 18"/>
          <p:cNvSpPr/>
          <p:nvPr/>
        </p:nvSpPr>
        <p:spPr>
          <a:xfrm>
            <a:off x="10259568" y="1755648"/>
            <a:ext cx="1161288" cy="384048"/>
          </a:xfrm>
          <a:prstGeom prst="roundRect">
            <a:avLst>
              <a:gd name="adj" fmla="val 14286"/>
            </a:avLst>
          </a:prstGeom>
          <a:solidFill>
            <a:srgbClr val="16202B"/>
          </a:solidFill>
          <a:ln/>
        </p:spPr>
      </p:sp>
      <p:sp>
        <p:nvSpPr>
          <p:cNvPr id="22" name="Text 19"/>
          <p:cNvSpPr txBox="1"/>
          <p:nvPr/>
        </p:nvSpPr>
        <p:spPr>
          <a:xfrm>
            <a:off x="10259568" y="1755648"/>
            <a:ext cx="116128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DC motor</a:t>
            </a:r>
            <a:endParaRPr lang="en-US" sz="950" dirty="0"/>
          </a:p>
        </p:txBody>
      </p:sp>
      <p:sp>
        <p:nvSpPr>
          <p:cNvPr id="23" name="Shape 20"/>
          <p:cNvSpPr/>
          <p:nvPr/>
        </p:nvSpPr>
        <p:spPr>
          <a:xfrm>
            <a:off x="6419088" y="2395728"/>
            <a:ext cx="1170432" cy="347472"/>
          </a:xfrm>
          <a:prstGeom prst="roundRect">
            <a:avLst>
              <a:gd name="adj" fmla="val 15789"/>
            </a:avLst>
          </a:prstGeom>
          <a:solidFill>
            <a:srgbClr val="46586A"/>
          </a:solidFill>
          <a:ln/>
        </p:spPr>
      </p:sp>
      <p:sp>
        <p:nvSpPr>
          <p:cNvPr id="24" name="Text 21"/>
          <p:cNvSpPr txBox="1"/>
          <p:nvPr/>
        </p:nvSpPr>
        <p:spPr>
          <a:xfrm>
            <a:off x="6419088" y="2395728"/>
            <a:ext cx="1170432"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LM2596  5 V</a:t>
            </a:r>
            <a:endParaRPr lang="en-US" sz="850" dirty="0"/>
          </a:p>
        </p:txBody>
      </p:sp>
      <p:sp>
        <p:nvSpPr>
          <p:cNvPr id="25" name="Shape 22"/>
          <p:cNvSpPr/>
          <p:nvPr/>
        </p:nvSpPr>
        <p:spPr>
          <a:xfrm>
            <a:off x="7772400" y="2395728"/>
            <a:ext cx="1024128" cy="347472"/>
          </a:xfrm>
          <a:prstGeom prst="roundRect">
            <a:avLst>
              <a:gd name="adj" fmla="val 15789"/>
            </a:avLst>
          </a:prstGeom>
          <a:solidFill>
            <a:srgbClr val="46586A"/>
          </a:solidFill>
          <a:ln/>
        </p:spPr>
      </p:sp>
      <p:sp>
        <p:nvSpPr>
          <p:cNvPr id="26" name="Text 23"/>
          <p:cNvSpPr txBox="1"/>
          <p:nvPr/>
        </p:nvSpPr>
        <p:spPr>
          <a:xfrm>
            <a:off x="7772400" y="2395728"/>
            <a:ext cx="1024128"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V sensor</a:t>
            </a:r>
            <a:endParaRPr lang="en-US" sz="850" dirty="0"/>
          </a:p>
        </p:txBody>
      </p:sp>
      <p:sp>
        <p:nvSpPr>
          <p:cNvPr id="27" name="Shape 24"/>
          <p:cNvSpPr/>
          <p:nvPr/>
        </p:nvSpPr>
        <p:spPr>
          <a:xfrm>
            <a:off x="7004304" y="2157984"/>
            <a:ext cx="0" cy="219456"/>
          </a:xfrm>
          <a:prstGeom prst="line">
            <a:avLst/>
          </a:prstGeom>
          <a:noFill/>
          <a:ln w="17780">
            <a:solidFill>
              <a:srgbClr val="B02A20"/>
            </a:solidFill>
            <a:prstDash val="solid"/>
            <a:tailEnd type="triangle"/>
          </a:ln>
        </p:spPr>
      </p:sp>
      <p:sp>
        <p:nvSpPr>
          <p:cNvPr id="28" name="Shape 25"/>
          <p:cNvSpPr/>
          <p:nvPr/>
        </p:nvSpPr>
        <p:spPr>
          <a:xfrm>
            <a:off x="8138160" y="2157984"/>
            <a:ext cx="0" cy="219456"/>
          </a:xfrm>
          <a:prstGeom prst="line">
            <a:avLst/>
          </a:prstGeom>
          <a:noFill/>
          <a:ln w="17780">
            <a:solidFill>
              <a:srgbClr val="B02A20"/>
            </a:solidFill>
            <a:prstDash val="solid"/>
            <a:tailEnd type="triangle"/>
          </a:ln>
        </p:spPr>
      </p:sp>
      <p:sp>
        <p:nvSpPr>
          <p:cNvPr id="29" name="Shape 26"/>
          <p:cNvSpPr/>
          <p:nvPr/>
        </p:nvSpPr>
        <p:spPr>
          <a:xfrm>
            <a:off x="6419088" y="2944368"/>
            <a:ext cx="5001768" cy="640080"/>
          </a:xfrm>
          <a:prstGeom prst="roundRect">
            <a:avLst>
              <a:gd name="adj" fmla="val 8571"/>
            </a:avLst>
          </a:prstGeom>
          <a:solidFill>
            <a:srgbClr val="0E7C86"/>
          </a:solidFill>
          <a:ln/>
        </p:spPr>
      </p:sp>
      <p:sp>
        <p:nvSpPr>
          <p:cNvPr id="30" name="Text 27"/>
          <p:cNvSpPr txBox="1"/>
          <p:nvPr/>
        </p:nvSpPr>
        <p:spPr>
          <a:xfrm>
            <a:off x="6510528" y="3017520"/>
            <a:ext cx="1097280" cy="25603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ESP32</a:t>
            </a:r>
            <a:endParaRPr lang="en-US" sz="1200" dirty="0"/>
          </a:p>
        </p:txBody>
      </p:sp>
      <p:sp>
        <p:nvSpPr>
          <p:cNvPr id="31" name="Text 28"/>
          <p:cNvSpPr txBox="1"/>
          <p:nvPr/>
        </p:nvSpPr>
        <p:spPr>
          <a:xfrm>
            <a:off x="6510528" y="3291840"/>
            <a:ext cx="4818888" cy="237744"/>
          </a:xfrm>
          <a:prstGeom prst="rect">
            <a:avLst/>
          </a:prstGeom>
          <a:noFill/>
          <a:ln/>
        </p:spPr>
        <p:txBody>
          <a:bodyPr wrap="square" lIns="0" tIns="0" rIns="0" bIns="0" rtlCol="0" anchor="t"/>
          <a:lstStyle/>
          <a:p>
            <a:pPr indent="0" marL="0">
              <a:buNone/>
            </a:pPr>
            <a:r>
              <a:rPr lang="en-US" sz="850" dirty="0">
                <a:solidFill>
                  <a:srgbClr val="D2EEF0"/>
                </a:solidFill>
                <a:latin typeface="Arial" pitchFamily="34" charset="0"/>
                <a:ea typeface="Arial" pitchFamily="34" charset="-122"/>
                <a:cs typeface="Arial" pitchFamily="34" charset="-120"/>
              </a:rPr>
              <a:t>ADC G34 / G35  ·  PWM G25 / G26  ·  enable G32 / G33  ·  limits G18 / G19</a:t>
            </a:r>
            <a:endParaRPr lang="en-US" sz="850" dirty="0"/>
          </a:p>
        </p:txBody>
      </p:sp>
      <p:sp>
        <p:nvSpPr>
          <p:cNvPr id="32" name="Shape 29"/>
          <p:cNvSpPr/>
          <p:nvPr/>
        </p:nvSpPr>
        <p:spPr>
          <a:xfrm>
            <a:off x="8202168" y="2761488"/>
            <a:ext cx="0" cy="164592"/>
          </a:xfrm>
          <a:prstGeom prst="line">
            <a:avLst/>
          </a:prstGeom>
          <a:noFill/>
          <a:ln w="17780">
            <a:solidFill>
              <a:srgbClr val="0E7C86"/>
            </a:solidFill>
            <a:prstDash val="solid"/>
            <a:tailEnd type="triangle"/>
          </a:ln>
        </p:spPr>
      </p:sp>
      <p:sp>
        <p:nvSpPr>
          <p:cNvPr id="33" name="Shape 30"/>
          <p:cNvSpPr/>
          <p:nvPr/>
        </p:nvSpPr>
        <p:spPr>
          <a:xfrm>
            <a:off x="8887968" y="2157984"/>
            <a:ext cx="0" cy="768096"/>
          </a:xfrm>
          <a:prstGeom prst="line">
            <a:avLst/>
          </a:prstGeom>
          <a:noFill/>
          <a:ln w="17780">
            <a:solidFill>
              <a:srgbClr val="0E7C86"/>
            </a:solidFill>
            <a:prstDash val="solid"/>
            <a:tailEnd type="triangle"/>
          </a:ln>
        </p:spPr>
      </p:sp>
      <p:sp>
        <p:nvSpPr>
          <p:cNvPr id="34" name="Shape 31"/>
          <p:cNvSpPr/>
          <p:nvPr/>
        </p:nvSpPr>
        <p:spPr>
          <a:xfrm>
            <a:off x="9528048" y="2926080"/>
            <a:ext cx="0" cy="-768096"/>
          </a:xfrm>
          <a:prstGeom prst="line">
            <a:avLst/>
          </a:prstGeom>
          <a:noFill/>
          <a:ln w="17780">
            <a:solidFill>
              <a:srgbClr val="0E7C86"/>
            </a:solidFill>
            <a:prstDash val="solid"/>
            <a:tailEnd type="triangle"/>
          </a:ln>
        </p:spPr>
      </p:sp>
      <p:sp>
        <p:nvSpPr>
          <p:cNvPr id="35" name="Text 32"/>
          <p:cNvSpPr txBox="1"/>
          <p:nvPr/>
        </p:nvSpPr>
        <p:spPr>
          <a:xfrm>
            <a:off x="6419088" y="3639312"/>
            <a:ext cx="5029200" cy="237744"/>
          </a:xfrm>
          <a:prstGeom prst="rect">
            <a:avLst/>
          </a:prstGeom>
          <a:noFill/>
          <a:ln/>
        </p:spPr>
        <p:txBody>
          <a:bodyPr wrap="square" lIns="0" tIns="0" rIns="0" bIns="0" rtlCol="0" anchor="t"/>
          <a:lstStyle/>
          <a:p>
            <a:pPr indent="0" marL="0">
              <a:lnSpc>
                <a:spcPts val="1224"/>
              </a:lnSpc>
              <a:buNone/>
            </a:pPr>
            <a:r>
              <a:rPr lang="en-US" sz="900" dirty="0">
                <a:solidFill>
                  <a:srgbClr val="5B6B7A"/>
                </a:solidFill>
                <a:latin typeface="Arial" pitchFamily="34" charset="0"/>
                <a:ea typeface="Arial" pitchFamily="34" charset="-122"/>
                <a:cs typeface="Arial" pitchFamily="34" charset="-120"/>
              </a:rPr>
              <a:t>Red: the 12 V motor current path. Teal: 3.3 V sense and control lines.</a:t>
            </a:r>
            <a:endParaRPr lang="en-US" sz="900" dirty="0"/>
          </a:p>
        </p:txBody>
      </p:sp>
      <p:sp>
        <p:nvSpPr>
          <p:cNvPr id="36" name="Shape 33"/>
          <p:cNvSpPr/>
          <p:nvPr/>
        </p:nvSpPr>
        <p:spPr>
          <a:xfrm>
            <a:off x="548640" y="4224528"/>
            <a:ext cx="11091672" cy="1993392"/>
          </a:xfrm>
          <a:prstGeom prst="roundRect">
            <a:avLst>
              <a:gd name="adj" fmla="val 3211"/>
            </a:avLst>
          </a:prstGeom>
          <a:solidFill>
            <a:srgbClr val="E2F1F2"/>
          </a:solidFill>
          <a:ln w="12700">
            <a:solidFill>
              <a:srgbClr val="B9DEE1"/>
            </a:solidFill>
            <a:prstDash val="solid"/>
          </a:ln>
          <a:effectLst>
            <a:outerShdw sx="100000" sy="100000" kx="0" ky="0" algn="bl" rotWithShape="0" blurRad="88900" dist="25400" dir="5400000">
              <a:srgbClr val="AEBDC7">
                <a:alpha val="22000"/>
              </a:srgbClr>
            </a:outerShdw>
          </a:effectLst>
        </p:spPr>
      </p:sp>
      <p:sp>
        <p:nvSpPr>
          <p:cNvPr id="37" name="Text 34"/>
          <p:cNvSpPr txBox="1"/>
          <p:nvPr/>
        </p:nvSpPr>
        <p:spPr>
          <a:xfrm>
            <a:off x="804672" y="4407408"/>
            <a:ext cx="10607040" cy="237744"/>
          </a:xfrm>
          <a:prstGeom prst="rect">
            <a:avLst/>
          </a:prstGeom>
          <a:noFill/>
          <a:ln/>
        </p:spPr>
        <p:txBody>
          <a:bodyPr wrap="square" lIns="0" tIns="0" rIns="0" bIns="0" rtlCol="0" anchor="t"/>
          <a:lstStyle/>
          <a:p>
            <a:pPr indent="0" marL="0">
              <a:buNone/>
            </a:pPr>
            <a:r>
              <a:rPr lang="en-US" sz="1300" b="1" spc="50" kern="0" dirty="0">
                <a:solidFill>
                  <a:srgbClr val="0E7C86"/>
                </a:solidFill>
                <a:latin typeface="Arial" pitchFamily="34" charset="0"/>
                <a:ea typeface="Arial" pitchFamily="34" charset="-122"/>
                <a:cs typeface="Arial" pitchFamily="34" charset="-120"/>
              </a:rPr>
              <a:t>WHAT THE PROTOTYPE DOES</a:t>
            </a:r>
            <a:endParaRPr lang="en-US" sz="1300" dirty="0"/>
          </a:p>
        </p:txBody>
      </p:sp>
      <p:sp>
        <p:nvSpPr>
          <p:cNvPr id="38" name="Text 35"/>
          <p:cNvSpPr txBox="1"/>
          <p:nvPr/>
        </p:nvSpPr>
        <p:spPr>
          <a:xfrm>
            <a:off x="804672" y="4736592"/>
            <a:ext cx="2377440" cy="237744"/>
          </a:xfrm>
          <a:prstGeom prst="rect">
            <a:avLst/>
          </a:prstGeom>
          <a:noFill/>
          <a:ln/>
        </p:spPr>
        <p:txBody>
          <a:bodyPr wrap="square" lIns="0" tIns="0" rIns="0" bIns="0" rtlCol="0" anchor="t"/>
          <a:lstStyle/>
          <a:p>
            <a:pPr indent="0" marL="0">
              <a:buNone/>
            </a:pPr>
            <a:r>
              <a:rPr lang="en-US" sz="1200" b="1" dirty="0">
                <a:solidFill>
                  <a:srgbClr val="0E7C86"/>
                </a:solidFill>
                <a:latin typeface="Arial" pitchFamily="34" charset="0"/>
                <a:ea typeface="Arial" pitchFamily="34" charset="-122"/>
                <a:cs typeface="Arial" pitchFamily="34" charset="-120"/>
              </a:rPr>
              <a:t>Measures</a:t>
            </a:r>
            <a:endParaRPr lang="en-US" sz="1200" dirty="0"/>
          </a:p>
        </p:txBody>
      </p:sp>
      <p:sp>
        <p:nvSpPr>
          <p:cNvPr id="39" name="Text 36"/>
          <p:cNvSpPr txBox="1"/>
          <p:nvPr/>
        </p:nvSpPr>
        <p:spPr>
          <a:xfrm>
            <a:off x="804672" y="4992624"/>
            <a:ext cx="2377440" cy="914400"/>
          </a:xfrm>
          <a:prstGeom prst="rect">
            <a:avLst/>
          </a:prstGeom>
          <a:noFill/>
          <a:ln/>
        </p:spPr>
        <p:txBody>
          <a:bodyPr wrap="square" lIns="0" tIns="0" rIns="0" bIns="0" rtlCol="0" anchor="t"/>
          <a:lstStyle/>
          <a:p>
            <a:pPr indent="0" marL="0">
              <a:lnSpc>
                <a:spcPts val="1428"/>
              </a:lnSpc>
              <a:buNone/>
            </a:pPr>
            <a:r>
              <a:rPr lang="en-US" sz="1050" dirty="0">
                <a:solidFill>
                  <a:srgbClr val="1A2430"/>
                </a:solidFill>
                <a:latin typeface="Arial" pitchFamily="34" charset="0"/>
                <a:ea typeface="Arial" pitchFamily="34" charset="-122"/>
                <a:cs typeface="Arial" pitchFamily="34" charset="-120"/>
              </a:rPr>
              <a:t>Bus current and voltage sampled continuously while the motor runs under load</a:t>
            </a:r>
            <a:endParaRPr lang="en-US" sz="1050" dirty="0"/>
          </a:p>
        </p:txBody>
      </p:sp>
      <p:sp>
        <p:nvSpPr>
          <p:cNvPr id="40" name="Text 37"/>
          <p:cNvSpPr txBox="1"/>
          <p:nvPr/>
        </p:nvSpPr>
        <p:spPr>
          <a:xfrm>
            <a:off x="3474720" y="4736592"/>
            <a:ext cx="2377440" cy="237744"/>
          </a:xfrm>
          <a:prstGeom prst="rect">
            <a:avLst/>
          </a:prstGeom>
          <a:noFill/>
          <a:ln/>
        </p:spPr>
        <p:txBody>
          <a:bodyPr wrap="square" lIns="0" tIns="0" rIns="0" bIns="0" rtlCol="0" anchor="t"/>
          <a:lstStyle/>
          <a:p>
            <a:pPr indent="0" marL="0">
              <a:buNone/>
            </a:pPr>
            <a:r>
              <a:rPr lang="en-US" sz="1200" b="1" dirty="0">
                <a:solidFill>
                  <a:srgbClr val="0E7C86"/>
                </a:solidFill>
                <a:latin typeface="Arial" pitchFamily="34" charset="0"/>
                <a:ea typeface="Arial" pitchFamily="34" charset="-122"/>
                <a:cs typeface="Arial" pitchFamily="34" charset="-120"/>
              </a:rPr>
              <a:t>Drives</a:t>
            </a:r>
            <a:endParaRPr lang="en-US" sz="1200" dirty="0"/>
          </a:p>
        </p:txBody>
      </p:sp>
      <p:sp>
        <p:nvSpPr>
          <p:cNvPr id="41" name="Text 38"/>
          <p:cNvSpPr txBox="1"/>
          <p:nvPr/>
        </p:nvSpPr>
        <p:spPr>
          <a:xfrm>
            <a:off x="3474720" y="4992624"/>
            <a:ext cx="2377440" cy="914400"/>
          </a:xfrm>
          <a:prstGeom prst="rect">
            <a:avLst/>
          </a:prstGeom>
          <a:noFill/>
          <a:ln/>
        </p:spPr>
        <p:txBody>
          <a:bodyPr wrap="square" lIns="0" tIns="0" rIns="0" bIns="0" rtlCol="0" anchor="t"/>
          <a:lstStyle/>
          <a:p>
            <a:pPr indent="0" marL="0">
              <a:lnSpc>
                <a:spcPts val="1428"/>
              </a:lnSpc>
              <a:buNone/>
            </a:pPr>
            <a:r>
              <a:rPr lang="en-US" sz="1050" dirty="0">
                <a:solidFill>
                  <a:srgbClr val="1A2430"/>
                </a:solidFill>
                <a:latin typeface="Arial" pitchFamily="34" charset="0"/>
                <a:ea typeface="Arial" pitchFamily="34" charset="-122"/>
                <a:cs typeface="Arial" pitchFamily="34" charset="-120"/>
              </a:rPr>
              <a:t>Four-quadrant control of the load through an H-bridge, with limit-switch travel ends</a:t>
            </a:r>
            <a:endParaRPr lang="en-US" sz="1050" dirty="0"/>
          </a:p>
        </p:txBody>
      </p:sp>
      <p:sp>
        <p:nvSpPr>
          <p:cNvPr id="42" name="Text 39"/>
          <p:cNvSpPr txBox="1"/>
          <p:nvPr/>
        </p:nvSpPr>
        <p:spPr>
          <a:xfrm>
            <a:off x="6144768" y="4736592"/>
            <a:ext cx="2377440" cy="237744"/>
          </a:xfrm>
          <a:prstGeom prst="rect">
            <a:avLst/>
          </a:prstGeom>
          <a:noFill/>
          <a:ln/>
        </p:spPr>
        <p:txBody>
          <a:bodyPr wrap="square" lIns="0" tIns="0" rIns="0" bIns="0" rtlCol="0" anchor="t"/>
          <a:lstStyle/>
          <a:p>
            <a:pPr indent="0" marL="0">
              <a:buNone/>
            </a:pPr>
            <a:r>
              <a:rPr lang="en-US" sz="1200" b="1" dirty="0">
                <a:solidFill>
                  <a:srgbClr val="0E7C86"/>
                </a:solidFill>
                <a:latin typeface="Arial" pitchFamily="34" charset="0"/>
                <a:ea typeface="Arial" pitchFamily="34" charset="-122"/>
                <a:cs typeface="Arial" pitchFamily="34" charset="-120"/>
              </a:rPr>
              <a:t>Segments</a:t>
            </a:r>
            <a:endParaRPr lang="en-US" sz="1200" dirty="0"/>
          </a:p>
        </p:txBody>
      </p:sp>
      <p:sp>
        <p:nvSpPr>
          <p:cNvPr id="43" name="Text 40"/>
          <p:cNvSpPr txBox="1"/>
          <p:nvPr/>
        </p:nvSpPr>
        <p:spPr>
          <a:xfrm>
            <a:off x="6144768" y="4992624"/>
            <a:ext cx="2377440" cy="914400"/>
          </a:xfrm>
          <a:prstGeom prst="rect">
            <a:avLst/>
          </a:prstGeom>
          <a:noFill/>
          <a:ln/>
        </p:spPr>
        <p:txBody>
          <a:bodyPr wrap="square" lIns="0" tIns="0" rIns="0" bIns="0" rtlCol="0" anchor="t"/>
          <a:lstStyle/>
          <a:p>
            <a:pPr indent="0" marL="0">
              <a:lnSpc>
                <a:spcPts val="1428"/>
              </a:lnSpc>
              <a:buNone/>
            </a:pPr>
            <a:r>
              <a:rPr lang="en-US" sz="1050" dirty="0">
                <a:solidFill>
                  <a:srgbClr val="1A2430"/>
                </a:solidFill>
                <a:latin typeface="Arial" pitchFamily="34" charset="0"/>
                <a:ea typeface="Arial" pitchFamily="34" charset="-122"/>
                <a:cs typeface="Arial" pitchFamily="34" charset="-120"/>
              </a:rPr>
              <a:t>Each journey split automatically into Idle, Start, Accel, Cruise, Decel and Level</a:t>
            </a:r>
            <a:endParaRPr lang="en-US" sz="1050" dirty="0"/>
          </a:p>
        </p:txBody>
      </p:sp>
      <p:sp>
        <p:nvSpPr>
          <p:cNvPr id="44" name="Text 41"/>
          <p:cNvSpPr txBox="1"/>
          <p:nvPr/>
        </p:nvSpPr>
        <p:spPr>
          <a:xfrm>
            <a:off x="8814816" y="4736592"/>
            <a:ext cx="2377440" cy="237744"/>
          </a:xfrm>
          <a:prstGeom prst="rect">
            <a:avLst/>
          </a:prstGeom>
          <a:noFill/>
          <a:ln/>
        </p:spPr>
        <p:txBody>
          <a:bodyPr wrap="square" lIns="0" tIns="0" rIns="0" bIns="0" rtlCol="0" anchor="t"/>
          <a:lstStyle/>
          <a:p>
            <a:pPr indent="0" marL="0">
              <a:buNone/>
            </a:pPr>
            <a:r>
              <a:rPr lang="en-US" sz="1200" b="1" dirty="0">
                <a:solidFill>
                  <a:srgbClr val="0E7C86"/>
                </a:solidFill>
                <a:latin typeface="Arial" pitchFamily="34" charset="0"/>
                <a:ea typeface="Arial" pitchFamily="34" charset="-122"/>
                <a:cs typeface="Arial" pitchFamily="34" charset="-120"/>
              </a:rPr>
              <a:t>Reports</a:t>
            </a:r>
            <a:endParaRPr lang="en-US" sz="1200" dirty="0"/>
          </a:p>
        </p:txBody>
      </p:sp>
      <p:sp>
        <p:nvSpPr>
          <p:cNvPr id="45" name="Text 42"/>
          <p:cNvSpPr txBox="1"/>
          <p:nvPr/>
        </p:nvSpPr>
        <p:spPr>
          <a:xfrm>
            <a:off x="8814816" y="4992624"/>
            <a:ext cx="2377440" cy="914400"/>
          </a:xfrm>
          <a:prstGeom prst="rect">
            <a:avLst/>
          </a:prstGeom>
          <a:noFill/>
          <a:ln/>
        </p:spPr>
        <p:txBody>
          <a:bodyPr wrap="square" lIns="0" tIns="0" rIns="0" bIns="0" rtlCol="0" anchor="t"/>
          <a:lstStyle/>
          <a:p>
            <a:pPr indent="0" marL="0">
              <a:lnSpc>
                <a:spcPts val="1428"/>
              </a:lnSpc>
              <a:buNone/>
            </a:pPr>
            <a:r>
              <a:rPr lang="en-US" sz="1050" dirty="0">
                <a:solidFill>
                  <a:srgbClr val="1A2430"/>
                </a:solidFill>
                <a:latin typeface="Arial" pitchFamily="34" charset="0"/>
                <a:ea typeface="Arial" pitchFamily="34" charset="-122"/>
                <a:cs typeface="Arial" pitchFamily="34" charset="-120"/>
              </a:rPr>
              <a:t>Its own Wi-Fi dashboard, a per-trip record and a CSV export, with no PC software</a:t>
            </a:r>
            <a:endParaRPr lang="en-US" sz="1050" dirty="0"/>
          </a:p>
        </p:txBody>
      </p:sp>
      <p:sp>
        <p:nvSpPr>
          <p:cNvPr id="46" name="Text 43"/>
          <p:cNvSpPr txBox="1"/>
          <p:nvPr/>
        </p:nvSpPr>
        <p:spPr>
          <a:xfrm>
            <a:off x="804672" y="5870448"/>
            <a:ext cx="10607040" cy="237744"/>
          </a:xfrm>
          <a:prstGeom prst="rect">
            <a:avLst/>
          </a:prstGeom>
          <a:noFill/>
          <a:ln/>
        </p:spPr>
        <p:txBody>
          <a:bodyPr wrap="square" lIns="0" tIns="0" rIns="0" bIns="0" rtlCol="0" anchor="t"/>
          <a:lstStyle/>
          <a:p>
            <a:pPr indent="0" marL="0">
              <a:lnSpc>
                <a:spcPts val="1292"/>
              </a:lnSpc>
              <a:buNone/>
            </a:pPr>
            <a:r>
              <a:rPr lang="en-US" sz="950" dirty="0">
                <a:solidFill>
                  <a:srgbClr val="5B6B7A"/>
                </a:solidFill>
                <a:latin typeface="Arial" pitchFamily="34" charset="0"/>
                <a:ea typeface="Arial" pitchFamily="34" charset="-122"/>
                <a:cs typeface="Arial" pitchFamily="34" charset="-120"/>
              </a:rPr>
              <a:t>Built as a 12 V DC proxy so the measurement problem could be studied safely on a student bench.</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19456"/>
          </a:xfrm>
          <a:prstGeom prst="rect">
            <a:avLst/>
          </a:prstGeom>
          <a:noFill/>
          <a:ln/>
        </p:spPr>
        <p:txBody>
          <a:bodyPr wrap="square" lIns="0" tIns="0" rIns="0" bIns="0" rtlCol="0" anchor="t"/>
          <a:lstStyle/>
          <a:p>
            <a:pPr indent="0" marL="0">
              <a:buNone/>
            </a:pPr>
            <a:r>
              <a:rPr lang="en-US" sz="1050" b="1" spc="140" kern="0" dirty="0">
                <a:solidFill>
                  <a:srgbClr val="0E7C86"/>
                </a:solidFill>
                <a:latin typeface="Arial" pitchFamily="34" charset="0"/>
                <a:ea typeface="Arial" pitchFamily="34" charset="-122"/>
                <a:cs typeface="Arial" pitchFamily="34" charset="-120"/>
              </a:rPr>
              <a:t>WHAT WE DEMONSTRATED</a:t>
            </a:r>
            <a:endParaRPr lang="en-US" sz="1050" dirty="0"/>
          </a:p>
        </p:txBody>
      </p:sp>
      <p:sp>
        <p:nvSpPr>
          <p:cNvPr id="3" name="Text 1"/>
          <p:cNvSpPr txBox="1"/>
          <p:nvPr/>
        </p:nvSpPr>
        <p:spPr>
          <a:xfrm>
            <a:off x="548640" y="566928"/>
            <a:ext cx="11064240" cy="512064"/>
          </a:xfrm>
          <a:prstGeom prst="rect">
            <a:avLst/>
          </a:prstGeom>
          <a:noFill/>
          <a:ln/>
        </p:spPr>
        <p:txBody>
          <a:bodyPr wrap="square" lIns="0" tIns="0" rIns="0" bIns="0" rtlCol="0" anchor="t"/>
          <a:lstStyle/>
          <a:p>
            <a:pPr indent="0" marL="0">
              <a:buNone/>
            </a:pPr>
            <a:r>
              <a:rPr lang="en-US" sz="2900" b="1" dirty="0">
                <a:solidFill>
                  <a:srgbClr val="1A2430"/>
                </a:solidFill>
                <a:latin typeface="Arial" pitchFamily="34" charset="0"/>
                <a:ea typeface="Arial" pitchFamily="34" charset="-122"/>
                <a:cs typeface="Arial" pitchFamily="34" charset="-120"/>
              </a:rPr>
              <a:t>Live acquisition on our own hardware</a:t>
            </a:r>
            <a:endParaRPr lang="en-US" sz="2900" dirty="0"/>
          </a:p>
        </p:txBody>
      </p:sp>
      <p:sp>
        <p:nvSpPr>
          <p:cNvPr id="4" name="Text 2"/>
          <p:cNvSpPr txBox="1"/>
          <p:nvPr/>
        </p:nvSpPr>
        <p:spPr>
          <a:xfrm>
            <a:off x="548640" y="6327648"/>
            <a:ext cx="5486400" cy="219456"/>
          </a:xfrm>
          <a:prstGeom prst="rect">
            <a:avLst/>
          </a:prstGeom>
          <a:noFill/>
          <a:ln/>
        </p:spPr>
        <p:txBody>
          <a:bodyPr wrap="square" lIns="0" tIns="0" rIns="0" bIns="0" rtlCol="0" anchor="ctr"/>
          <a:lstStyle/>
          <a:p>
            <a:pPr indent="0" marL="0">
              <a:buNone/>
            </a:pPr>
            <a:r>
              <a:rPr lang="en-US" sz="900" dirty="0">
                <a:solidFill>
                  <a:srgbClr val="6B7A86"/>
                </a:solidFill>
                <a:latin typeface="Arial" pitchFamily="34" charset="0"/>
                <a:ea typeface="Arial" pitchFamily="34" charset="-122"/>
                <a:cs typeface="Arial" pitchFamily="34" charset="-120"/>
              </a:rPr>
              <a:t>AURA-LIFT  ·  Team Immortal</a:t>
            </a:r>
            <a:endParaRPr lang="en-US" sz="900" dirty="0"/>
          </a:p>
        </p:txBody>
      </p:sp>
      <p:sp>
        <p:nvSpPr>
          <p:cNvPr id="5" name="Text 3"/>
          <p:cNvSpPr txBox="1"/>
          <p:nvPr/>
        </p:nvSpPr>
        <p:spPr>
          <a:xfrm>
            <a:off x="10972800" y="6327648"/>
            <a:ext cx="667512" cy="219456"/>
          </a:xfrm>
          <a:prstGeom prst="rect">
            <a:avLst/>
          </a:prstGeom>
          <a:noFill/>
          <a:ln/>
        </p:spPr>
        <p:txBody>
          <a:bodyPr wrap="square" lIns="0" tIns="0" rIns="0" bIns="0" rtlCol="0" anchor="ctr"/>
          <a:lstStyle/>
          <a:p>
            <a:pPr algn="r" indent="0" marL="0">
              <a:buNone/>
            </a:pPr>
            <a:r>
              <a:rPr lang="en-US" sz="900" dirty="0">
                <a:solidFill>
                  <a:srgbClr val="6B7A86"/>
                </a:solidFill>
                <a:latin typeface="Arial" pitchFamily="34" charset="0"/>
                <a:ea typeface="Arial" pitchFamily="34" charset="-122"/>
                <a:cs typeface="Arial" pitchFamily="34" charset="-120"/>
              </a:rPr>
              <a:t>5</a:t>
            </a:r>
            <a:endParaRPr lang="en-US" sz="900" dirty="0"/>
          </a:p>
        </p:txBody>
      </p:sp>
      <p:sp>
        <p:nvSpPr>
          <p:cNvPr id="6" name="Shape 4"/>
          <p:cNvSpPr/>
          <p:nvPr/>
        </p:nvSpPr>
        <p:spPr>
          <a:xfrm>
            <a:off x="10853928" y="658368"/>
            <a:ext cx="786384" cy="219456"/>
          </a:xfrm>
          <a:prstGeom prst="roundRect">
            <a:avLst>
              <a:gd name="adj" fmla="val 50000"/>
            </a:avLst>
          </a:prstGeom>
          <a:solidFill>
            <a:srgbClr val="0E7C86"/>
          </a:solidFill>
          <a:ln/>
        </p:spPr>
      </p:sp>
      <p:sp>
        <p:nvSpPr>
          <p:cNvPr id="7" name="Text 5"/>
          <p:cNvSpPr txBox="1"/>
          <p:nvPr/>
        </p:nvSpPr>
        <p:spPr>
          <a:xfrm>
            <a:off x="10853928" y="658368"/>
            <a:ext cx="786384"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BUILT</a:t>
            </a:r>
            <a:endParaRPr lang="en-US" sz="900" dirty="0"/>
          </a:p>
        </p:txBody>
      </p:sp>
      <p:sp>
        <p:nvSpPr>
          <p:cNvPr id="8" name="Text 6"/>
          <p:cNvSpPr txBox="1"/>
          <p:nvPr/>
        </p:nvSpPr>
        <p:spPr>
          <a:xfrm>
            <a:off x="548640" y="1143000"/>
            <a:ext cx="11091672" cy="274320"/>
          </a:xfrm>
          <a:prstGeom prst="rect">
            <a:avLst/>
          </a:prstGeom>
          <a:noFill/>
          <a:ln/>
        </p:spPr>
        <p:txBody>
          <a:bodyPr wrap="square" lIns="0" tIns="0" rIns="0" bIns="0" rtlCol="0" anchor="t"/>
          <a:lstStyle/>
          <a:p>
            <a:pPr indent="0" marL="0">
              <a:lnSpc>
                <a:spcPts val="1632"/>
              </a:lnSpc>
              <a:buNone/>
            </a:pPr>
            <a:r>
              <a:rPr lang="en-US" sz="1200" dirty="0">
                <a:solidFill>
                  <a:srgbClr val="5B6B7A"/>
                </a:solidFill>
                <a:latin typeface="Arial" pitchFamily="34" charset="0"/>
                <a:ea typeface="Arial" pitchFamily="34" charset="-122"/>
                <a:cs typeface="Arial" pitchFamily="34" charset="-120"/>
              </a:rPr>
              <a:t>Every number on this slide came off the rig. The ESP32 serves this itself, over its own Wi-Fi access point.</a:t>
            </a:r>
            <a:endParaRPr lang="en-US" sz="1200" dirty="0"/>
          </a:p>
        </p:txBody>
      </p:sp>
      <p:pic>
        <p:nvPicPr>
          <p:cNvPr id="9" name="Image 0" descr="preencoded.png">    </p:cNvPr>
          <p:cNvPicPr>
            <a:picLocks noChangeAspect="1"/>
          </p:cNvPicPr>
          <p:nvPr/>
        </p:nvPicPr>
        <p:blipFill>
          <a:blip r:embed="rId1"/>
          <a:stretch>
            <a:fillRect/>
          </a:stretch>
        </p:blipFill>
        <p:spPr>
          <a:xfrm>
            <a:off x="548640" y="1536192"/>
            <a:ext cx="6766560" cy="1792224"/>
          </a:xfrm>
          <a:prstGeom prst="rect">
            <a:avLst/>
          </a:prstGeom>
        </p:spPr>
      </p:pic>
      <p:sp>
        <p:nvSpPr>
          <p:cNvPr id="10" name="Text 7"/>
          <p:cNvSpPr txBox="1"/>
          <p:nvPr/>
        </p:nvSpPr>
        <p:spPr>
          <a:xfrm>
            <a:off x="548640" y="3383280"/>
            <a:ext cx="6766560" cy="219456"/>
          </a:xfrm>
          <a:prstGeom prst="rect">
            <a:avLst/>
          </a:prstGeom>
          <a:noFill/>
          <a:ln/>
        </p:spPr>
        <p:txBody>
          <a:bodyPr wrap="square" lIns="0" tIns="0" rIns="0" bIns="0" rtlCol="0" anchor="t"/>
          <a:lstStyle/>
          <a:p>
            <a:pPr indent="0" marL="0">
              <a:buNone/>
            </a:pPr>
            <a:r>
              <a:rPr lang="en-US" sz="950" dirty="0">
                <a:solidFill>
                  <a:srgbClr val="5B6B7A"/>
                </a:solidFill>
                <a:latin typeface="Arial" pitchFamily="34" charset="0"/>
                <a:ea typeface="Arial" pitchFamily="34" charset="-122"/>
                <a:cs typeface="Arial" pitchFamily="34" charset="-120"/>
              </a:rPr>
              <a:t>Seven journeys, each segmented and averaged per phase, exportable as CSV</a:t>
            </a:r>
            <a:endParaRPr lang="en-US" sz="950" dirty="0"/>
          </a:p>
        </p:txBody>
      </p:sp>
      <p:sp>
        <p:nvSpPr>
          <p:cNvPr id="11" name="Shape 8"/>
          <p:cNvSpPr/>
          <p:nvPr/>
        </p:nvSpPr>
        <p:spPr>
          <a:xfrm>
            <a:off x="7516368" y="1536192"/>
            <a:ext cx="4123944" cy="2084832"/>
          </a:xfrm>
          <a:prstGeom prst="roundRect">
            <a:avLst>
              <a:gd name="adj" fmla="val 3070"/>
            </a:avLst>
          </a:prstGeom>
          <a:solidFill>
            <a:srgbClr val="E2F1F2"/>
          </a:solidFill>
          <a:ln w="12700">
            <a:solidFill>
              <a:srgbClr val="B9DEE1"/>
            </a:solidFill>
            <a:prstDash val="solid"/>
          </a:ln>
          <a:effectLst>
            <a:outerShdw sx="100000" sy="100000" kx="0" ky="0" algn="bl" rotWithShape="0" blurRad="88900" dist="25400" dir="5400000">
              <a:srgbClr val="AEBDC7">
                <a:alpha val="22000"/>
              </a:srgbClr>
            </a:outerShdw>
          </a:effectLst>
        </p:spPr>
      </p:sp>
      <p:sp>
        <p:nvSpPr>
          <p:cNvPr id="12" name="Text 9"/>
          <p:cNvSpPr txBox="1"/>
          <p:nvPr/>
        </p:nvSpPr>
        <p:spPr>
          <a:xfrm>
            <a:off x="7772400" y="1719072"/>
            <a:ext cx="3657600" cy="237744"/>
          </a:xfrm>
          <a:prstGeom prst="rect">
            <a:avLst/>
          </a:prstGeom>
          <a:noFill/>
          <a:ln/>
        </p:spPr>
        <p:txBody>
          <a:bodyPr wrap="square" lIns="0" tIns="0" rIns="0" bIns="0" rtlCol="0" anchor="t"/>
          <a:lstStyle/>
          <a:p>
            <a:pPr indent="0" marL="0">
              <a:buNone/>
            </a:pPr>
            <a:r>
              <a:rPr lang="en-US" sz="1300" b="1" spc="50" kern="0" dirty="0">
                <a:solidFill>
                  <a:srgbClr val="0E7C86"/>
                </a:solidFill>
                <a:latin typeface="Arial" pitchFamily="34" charset="0"/>
                <a:ea typeface="Arial" pitchFamily="34" charset="-122"/>
                <a:cs typeface="Arial" pitchFamily="34" charset="-120"/>
              </a:rPr>
              <a:t>RUNNING ON THE DEVICE</a:t>
            </a:r>
            <a:endParaRPr lang="en-US" sz="1300" dirty="0"/>
          </a:p>
        </p:txBody>
      </p:sp>
      <p:sp>
        <p:nvSpPr>
          <p:cNvPr id="13" name="Text 10"/>
          <p:cNvSpPr txBox="1"/>
          <p:nvPr/>
        </p:nvSpPr>
        <p:spPr>
          <a:xfrm>
            <a:off x="7772400" y="2029968"/>
            <a:ext cx="3639312" cy="1463040"/>
          </a:xfrm>
          <a:prstGeom prst="rect">
            <a:avLst/>
          </a:prstGeom>
          <a:noFill/>
          <a:ln/>
        </p:spPr>
        <p:txBody>
          <a:bodyPr wrap="square" lIns="0" tIns="0" rIns="0" bIns="0" rtlCol="0" anchor="t"/>
          <a:lstStyle/>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Continuous current and voltage sampling</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Automatic phase segmentation per journey</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Per-trip storage and UP / DOWN pairing</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Limit detection, trip counting, CSV export</a:t>
            </a:r>
            <a:endParaRPr lang="en-US" sz="1050" dirty="0"/>
          </a:p>
        </p:txBody>
      </p:sp>
      <p:sp>
        <p:nvSpPr>
          <p:cNvPr id="14" name="Shape 11"/>
          <p:cNvSpPr/>
          <p:nvPr/>
        </p:nvSpPr>
        <p:spPr>
          <a:xfrm>
            <a:off x="548640" y="3749040"/>
            <a:ext cx="11091672" cy="2468880"/>
          </a:xfrm>
          <a:prstGeom prst="roundRect">
            <a:avLst>
              <a:gd name="adj" fmla="val 2593"/>
            </a:avLst>
          </a:prstGeom>
          <a:solidFill>
            <a:srgbClr val="F2F5F7"/>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15" name="Text 12"/>
          <p:cNvSpPr txBox="1"/>
          <p:nvPr/>
        </p:nvSpPr>
        <p:spPr>
          <a:xfrm>
            <a:off x="804672" y="3931920"/>
            <a:ext cx="10607040" cy="237744"/>
          </a:xfrm>
          <a:prstGeom prst="rect">
            <a:avLst/>
          </a:prstGeom>
          <a:noFill/>
          <a:ln/>
        </p:spPr>
        <p:txBody>
          <a:bodyPr wrap="square" lIns="0" tIns="0" rIns="0" bIns="0" rtlCol="0" anchor="t"/>
          <a:lstStyle/>
          <a:p>
            <a:pPr indent="0" marL="0">
              <a:buNone/>
            </a:pPr>
            <a:r>
              <a:rPr lang="en-US" sz="1300" b="1" spc="50" kern="0" dirty="0">
                <a:solidFill>
                  <a:srgbClr val="1A2430"/>
                </a:solidFill>
                <a:latin typeface="Arial" pitchFamily="34" charset="0"/>
                <a:ea typeface="Arial" pitchFamily="34" charset="-122"/>
                <a:cs typeface="Arial" pitchFamily="34" charset="-120"/>
              </a:rPr>
              <a:t>THE RESULT WE SET OUT TO GET: LOAD SEPARATED FROM LOSS</a:t>
            </a:r>
            <a:endParaRPr lang="en-US" sz="1300" dirty="0"/>
          </a:p>
        </p:txBody>
      </p:sp>
      <p:sp>
        <p:nvSpPr>
          <p:cNvPr id="16" name="Text 13"/>
          <p:cNvSpPr txBox="1"/>
          <p:nvPr/>
        </p:nvSpPr>
        <p:spPr>
          <a:xfrm>
            <a:off x="804672" y="4242816"/>
            <a:ext cx="6400800" cy="987552"/>
          </a:xfrm>
          <a:prstGeom prst="rect">
            <a:avLst/>
          </a:prstGeom>
          <a:noFill/>
          <a:ln/>
        </p:spPr>
        <p:txBody>
          <a:bodyPr wrap="square" lIns="0" tIns="0" rIns="0" bIns="0" rtlCol="0" anchor="t"/>
          <a:lstStyle/>
          <a:p>
            <a:pPr indent="0" marL="0">
              <a:lnSpc>
                <a:spcPts val="1428"/>
              </a:lnSpc>
              <a:buNone/>
            </a:pPr>
            <a:r>
              <a:rPr lang="en-US" sz="1050" dirty="0">
                <a:solidFill>
                  <a:srgbClr val="1A2430"/>
                </a:solidFill>
                <a:latin typeface="Arial" pitchFamily="34" charset="0"/>
                <a:ea typeface="Arial" pitchFamily="34" charset="-122"/>
                <a:cs typeface="Arial" pitchFamily="34" charset="-120"/>
              </a:rPr>
              <a:t>A counterweighted car is its own differential experiment. Going up, the drive supplies imbalance plus losses. Going down, gravity returns the imbalance and the drive supplies only losses minus imbalance. So the half-difference of a matched pair isolates the load term, and the half-sum isolates the loss term — with no load-weighing device anywhere in the system.</a:t>
            </a:r>
            <a:endParaRPr lang="en-US" sz="1050" dirty="0"/>
          </a:p>
        </p:txBody>
      </p:sp>
      <p:sp>
        <p:nvSpPr>
          <p:cNvPr id="17" name="Shape 14"/>
          <p:cNvSpPr/>
          <p:nvPr/>
        </p:nvSpPr>
        <p:spPr>
          <a:xfrm>
            <a:off x="804672" y="5358384"/>
            <a:ext cx="1481328" cy="658368"/>
          </a:xfrm>
          <a:prstGeom prst="roundRect">
            <a:avLst>
              <a:gd name="adj" fmla="val 8333"/>
            </a:avLst>
          </a:prstGeom>
          <a:solidFill>
            <a:srgbClr val="FFFFFF"/>
          </a:solidFill>
          <a:ln w="12700">
            <a:solidFill>
              <a:srgbClr val="D7E0E6"/>
            </a:solidFill>
            <a:prstDash val="solid"/>
          </a:ln>
        </p:spPr>
      </p:sp>
      <p:sp>
        <p:nvSpPr>
          <p:cNvPr id="18" name="Text 15"/>
          <p:cNvSpPr txBox="1"/>
          <p:nvPr/>
        </p:nvSpPr>
        <p:spPr>
          <a:xfrm>
            <a:off x="804672" y="5431536"/>
            <a:ext cx="1481328" cy="201168"/>
          </a:xfrm>
          <a:prstGeom prst="rect">
            <a:avLst/>
          </a:prstGeom>
          <a:noFill/>
          <a:ln/>
        </p:spPr>
        <p:txBody>
          <a:bodyPr wrap="square" lIns="0" tIns="0" rIns="0" bIns="0"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last UP</a:t>
            </a:r>
            <a:endParaRPr lang="en-US" sz="900" dirty="0"/>
          </a:p>
        </p:txBody>
      </p:sp>
      <p:sp>
        <p:nvSpPr>
          <p:cNvPr id="19" name="Text 16"/>
          <p:cNvSpPr txBox="1"/>
          <p:nvPr/>
        </p:nvSpPr>
        <p:spPr>
          <a:xfrm>
            <a:off x="804672" y="5632704"/>
            <a:ext cx="1481328" cy="292608"/>
          </a:xfrm>
          <a:prstGeom prst="rect">
            <a:avLst/>
          </a:prstGeom>
          <a:noFill/>
          <a:ln/>
        </p:spPr>
        <p:txBody>
          <a:bodyPr wrap="square" lIns="0" tIns="0" rIns="0" bIns="0" rtlCol="0" anchor="ctr"/>
          <a:lstStyle/>
          <a:p>
            <a:pPr algn="ctr" indent="0" marL="0">
              <a:buNone/>
            </a:pPr>
            <a:r>
              <a:rPr lang="en-US" sz="1400" b="1" dirty="0">
                <a:solidFill>
                  <a:srgbClr val="5B6B7A"/>
                </a:solidFill>
                <a:latin typeface="Arial" pitchFamily="34" charset="0"/>
                <a:ea typeface="Arial" pitchFamily="34" charset="-122"/>
                <a:cs typeface="Arial" pitchFamily="34" charset="-120"/>
              </a:rPr>
              <a:t>−0.064 A</a:t>
            </a:r>
            <a:endParaRPr lang="en-US" sz="1400" dirty="0"/>
          </a:p>
        </p:txBody>
      </p:sp>
      <p:sp>
        <p:nvSpPr>
          <p:cNvPr id="20" name="Shape 17"/>
          <p:cNvSpPr/>
          <p:nvPr/>
        </p:nvSpPr>
        <p:spPr>
          <a:xfrm>
            <a:off x="2414016" y="5358384"/>
            <a:ext cx="1481328" cy="658368"/>
          </a:xfrm>
          <a:prstGeom prst="roundRect">
            <a:avLst>
              <a:gd name="adj" fmla="val 8333"/>
            </a:avLst>
          </a:prstGeom>
          <a:solidFill>
            <a:srgbClr val="FFFFFF"/>
          </a:solidFill>
          <a:ln w="12700">
            <a:solidFill>
              <a:srgbClr val="D7E0E6"/>
            </a:solidFill>
            <a:prstDash val="solid"/>
          </a:ln>
        </p:spPr>
      </p:sp>
      <p:sp>
        <p:nvSpPr>
          <p:cNvPr id="21" name="Text 18"/>
          <p:cNvSpPr txBox="1"/>
          <p:nvPr/>
        </p:nvSpPr>
        <p:spPr>
          <a:xfrm>
            <a:off x="2414016" y="5431536"/>
            <a:ext cx="1481328" cy="201168"/>
          </a:xfrm>
          <a:prstGeom prst="rect">
            <a:avLst/>
          </a:prstGeom>
          <a:noFill/>
          <a:ln/>
        </p:spPr>
        <p:txBody>
          <a:bodyPr wrap="square" lIns="0" tIns="0" rIns="0" bIns="0"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last DOWN</a:t>
            </a:r>
            <a:endParaRPr lang="en-US" sz="900" dirty="0"/>
          </a:p>
        </p:txBody>
      </p:sp>
      <p:sp>
        <p:nvSpPr>
          <p:cNvPr id="22" name="Text 19"/>
          <p:cNvSpPr txBox="1"/>
          <p:nvPr/>
        </p:nvSpPr>
        <p:spPr>
          <a:xfrm>
            <a:off x="2414016" y="5632704"/>
            <a:ext cx="1481328" cy="292608"/>
          </a:xfrm>
          <a:prstGeom prst="rect">
            <a:avLst/>
          </a:prstGeom>
          <a:noFill/>
          <a:ln/>
        </p:spPr>
        <p:txBody>
          <a:bodyPr wrap="square" lIns="0" tIns="0" rIns="0" bIns="0" rtlCol="0" anchor="ctr"/>
          <a:lstStyle/>
          <a:p>
            <a:pPr algn="ctr" indent="0" marL="0">
              <a:buNone/>
            </a:pPr>
            <a:r>
              <a:rPr lang="en-US" sz="1400" b="1" dirty="0">
                <a:solidFill>
                  <a:srgbClr val="5B6B7A"/>
                </a:solidFill>
                <a:latin typeface="Arial" pitchFamily="34" charset="0"/>
                <a:ea typeface="Arial" pitchFamily="34" charset="-122"/>
                <a:cs typeface="Arial" pitchFamily="34" charset="-120"/>
              </a:rPr>
              <a:t>−0.070 A</a:t>
            </a:r>
            <a:endParaRPr lang="en-US" sz="1400" dirty="0"/>
          </a:p>
        </p:txBody>
      </p:sp>
      <p:sp>
        <p:nvSpPr>
          <p:cNvPr id="23" name="Shape 20"/>
          <p:cNvSpPr/>
          <p:nvPr/>
        </p:nvSpPr>
        <p:spPr>
          <a:xfrm>
            <a:off x="4023360" y="5358384"/>
            <a:ext cx="1481328" cy="658368"/>
          </a:xfrm>
          <a:prstGeom prst="roundRect">
            <a:avLst>
              <a:gd name="adj" fmla="val 8333"/>
            </a:avLst>
          </a:prstGeom>
          <a:solidFill>
            <a:srgbClr val="FFFFFF"/>
          </a:solidFill>
          <a:ln w="12700">
            <a:solidFill>
              <a:srgbClr val="D7E0E6"/>
            </a:solidFill>
            <a:prstDash val="solid"/>
          </a:ln>
        </p:spPr>
      </p:sp>
      <p:sp>
        <p:nvSpPr>
          <p:cNvPr id="24" name="Text 21"/>
          <p:cNvSpPr txBox="1"/>
          <p:nvPr/>
        </p:nvSpPr>
        <p:spPr>
          <a:xfrm>
            <a:off x="4023360" y="5431536"/>
            <a:ext cx="1481328" cy="201168"/>
          </a:xfrm>
          <a:prstGeom prst="rect">
            <a:avLst/>
          </a:prstGeom>
          <a:noFill/>
          <a:ln/>
        </p:spPr>
        <p:txBody>
          <a:bodyPr wrap="square" lIns="0" tIns="0" rIns="0" bIns="0"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load term</a:t>
            </a:r>
            <a:endParaRPr lang="en-US" sz="900" dirty="0"/>
          </a:p>
        </p:txBody>
      </p:sp>
      <p:sp>
        <p:nvSpPr>
          <p:cNvPr id="25" name="Text 22"/>
          <p:cNvSpPr txBox="1"/>
          <p:nvPr/>
        </p:nvSpPr>
        <p:spPr>
          <a:xfrm>
            <a:off x="4023360" y="5632704"/>
            <a:ext cx="1481328" cy="292608"/>
          </a:xfrm>
          <a:prstGeom prst="rect">
            <a:avLst/>
          </a:prstGeom>
          <a:noFill/>
          <a:ln/>
        </p:spPr>
        <p:txBody>
          <a:bodyPr wrap="square" lIns="0" tIns="0" rIns="0" bIns="0" rtlCol="0" anchor="ctr"/>
          <a:lstStyle/>
          <a:p>
            <a:pPr algn="ctr" indent="0" marL="0">
              <a:buNone/>
            </a:pPr>
            <a:r>
              <a:rPr lang="en-US" sz="1400" b="1" dirty="0">
                <a:solidFill>
                  <a:srgbClr val="0E7C86"/>
                </a:solidFill>
                <a:latin typeface="Arial" pitchFamily="34" charset="0"/>
                <a:ea typeface="Arial" pitchFamily="34" charset="-122"/>
                <a:cs typeface="Arial" pitchFamily="34" charset="-120"/>
              </a:rPr>
              <a:t>0.003 A</a:t>
            </a:r>
            <a:endParaRPr lang="en-US" sz="1400" dirty="0"/>
          </a:p>
        </p:txBody>
      </p:sp>
      <p:sp>
        <p:nvSpPr>
          <p:cNvPr id="26" name="Shape 23"/>
          <p:cNvSpPr/>
          <p:nvPr/>
        </p:nvSpPr>
        <p:spPr>
          <a:xfrm>
            <a:off x="5632704" y="5358384"/>
            <a:ext cx="1481328" cy="658368"/>
          </a:xfrm>
          <a:prstGeom prst="roundRect">
            <a:avLst>
              <a:gd name="adj" fmla="val 8333"/>
            </a:avLst>
          </a:prstGeom>
          <a:solidFill>
            <a:srgbClr val="FFFFFF"/>
          </a:solidFill>
          <a:ln w="12700">
            <a:solidFill>
              <a:srgbClr val="D7E0E6"/>
            </a:solidFill>
            <a:prstDash val="solid"/>
          </a:ln>
        </p:spPr>
      </p:sp>
      <p:sp>
        <p:nvSpPr>
          <p:cNvPr id="27" name="Text 24"/>
          <p:cNvSpPr txBox="1"/>
          <p:nvPr/>
        </p:nvSpPr>
        <p:spPr>
          <a:xfrm>
            <a:off x="5632704" y="5431536"/>
            <a:ext cx="1481328" cy="201168"/>
          </a:xfrm>
          <a:prstGeom prst="rect">
            <a:avLst/>
          </a:prstGeom>
          <a:noFill/>
          <a:ln/>
        </p:spPr>
        <p:txBody>
          <a:bodyPr wrap="square" lIns="0" tIns="0" rIns="0" bIns="0"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loss term</a:t>
            </a:r>
            <a:endParaRPr lang="en-US" sz="900" dirty="0"/>
          </a:p>
        </p:txBody>
      </p:sp>
      <p:sp>
        <p:nvSpPr>
          <p:cNvPr id="28" name="Text 25"/>
          <p:cNvSpPr txBox="1"/>
          <p:nvPr/>
        </p:nvSpPr>
        <p:spPr>
          <a:xfrm>
            <a:off x="5632704" y="5632704"/>
            <a:ext cx="1481328" cy="292608"/>
          </a:xfrm>
          <a:prstGeom prst="rect">
            <a:avLst/>
          </a:prstGeom>
          <a:noFill/>
          <a:ln/>
        </p:spPr>
        <p:txBody>
          <a:bodyPr wrap="square" lIns="0" tIns="0" rIns="0" bIns="0" rtlCol="0" anchor="ctr"/>
          <a:lstStyle/>
          <a:p>
            <a:pPr algn="ctr" indent="0" marL="0">
              <a:buNone/>
            </a:pPr>
            <a:r>
              <a:rPr lang="en-US" sz="1400" b="1" dirty="0">
                <a:solidFill>
                  <a:srgbClr val="0E7C86"/>
                </a:solidFill>
                <a:latin typeface="Arial" pitchFamily="34" charset="0"/>
                <a:ea typeface="Arial" pitchFamily="34" charset="-122"/>
                <a:cs typeface="Arial" pitchFamily="34" charset="-120"/>
              </a:rPr>
              <a:t>−0.067 A</a:t>
            </a:r>
            <a:endParaRPr lang="en-US" sz="1400" dirty="0"/>
          </a:p>
        </p:txBody>
      </p:sp>
      <p:sp>
        <p:nvSpPr>
          <p:cNvPr id="29" name="Shape 26"/>
          <p:cNvSpPr/>
          <p:nvPr/>
        </p:nvSpPr>
        <p:spPr>
          <a:xfrm>
            <a:off x="7516368" y="4041648"/>
            <a:ext cx="3849624" cy="1883664"/>
          </a:xfrm>
          <a:prstGeom prst="roundRect">
            <a:avLst>
              <a:gd name="adj" fmla="val 3398"/>
            </a:avLst>
          </a:prstGeom>
          <a:solidFill>
            <a:srgbClr val="FFFFFF"/>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30" name="Text 27"/>
          <p:cNvSpPr txBox="1"/>
          <p:nvPr/>
        </p:nvSpPr>
        <p:spPr>
          <a:xfrm>
            <a:off x="7735824" y="4206240"/>
            <a:ext cx="3383280" cy="237744"/>
          </a:xfrm>
          <a:prstGeom prst="rect">
            <a:avLst/>
          </a:prstGeom>
          <a:noFill/>
          <a:ln/>
        </p:spPr>
        <p:txBody>
          <a:bodyPr wrap="square" lIns="0" tIns="0" rIns="0" bIns="0" rtlCol="0" anchor="t"/>
          <a:lstStyle/>
          <a:p>
            <a:pPr indent="0" marL="0">
              <a:buNone/>
            </a:pPr>
            <a:r>
              <a:rPr lang="en-US" sz="1300" b="1" spc="50" kern="0" dirty="0">
                <a:solidFill>
                  <a:srgbClr val="1A2430"/>
                </a:solidFill>
                <a:latin typeface="Arial" pitchFamily="34" charset="0"/>
                <a:ea typeface="Arial" pitchFamily="34" charset="-122"/>
                <a:cs typeface="Arial" pitchFamily="34" charset="-120"/>
              </a:rPr>
              <a:t>READ IT HONESTLY</a:t>
            </a:r>
            <a:endParaRPr lang="en-US" sz="1300" dirty="0"/>
          </a:p>
        </p:txBody>
      </p:sp>
      <p:sp>
        <p:nvSpPr>
          <p:cNvPr id="31" name="Text 28"/>
          <p:cNvSpPr txBox="1"/>
          <p:nvPr/>
        </p:nvSpPr>
        <p:spPr>
          <a:xfrm>
            <a:off x="7735824" y="4498848"/>
            <a:ext cx="3401568" cy="1280160"/>
          </a:xfrm>
          <a:prstGeom prst="rect">
            <a:avLst/>
          </a:prstGeom>
          <a:noFill/>
          <a:ln/>
        </p:spPr>
        <p:txBody>
          <a:bodyPr wrap="square" lIns="0" tIns="0" rIns="0" bIns="0" rtlCol="0" anchor="t"/>
          <a:lstStyle/>
          <a:p>
            <a:pPr indent="0" marL="0">
              <a:lnSpc>
                <a:spcPts val="1360"/>
              </a:lnSpc>
              <a:buNone/>
            </a:pPr>
            <a:r>
              <a:rPr lang="en-US" sz="1000" dirty="0">
                <a:solidFill>
                  <a:srgbClr val="1A2430"/>
                </a:solidFill>
                <a:latin typeface="Arial" pitchFamily="34" charset="0"/>
                <a:ea typeface="Arial" pitchFamily="34" charset="-122"/>
                <a:cs typeface="Arial" pitchFamily="34" charset="-120"/>
              </a:rPr>
              <a:t>The separation runs end to end on real measurements. At 12 V the cruise currents are only tens of milliamps and readings quantise near 0.01 A, so treat this as proof that the method works, not as a calibrated load figure.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19456"/>
          </a:xfrm>
          <a:prstGeom prst="rect">
            <a:avLst/>
          </a:prstGeom>
          <a:noFill/>
          <a:ln/>
        </p:spPr>
        <p:txBody>
          <a:bodyPr wrap="square" lIns="0" tIns="0" rIns="0" bIns="0" rtlCol="0" anchor="t"/>
          <a:lstStyle/>
          <a:p>
            <a:pPr indent="0" marL="0">
              <a:buNone/>
            </a:pPr>
            <a:r>
              <a:rPr lang="en-US" sz="1050" b="1" spc="140" kern="0" dirty="0">
                <a:solidFill>
                  <a:srgbClr val="0E7C86"/>
                </a:solidFill>
                <a:latin typeface="Arial" pitchFamily="34" charset="0"/>
                <a:ea typeface="Arial" pitchFamily="34" charset="-122"/>
                <a:cs typeface="Arial" pitchFamily="34" charset="-120"/>
              </a:rPr>
              <a:t>HOW IT WORKS</a:t>
            </a:r>
            <a:endParaRPr lang="en-US" sz="1050" dirty="0"/>
          </a:p>
        </p:txBody>
      </p:sp>
      <p:sp>
        <p:nvSpPr>
          <p:cNvPr id="3" name="Text 1"/>
          <p:cNvSpPr txBox="1"/>
          <p:nvPr/>
        </p:nvSpPr>
        <p:spPr>
          <a:xfrm>
            <a:off x="548640" y="566928"/>
            <a:ext cx="11064240" cy="512064"/>
          </a:xfrm>
          <a:prstGeom prst="rect">
            <a:avLst/>
          </a:prstGeom>
          <a:noFill/>
          <a:ln/>
        </p:spPr>
        <p:txBody>
          <a:bodyPr wrap="square" lIns="0" tIns="0" rIns="0" bIns="0" rtlCol="0" anchor="t"/>
          <a:lstStyle/>
          <a:p>
            <a:pPr indent="0" marL="0">
              <a:buNone/>
            </a:pPr>
            <a:r>
              <a:rPr lang="en-US" sz="2900" b="1" dirty="0">
                <a:solidFill>
                  <a:srgbClr val="1A2430"/>
                </a:solidFill>
                <a:latin typeface="Arial" pitchFamily="34" charset="0"/>
                <a:ea typeface="Arial" pitchFamily="34" charset="-122"/>
                <a:cs typeface="Arial" pitchFamily="34" charset="-120"/>
              </a:rPr>
              <a:t>Fault injection, not waveform drawing</a:t>
            </a:r>
            <a:endParaRPr lang="en-US" sz="2900" dirty="0"/>
          </a:p>
        </p:txBody>
      </p:sp>
      <p:sp>
        <p:nvSpPr>
          <p:cNvPr id="4" name="Text 2"/>
          <p:cNvSpPr txBox="1"/>
          <p:nvPr/>
        </p:nvSpPr>
        <p:spPr>
          <a:xfrm>
            <a:off x="548640" y="6327648"/>
            <a:ext cx="5486400" cy="219456"/>
          </a:xfrm>
          <a:prstGeom prst="rect">
            <a:avLst/>
          </a:prstGeom>
          <a:noFill/>
          <a:ln/>
        </p:spPr>
        <p:txBody>
          <a:bodyPr wrap="square" lIns="0" tIns="0" rIns="0" bIns="0" rtlCol="0" anchor="ctr"/>
          <a:lstStyle/>
          <a:p>
            <a:pPr indent="0" marL="0">
              <a:buNone/>
            </a:pPr>
            <a:r>
              <a:rPr lang="en-US" sz="900" dirty="0">
                <a:solidFill>
                  <a:srgbClr val="6B7A86"/>
                </a:solidFill>
                <a:latin typeface="Arial" pitchFamily="34" charset="0"/>
                <a:ea typeface="Arial" pitchFamily="34" charset="-122"/>
                <a:cs typeface="Arial" pitchFamily="34" charset="-120"/>
              </a:rPr>
              <a:t>AURA-LIFT  ·  Team Immortal</a:t>
            </a:r>
            <a:endParaRPr lang="en-US" sz="900" dirty="0"/>
          </a:p>
        </p:txBody>
      </p:sp>
      <p:sp>
        <p:nvSpPr>
          <p:cNvPr id="5" name="Text 3"/>
          <p:cNvSpPr txBox="1"/>
          <p:nvPr/>
        </p:nvSpPr>
        <p:spPr>
          <a:xfrm>
            <a:off x="10972800" y="6327648"/>
            <a:ext cx="667512" cy="219456"/>
          </a:xfrm>
          <a:prstGeom prst="rect">
            <a:avLst/>
          </a:prstGeom>
          <a:noFill/>
          <a:ln/>
        </p:spPr>
        <p:txBody>
          <a:bodyPr wrap="square" lIns="0" tIns="0" rIns="0" bIns="0" rtlCol="0" anchor="ctr"/>
          <a:lstStyle/>
          <a:p>
            <a:pPr algn="r" indent="0" marL="0">
              <a:buNone/>
            </a:pPr>
            <a:r>
              <a:rPr lang="en-US" sz="900" dirty="0">
                <a:solidFill>
                  <a:srgbClr val="6B7A86"/>
                </a:solidFill>
                <a:latin typeface="Arial" pitchFamily="34" charset="0"/>
                <a:ea typeface="Arial" pitchFamily="34" charset="-122"/>
                <a:cs typeface="Arial" pitchFamily="34" charset="-120"/>
              </a:rPr>
              <a:t>6</a:t>
            </a:r>
            <a:endParaRPr lang="en-US" sz="900" dirty="0"/>
          </a:p>
        </p:txBody>
      </p:sp>
      <p:sp>
        <p:nvSpPr>
          <p:cNvPr id="6" name="Shape 4"/>
          <p:cNvSpPr/>
          <p:nvPr/>
        </p:nvSpPr>
        <p:spPr>
          <a:xfrm>
            <a:off x="10524744" y="658368"/>
            <a:ext cx="1115568" cy="219456"/>
          </a:xfrm>
          <a:prstGeom prst="roundRect">
            <a:avLst>
              <a:gd name="adj" fmla="val 50000"/>
            </a:avLst>
          </a:prstGeom>
          <a:solidFill>
            <a:srgbClr val="B4530A"/>
          </a:solidFill>
          <a:ln/>
        </p:spPr>
      </p:sp>
      <p:sp>
        <p:nvSpPr>
          <p:cNvPr id="7" name="Text 5"/>
          <p:cNvSpPr txBox="1"/>
          <p:nvPr/>
        </p:nvSpPr>
        <p:spPr>
          <a:xfrm>
            <a:off x="10524744" y="658368"/>
            <a:ext cx="1115568"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SIMULATED</a:t>
            </a:r>
            <a:endParaRPr lang="en-US" sz="900" dirty="0"/>
          </a:p>
        </p:txBody>
      </p:sp>
      <p:sp>
        <p:nvSpPr>
          <p:cNvPr id="8" name="Shape 6"/>
          <p:cNvSpPr/>
          <p:nvPr/>
        </p:nvSpPr>
        <p:spPr>
          <a:xfrm>
            <a:off x="548640" y="1188720"/>
            <a:ext cx="11091672" cy="749808"/>
          </a:xfrm>
          <a:prstGeom prst="roundRect">
            <a:avLst>
              <a:gd name="adj" fmla="val 8537"/>
            </a:avLst>
          </a:prstGeom>
          <a:solidFill>
            <a:srgbClr val="16202B"/>
          </a:solidFill>
          <a:ln w="12700">
            <a:solidFill>
              <a:srgbClr val="16202B"/>
            </a:solidFill>
            <a:prstDash val="solid"/>
          </a:ln>
          <a:effectLst>
            <a:outerShdw sx="100000" sy="100000" kx="0" ky="0" algn="bl" rotWithShape="0" blurRad="88900" dist="25400" dir="5400000">
              <a:srgbClr val="AEBDC7">
                <a:alpha val="22000"/>
              </a:srgbClr>
            </a:outerShdw>
          </a:effectLst>
        </p:spPr>
      </p:sp>
      <p:sp>
        <p:nvSpPr>
          <p:cNvPr id="9" name="Text 7"/>
          <p:cNvSpPr txBox="1"/>
          <p:nvPr/>
        </p:nvSpPr>
        <p:spPr>
          <a:xfrm>
            <a:off x="822960" y="1188720"/>
            <a:ext cx="10515600" cy="74980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We do not draw an abnormal waveform. We change the circuit condition and let the physics generate the signature.</a:t>
            </a:r>
            <a:endParaRPr lang="en-US" sz="1600" dirty="0"/>
          </a:p>
        </p:txBody>
      </p:sp>
      <p:sp>
        <p:nvSpPr>
          <p:cNvPr id="10" name="Shape 8"/>
          <p:cNvSpPr/>
          <p:nvPr/>
        </p:nvSpPr>
        <p:spPr>
          <a:xfrm>
            <a:off x="548640" y="2139696"/>
            <a:ext cx="3575304" cy="2084832"/>
          </a:xfrm>
          <a:prstGeom prst="roundRect">
            <a:avLst>
              <a:gd name="adj" fmla="val 3070"/>
            </a:avLst>
          </a:prstGeom>
          <a:solidFill>
            <a:srgbClr val="FBEEE2"/>
          </a:solidFill>
          <a:ln w="12700">
            <a:solidFill>
              <a:srgbClr val="EED6BE"/>
            </a:solidFill>
            <a:prstDash val="solid"/>
          </a:ln>
          <a:effectLst>
            <a:outerShdw sx="100000" sy="100000" kx="0" ky="0" algn="bl" rotWithShape="0" blurRad="88900" dist="25400" dir="5400000">
              <a:srgbClr val="AEBDC7">
                <a:alpha val="22000"/>
              </a:srgbClr>
            </a:outerShdw>
          </a:effectLst>
        </p:spPr>
      </p:sp>
      <p:sp>
        <p:nvSpPr>
          <p:cNvPr id="11" name="Shape 9"/>
          <p:cNvSpPr/>
          <p:nvPr/>
        </p:nvSpPr>
        <p:spPr>
          <a:xfrm>
            <a:off x="768096" y="2340864"/>
            <a:ext cx="310896" cy="310896"/>
          </a:xfrm>
          <a:prstGeom prst="ellipse">
            <a:avLst/>
          </a:prstGeom>
          <a:solidFill>
            <a:srgbClr val="B4530A"/>
          </a:solidFill>
          <a:ln/>
        </p:spPr>
      </p:sp>
      <p:sp>
        <p:nvSpPr>
          <p:cNvPr id="12" name="Text 10"/>
          <p:cNvSpPr txBox="1"/>
          <p:nvPr/>
        </p:nvSpPr>
        <p:spPr>
          <a:xfrm>
            <a:off x="768096" y="23408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13" name="Text 11"/>
          <p:cNvSpPr txBox="1"/>
          <p:nvPr/>
        </p:nvSpPr>
        <p:spPr>
          <a:xfrm>
            <a:off x="1188720" y="2359152"/>
            <a:ext cx="2743200" cy="274320"/>
          </a:xfrm>
          <a:prstGeom prst="rect">
            <a:avLst/>
          </a:prstGeom>
          <a:noFill/>
          <a:ln/>
        </p:spPr>
        <p:txBody>
          <a:bodyPr wrap="square" lIns="0" tIns="0" rIns="0" bIns="0" rtlCol="0" anchor="t"/>
          <a:lstStyle/>
          <a:p>
            <a:pPr indent="0" marL="0">
              <a:buNone/>
            </a:pPr>
            <a:r>
              <a:rPr lang="en-US" sz="1250" b="1" dirty="0">
                <a:solidFill>
                  <a:srgbClr val="1A2430"/>
                </a:solidFill>
                <a:latin typeface="Arial" pitchFamily="34" charset="0"/>
                <a:ea typeface="Arial" pitchFamily="34" charset="-122"/>
                <a:cs typeface="Arial" pitchFamily="34" charset="-120"/>
              </a:rPr>
              <a:t>Phase loss</a:t>
            </a:r>
            <a:endParaRPr lang="en-US" sz="1250" dirty="0"/>
          </a:p>
        </p:txBody>
      </p:sp>
      <p:sp>
        <p:nvSpPr>
          <p:cNvPr id="14" name="Text 12"/>
          <p:cNvSpPr txBox="1"/>
          <p:nvPr/>
        </p:nvSpPr>
        <p:spPr>
          <a:xfrm>
            <a:off x="768096" y="2724912"/>
            <a:ext cx="3154680" cy="256032"/>
          </a:xfrm>
          <a:prstGeom prst="rect">
            <a:avLst/>
          </a:prstGeom>
          <a:noFill/>
          <a:ln/>
        </p:spPr>
        <p:txBody>
          <a:bodyPr wrap="square" lIns="0" tIns="0" rIns="0" bIns="0" rtlCol="0" anchor="t"/>
          <a:lstStyle/>
          <a:p>
            <a:pPr indent="0" marL="0">
              <a:lnSpc>
                <a:spcPts val="1360"/>
              </a:lnSpc>
              <a:buNone/>
            </a:pPr>
            <a:r>
              <a:rPr lang="en-US" sz="1000" dirty="0">
                <a:solidFill>
                  <a:srgbClr val="B4530A"/>
                </a:solidFill>
                <a:latin typeface="Arial" pitchFamily="34" charset="0"/>
                <a:ea typeface="Arial" pitchFamily="34" charset="-122"/>
                <a:cs typeface="Arial" pitchFamily="34" charset="-120"/>
              </a:rPr>
              <a:t>an edit to the conduction set</a:t>
            </a:r>
            <a:endParaRPr lang="en-US" sz="1000" dirty="0"/>
          </a:p>
        </p:txBody>
      </p:sp>
      <p:sp>
        <p:nvSpPr>
          <p:cNvPr id="15" name="Text 13"/>
          <p:cNvSpPr txBox="1"/>
          <p:nvPr/>
        </p:nvSpPr>
        <p:spPr>
          <a:xfrm>
            <a:off x="768096" y="3017520"/>
            <a:ext cx="3154680" cy="1133856"/>
          </a:xfrm>
          <a:prstGeom prst="rect">
            <a:avLst/>
          </a:prstGeom>
          <a:noFill/>
          <a:ln/>
        </p:spPr>
        <p:txBody>
          <a:bodyPr wrap="square" lIns="0" tIns="0" rIns="0" bIns="0" rtlCol="0" anchor="t"/>
          <a:lstStyle/>
          <a:p>
            <a:pPr indent="0" marL="0">
              <a:lnSpc>
                <a:spcPts val="1360"/>
              </a:lnSpc>
              <a:buNone/>
            </a:pPr>
            <a:r>
              <a:rPr lang="en-US" sz="1000" dirty="0">
                <a:solidFill>
                  <a:srgbClr val="1A2430"/>
                </a:solidFill>
                <a:latin typeface="Arial" pitchFamily="34" charset="0"/>
                <a:ea typeface="Arial" pitchFamily="34" charset="-122"/>
                <a:cs typeface="Arial" pitchFamily="34" charset="-120"/>
              </a:rPr>
              <a:t>Remove one supply phase from the set the rectifier may select. The six-pulse ripple becomes two-pulse on its own; nothing draws that shape.</a:t>
            </a:r>
            <a:endParaRPr lang="en-US" sz="1000" dirty="0"/>
          </a:p>
        </p:txBody>
      </p:sp>
      <p:sp>
        <p:nvSpPr>
          <p:cNvPr id="16" name="Shape 14"/>
          <p:cNvSpPr/>
          <p:nvPr/>
        </p:nvSpPr>
        <p:spPr>
          <a:xfrm>
            <a:off x="4306824" y="2139696"/>
            <a:ext cx="3575304" cy="2084832"/>
          </a:xfrm>
          <a:prstGeom prst="roundRect">
            <a:avLst>
              <a:gd name="adj" fmla="val 3070"/>
            </a:avLst>
          </a:prstGeom>
          <a:solidFill>
            <a:srgbClr val="FBEEE2"/>
          </a:solidFill>
          <a:ln w="12700">
            <a:solidFill>
              <a:srgbClr val="EED6BE"/>
            </a:solidFill>
            <a:prstDash val="solid"/>
          </a:ln>
          <a:effectLst>
            <a:outerShdw sx="100000" sy="100000" kx="0" ky="0" algn="bl" rotWithShape="0" blurRad="88900" dist="25400" dir="5400000">
              <a:srgbClr val="AEBDC7">
                <a:alpha val="22000"/>
              </a:srgbClr>
            </a:outerShdw>
          </a:effectLst>
        </p:spPr>
      </p:sp>
      <p:sp>
        <p:nvSpPr>
          <p:cNvPr id="17" name="Shape 15"/>
          <p:cNvSpPr/>
          <p:nvPr/>
        </p:nvSpPr>
        <p:spPr>
          <a:xfrm>
            <a:off x="4526280" y="2340864"/>
            <a:ext cx="310896" cy="310896"/>
          </a:xfrm>
          <a:prstGeom prst="ellipse">
            <a:avLst/>
          </a:prstGeom>
          <a:solidFill>
            <a:srgbClr val="B4530A"/>
          </a:solidFill>
          <a:ln/>
        </p:spPr>
      </p:sp>
      <p:sp>
        <p:nvSpPr>
          <p:cNvPr id="18" name="Text 16"/>
          <p:cNvSpPr txBox="1"/>
          <p:nvPr/>
        </p:nvSpPr>
        <p:spPr>
          <a:xfrm>
            <a:off x="4526280" y="23408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9" name="Text 17"/>
          <p:cNvSpPr txBox="1"/>
          <p:nvPr/>
        </p:nvSpPr>
        <p:spPr>
          <a:xfrm>
            <a:off x="4946904" y="2359152"/>
            <a:ext cx="2743200" cy="274320"/>
          </a:xfrm>
          <a:prstGeom prst="rect">
            <a:avLst/>
          </a:prstGeom>
          <a:noFill/>
          <a:ln/>
        </p:spPr>
        <p:txBody>
          <a:bodyPr wrap="square" lIns="0" tIns="0" rIns="0" bIns="0" rtlCol="0" anchor="t"/>
          <a:lstStyle/>
          <a:p>
            <a:pPr indent="0" marL="0">
              <a:buNone/>
            </a:pPr>
            <a:r>
              <a:rPr lang="en-US" sz="1250" b="1" dirty="0">
                <a:solidFill>
                  <a:srgbClr val="1A2430"/>
                </a:solidFill>
                <a:latin typeface="Arial" pitchFamily="34" charset="0"/>
                <a:ea typeface="Arial" pitchFamily="34" charset="-122"/>
                <a:cs typeface="Arial" pitchFamily="34" charset="-120"/>
              </a:rPr>
              <a:t>Switch fault</a:t>
            </a:r>
            <a:endParaRPr lang="en-US" sz="1250" dirty="0"/>
          </a:p>
        </p:txBody>
      </p:sp>
      <p:sp>
        <p:nvSpPr>
          <p:cNvPr id="20" name="Text 18"/>
          <p:cNvSpPr txBox="1"/>
          <p:nvPr/>
        </p:nvSpPr>
        <p:spPr>
          <a:xfrm>
            <a:off x="4526280" y="2724912"/>
            <a:ext cx="3154680" cy="256032"/>
          </a:xfrm>
          <a:prstGeom prst="rect">
            <a:avLst/>
          </a:prstGeom>
          <a:noFill/>
          <a:ln/>
        </p:spPr>
        <p:txBody>
          <a:bodyPr wrap="square" lIns="0" tIns="0" rIns="0" bIns="0" rtlCol="0" anchor="t"/>
          <a:lstStyle/>
          <a:p>
            <a:pPr indent="0" marL="0">
              <a:lnSpc>
                <a:spcPts val="1360"/>
              </a:lnSpc>
              <a:buNone/>
            </a:pPr>
            <a:r>
              <a:rPr lang="en-US" sz="1000" dirty="0">
                <a:solidFill>
                  <a:srgbClr val="B4530A"/>
                </a:solidFill>
                <a:latin typeface="Arial" pitchFamily="34" charset="0"/>
                <a:ea typeface="Arial" pitchFamily="34" charset="-122"/>
                <a:cs typeface="Arial" pitchFamily="34" charset="-120"/>
              </a:rPr>
              <a:t>an edit to the conduction table</a:t>
            </a:r>
            <a:endParaRPr lang="en-US" sz="1000" dirty="0"/>
          </a:p>
        </p:txBody>
      </p:sp>
      <p:sp>
        <p:nvSpPr>
          <p:cNvPr id="21" name="Text 19"/>
          <p:cNvSpPr txBox="1"/>
          <p:nvPr/>
        </p:nvSpPr>
        <p:spPr>
          <a:xfrm>
            <a:off x="4526280" y="3017520"/>
            <a:ext cx="3154680" cy="1133856"/>
          </a:xfrm>
          <a:prstGeom prst="rect">
            <a:avLst/>
          </a:prstGeom>
          <a:noFill/>
          <a:ln/>
        </p:spPr>
        <p:txBody>
          <a:bodyPr wrap="square" lIns="0" tIns="0" rIns="0" bIns="0" rtlCol="0" anchor="t"/>
          <a:lstStyle/>
          <a:p>
            <a:pPr indent="0" marL="0">
              <a:lnSpc>
                <a:spcPts val="1360"/>
              </a:lnSpc>
              <a:buNone/>
            </a:pPr>
            <a:r>
              <a:rPr lang="en-US" sz="1000" dirty="0">
                <a:solidFill>
                  <a:srgbClr val="1A2430"/>
                </a:solidFill>
                <a:latin typeface="Arial" pitchFamily="34" charset="0"/>
                <a:ea typeface="Arial" pitchFamily="34" charset="-122"/>
                <a:cs typeface="Arial" pitchFamily="34" charset="-120"/>
              </a:rPr>
              <a:t>A device that has lost controlled conduction drops out of the table. Positive current then freewheels through the diode and decays, while negative current is untouched.</a:t>
            </a:r>
            <a:endParaRPr lang="en-US" sz="1000" dirty="0"/>
          </a:p>
        </p:txBody>
      </p:sp>
      <p:sp>
        <p:nvSpPr>
          <p:cNvPr id="22" name="Shape 20"/>
          <p:cNvSpPr/>
          <p:nvPr/>
        </p:nvSpPr>
        <p:spPr>
          <a:xfrm>
            <a:off x="8065008" y="2139696"/>
            <a:ext cx="3575304" cy="2084832"/>
          </a:xfrm>
          <a:prstGeom prst="roundRect">
            <a:avLst>
              <a:gd name="adj" fmla="val 3070"/>
            </a:avLst>
          </a:prstGeom>
          <a:solidFill>
            <a:srgbClr val="FBEEE2"/>
          </a:solidFill>
          <a:ln w="12700">
            <a:solidFill>
              <a:srgbClr val="EED6BE"/>
            </a:solidFill>
            <a:prstDash val="solid"/>
          </a:ln>
          <a:effectLst>
            <a:outerShdw sx="100000" sy="100000" kx="0" ky="0" algn="bl" rotWithShape="0" blurRad="88900" dist="25400" dir="5400000">
              <a:srgbClr val="AEBDC7">
                <a:alpha val="22000"/>
              </a:srgbClr>
            </a:outerShdw>
          </a:effectLst>
        </p:spPr>
      </p:sp>
      <p:sp>
        <p:nvSpPr>
          <p:cNvPr id="23" name="Shape 21"/>
          <p:cNvSpPr/>
          <p:nvPr/>
        </p:nvSpPr>
        <p:spPr>
          <a:xfrm>
            <a:off x="8284464" y="2340864"/>
            <a:ext cx="310896" cy="310896"/>
          </a:xfrm>
          <a:prstGeom prst="ellipse">
            <a:avLst/>
          </a:prstGeom>
          <a:solidFill>
            <a:srgbClr val="B4530A"/>
          </a:solidFill>
          <a:ln/>
        </p:spPr>
      </p:sp>
      <p:sp>
        <p:nvSpPr>
          <p:cNvPr id="24" name="Text 22"/>
          <p:cNvSpPr txBox="1"/>
          <p:nvPr/>
        </p:nvSpPr>
        <p:spPr>
          <a:xfrm>
            <a:off x="8284464" y="23408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25" name="Text 23"/>
          <p:cNvSpPr txBox="1"/>
          <p:nvPr/>
        </p:nvSpPr>
        <p:spPr>
          <a:xfrm>
            <a:off x="8705088" y="2359152"/>
            <a:ext cx="2743200" cy="274320"/>
          </a:xfrm>
          <a:prstGeom prst="rect">
            <a:avLst/>
          </a:prstGeom>
          <a:noFill/>
          <a:ln/>
        </p:spPr>
        <p:txBody>
          <a:bodyPr wrap="square" lIns="0" tIns="0" rIns="0" bIns="0" rtlCol="0" anchor="t"/>
          <a:lstStyle/>
          <a:p>
            <a:pPr indent="0" marL="0">
              <a:buNone/>
            </a:pPr>
            <a:r>
              <a:rPr lang="en-US" sz="1250" b="1" dirty="0">
                <a:solidFill>
                  <a:srgbClr val="1A2430"/>
                </a:solidFill>
                <a:latin typeface="Arial" pitchFamily="34" charset="0"/>
                <a:ea typeface="Arial" pitchFamily="34" charset="-122"/>
                <a:cs typeface="Arial" pitchFamily="34" charset="-120"/>
              </a:rPr>
              <a:t>Bus overvoltage</a:t>
            </a:r>
            <a:endParaRPr lang="en-US" sz="1250" dirty="0"/>
          </a:p>
        </p:txBody>
      </p:sp>
      <p:sp>
        <p:nvSpPr>
          <p:cNvPr id="26" name="Text 24"/>
          <p:cNvSpPr txBox="1"/>
          <p:nvPr/>
        </p:nvSpPr>
        <p:spPr>
          <a:xfrm>
            <a:off x="8284464" y="2724912"/>
            <a:ext cx="3154680" cy="256032"/>
          </a:xfrm>
          <a:prstGeom prst="rect">
            <a:avLst/>
          </a:prstGeom>
          <a:noFill/>
          <a:ln/>
        </p:spPr>
        <p:txBody>
          <a:bodyPr wrap="square" lIns="0" tIns="0" rIns="0" bIns="0" rtlCol="0" anchor="t"/>
          <a:lstStyle/>
          <a:p>
            <a:pPr indent="0" marL="0">
              <a:lnSpc>
                <a:spcPts val="1360"/>
              </a:lnSpc>
              <a:buNone/>
            </a:pPr>
            <a:r>
              <a:rPr lang="en-US" sz="1000" dirty="0">
                <a:solidFill>
                  <a:srgbClr val="B4530A"/>
                </a:solidFill>
                <a:latin typeface="Arial" pitchFamily="34" charset="0"/>
                <a:ea typeface="Arial" pitchFamily="34" charset="-122"/>
                <a:cs typeface="Arial" pitchFamily="34" charset="-120"/>
              </a:rPr>
              <a:t>one clamp on the bridge current</a:t>
            </a:r>
            <a:endParaRPr lang="en-US" sz="1000" dirty="0"/>
          </a:p>
        </p:txBody>
      </p:sp>
      <p:sp>
        <p:nvSpPr>
          <p:cNvPr id="27" name="Text 25"/>
          <p:cNvSpPr txBox="1"/>
          <p:nvPr/>
        </p:nvSpPr>
        <p:spPr>
          <a:xfrm>
            <a:off x="8284464" y="3017520"/>
            <a:ext cx="3154680" cy="1133856"/>
          </a:xfrm>
          <a:prstGeom prst="rect">
            <a:avLst/>
          </a:prstGeom>
          <a:noFill/>
          <a:ln/>
        </p:spPr>
        <p:txBody>
          <a:bodyPr wrap="square" lIns="0" tIns="0" rIns="0" bIns="0" rtlCol="0" anchor="t"/>
          <a:lstStyle/>
          <a:p>
            <a:pPr indent="0" marL="0">
              <a:lnSpc>
                <a:spcPts val="1360"/>
              </a:lnSpc>
              <a:buNone/>
            </a:pPr>
            <a:r>
              <a:rPr lang="en-US" sz="1000" dirty="0">
                <a:solidFill>
                  <a:srgbClr val="1A2430"/>
                </a:solidFill>
                <a:latin typeface="Arial" pitchFamily="34" charset="0"/>
                <a:ea typeface="Arial" pitchFamily="34" charset="-122"/>
                <a:cs typeface="Arial" pitchFamily="34" charset="-120"/>
              </a:rPr>
              <a:t>Nothing switches the rectifier off. The machine regenerates, the capacitor charges, the bus climbs past the rectified peak and the diodes reverse-bias themselves.</a:t>
            </a:r>
            <a:endParaRPr lang="en-US" sz="1000" dirty="0"/>
          </a:p>
        </p:txBody>
      </p:sp>
      <p:sp>
        <p:nvSpPr>
          <p:cNvPr id="28" name="Shape 26"/>
          <p:cNvSpPr/>
          <p:nvPr/>
        </p:nvSpPr>
        <p:spPr>
          <a:xfrm>
            <a:off x="548640" y="4498848"/>
            <a:ext cx="5486400" cy="1719072"/>
          </a:xfrm>
          <a:prstGeom prst="roundRect">
            <a:avLst>
              <a:gd name="adj" fmla="val 3723"/>
            </a:avLst>
          </a:prstGeom>
          <a:solidFill>
            <a:srgbClr val="F2F5F7"/>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29" name="Text 27"/>
          <p:cNvSpPr txBox="1"/>
          <p:nvPr/>
        </p:nvSpPr>
        <p:spPr>
          <a:xfrm>
            <a:off x="804672" y="4663440"/>
            <a:ext cx="5029200" cy="237744"/>
          </a:xfrm>
          <a:prstGeom prst="rect">
            <a:avLst/>
          </a:prstGeom>
          <a:noFill/>
          <a:ln/>
        </p:spPr>
        <p:txBody>
          <a:bodyPr wrap="square" lIns="0" tIns="0" rIns="0" bIns="0" rtlCol="0" anchor="t"/>
          <a:lstStyle/>
          <a:p>
            <a:pPr indent="0" marL="0">
              <a:buNone/>
            </a:pPr>
            <a:r>
              <a:rPr lang="en-US" sz="1300" b="1" spc="50" kern="0" dirty="0">
                <a:solidFill>
                  <a:srgbClr val="1A2430"/>
                </a:solidFill>
                <a:latin typeface="Arial" pitchFamily="34" charset="0"/>
                <a:ea typeface="Arial" pitchFamily="34" charset="-122"/>
                <a:cs typeface="Arial" pitchFamily="34" charset="-120"/>
              </a:rPr>
              <a:t>WHAT THE MODEL SOLVES</a:t>
            </a:r>
            <a:endParaRPr lang="en-US" sz="1300" dirty="0"/>
          </a:p>
        </p:txBody>
      </p:sp>
      <p:sp>
        <p:nvSpPr>
          <p:cNvPr id="30" name="Text 28"/>
          <p:cNvSpPr txBox="1"/>
          <p:nvPr/>
        </p:nvSpPr>
        <p:spPr>
          <a:xfrm>
            <a:off x="804672" y="4974336"/>
            <a:ext cx="4983480" cy="1133856"/>
          </a:xfrm>
          <a:prstGeom prst="rect">
            <a:avLst/>
          </a:prstGeom>
          <a:noFill/>
          <a:ln/>
        </p:spPr>
        <p:txBody>
          <a:bodyPr wrap="square" lIns="0" tIns="0" rIns="0" bIns="0" rtlCol="0" anchor="t"/>
          <a:lstStyle/>
          <a:p>
            <a:pPr marL="177800" indent="-177800">
              <a:lnSpc>
                <a:spcPts val="1380"/>
              </a:lnSpc>
              <a:spcAft>
                <a:spcPts val="600"/>
              </a:spcAft>
              <a:buSzPct val="100000"/>
              <a:buChar char="•"/>
            </a:pPr>
            <a:r>
              <a:rPr lang="en-US" sz="1000" dirty="0">
                <a:solidFill>
                  <a:srgbClr val="1A2430"/>
                </a:solidFill>
                <a:latin typeface="Arial" pitchFamily="34" charset="0"/>
                <a:ea typeface="Arial" pitchFamily="34" charset="-122"/>
                <a:cs typeface="Arial" pitchFamily="34" charset="-120"/>
              </a:rPr>
              <a:t>The DC bus is a state variable, not a fixed number</a:t>
            </a:r>
            <a:endParaRPr lang="en-US" sz="1000" dirty="0"/>
          </a:p>
          <a:p>
            <a:pPr marL="177800" indent="-177800">
              <a:lnSpc>
                <a:spcPts val="1380"/>
              </a:lnSpc>
              <a:spcAft>
                <a:spcPts val="600"/>
              </a:spcAft>
              <a:buSzPct val="100000"/>
              <a:buChar char="•"/>
            </a:pPr>
            <a:r>
              <a:rPr lang="en-US" sz="1000" dirty="0">
                <a:solidFill>
                  <a:srgbClr val="1A2430"/>
                </a:solidFill>
                <a:latin typeface="Arial" pitchFamily="34" charset="0"/>
                <a:ea typeface="Arial" pitchFamily="34" charset="-122"/>
                <a:cs typeface="Arial" pitchFamily="34" charset="-120"/>
              </a:rPr>
              <a:t>A salient PM machine solved in the rotor frame under current control</a:t>
            </a:r>
            <a:endParaRPr lang="en-US" sz="1000" dirty="0"/>
          </a:p>
          <a:p>
            <a:pPr marL="177800" indent="-177800">
              <a:lnSpc>
                <a:spcPts val="1380"/>
              </a:lnSpc>
              <a:spcAft>
                <a:spcPts val="600"/>
              </a:spcAft>
              <a:buSzPct val="100000"/>
              <a:buChar char="•"/>
            </a:pPr>
            <a:r>
              <a:rPr lang="en-US" sz="1000" dirty="0">
                <a:solidFill>
                  <a:srgbClr val="1A2430"/>
                </a:solidFill>
                <a:latin typeface="Arial" pitchFamily="34" charset="0"/>
                <a:ea typeface="Arial" pitchFamily="34" charset="-122"/>
                <a:cs typeface="Arial" pitchFamily="34" charset="-120"/>
              </a:rPr>
              <a:t>Fixed-step integration with PWM edges resolved below one time step</a:t>
            </a:r>
            <a:endParaRPr lang="en-US" sz="1000" dirty="0"/>
          </a:p>
        </p:txBody>
      </p:sp>
      <p:sp>
        <p:nvSpPr>
          <p:cNvPr id="31" name="Shape 29"/>
          <p:cNvSpPr/>
          <p:nvPr/>
        </p:nvSpPr>
        <p:spPr>
          <a:xfrm>
            <a:off x="6245352" y="4498848"/>
            <a:ext cx="5394960" cy="1719072"/>
          </a:xfrm>
          <a:prstGeom prst="roundRect">
            <a:avLst>
              <a:gd name="adj" fmla="val 3723"/>
            </a:avLst>
          </a:prstGeom>
          <a:solidFill>
            <a:srgbClr val="E2F1F2"/>
          </a:solidFill>
          <a:ln w="12700">
            <a:solidFill>
              <a:srgbClr val="B9DEE1"/>
            </a:solidFill>
            <a:prstDash val="solid"/>
          </a:ln>
          <a:effectLst>
            <a:outerShdw sx="100000" sy="100000" kx="0" ky="0" algn="bl" rotWithShape="0" blurRad="88900" dist="25400" dir="5400000">
              <a:srgbClr val="AEBDC7">
                <a:alpha val="22000"/>
              </a:srgbClr>
            </a:outerShdw>
          </a:effectLst>
        </p:spPr>
      </p:sp>
      <p:sp>
        <p:nvSpPr>
          <p:cNvPr id="32" name="Text 30"/>
          <p:cNvSpPr txBox="1"/>
          <p:nvPr/>
        </p:nvSpPr>
        <p:spPr>
          <a:xfrm>
            <a:off x="6501384" y="4663440"/>
            <a:ext cx="4937760" cy="237744"/>
          </a:xfrm>
          <a:prstGeom prst="rect">
            <a:avLst/>
          </a:prstGeom>
          <a:noFill/>
          <a:ln/>
        </p:spPr>
        <p:txBody>
          <a:bodyPr wrap="square" lIns="0" tIns="0" rIns="0" bIns="0" rtlCol="0" anchor="t"/>
          <a:lstStyle/>
          <a:p>
            <a:pPr indent="0" marL="0">
              <a:buNone/>
            </a:pPr>
            <a:r>
              <a:rPr lang="en-US" sz="1300" b="1" spc="50" kern="0" dirty="0">
                <a:solidFill>
                  <a:srgbClr val="0E7C86"/>
                </a:solidFill>
                <a:latin typeface="Arial" pitchFamily="34" charset="0"/>
                <a:ea typeface="Arial" pitchFamily="34" charset="-122"/>
                <a:cs typeface="Arial" pitchFamily="34" charset="-120"/>
              </a:rPr>
              <a:t>WHERE THE NUMBERS COME FROM</a:t>
            </a:r>
            <a:endParaRPr lang="en-US" sz="1300" dirty="0"/>
          </a:p>
        </p:txBody>
      </p:sp>
      <p:sp>
        <p:nvSpPr>
          <p:cNvPr id="33" name="Text 31"/>
          <p:cNvSpPr txBox="1"/>
          <p:nvPr/>
        </p:nvSpPr>
        <p:spPr>
          <a:xfrm>
            <a:off x="6501384" y="4974336"/>
            <a:ext cx="4892040" cy="1133856"/>
          </a:xfrm>
          <a:prstGeom prst="rect">
            <a:avLst/>
          </a:prstGeom>
          <a:noFill/>
          <a:ln/>
        </p:spPr>
        <p:txBody>
          <a:bodyPr wrap="square" lIns="0" tIns="0" rIns="0" bIns="0" rtlCol="0" anchor="t"/>
          <a:lstStyle/>
          <a:p>
            <a:pPr marL="177800" indent="-177800">
              <a:lnSpc>
                <a:spcPts val="1380"/>
              </a:lnSpc>
              <a:spcAft>
                <a:spcPts val="600"/>
              </a:spcAft>
              <a:buSzPct val="100000"/>
              <a:buChar char="•"/>
            </a:pPr>
            <a:r>
              <a:rPr lang="en-US" sz="1000" dirty="0">
                <a:solidFill>
                  <a:srgbClr val="1A2430"/>
                </a:solidFill>
                <a:latin typeface="Arial" pitchFamily="34" charset="0"/>
                <a:ea typeface="Arial" pitchFamily="34" charset="-122"/>
                <a:cs typeface="Arial" pitchFamily="34" charset="-120"/>
              </a:rPr>
              <a:t>Machine parameters from a published open drive-simulator dataset</a:t>
            </a:r>
            <a:endParaRPr lang="en-US" sz="1000" dirty="0"/>
          </a:p>
          <a:p>
            <a:pPr marL="177800" indent="-177800">
              <a:lnSpc>
                <a:spcPts val="1380"/>
              </a:lnSpc>
              <a:spcAft>
                <a:spcPts val="600"/>
              </a:spcAft>
              <a:buSzPct val="100000"/>
              <a:buChar char="•"/>
            </a:pPr>
            <a:r>
              <a:rPr lang="en-US" sz="1000" dirty="0">
                <a:solidFill>
                  <a:srgbClr val="1A2430"/>
                </a:solidFill>
                <a:latin typeface="Arial" pitchFamily="34" charset="0"/>
                <a:ea typeface="Arial" pitchFamily="34" charset="-122"/>
                <a:cs typeface="Arial" pitchFamily="34" charset="-120"/>
              </a:rPr>
              <a:t>Trip and protection levels quoted from manufacturer drive manuals</a:t>
            </a:r>
            <a:endParaRPr lang="en-US" sz="1000" dirty="0"/>
          </a:p>
          <a:p>
            <a:pPr marL="177800" indent="-177800">
              <a:lnSpc>
                <a:spcPts val="1380"/>
              </a:lnSpc>
              <a:spcAft>
                <a:spcPts val="600"/>
              </a:spcAft>
              <a:buSzPct val="100000"/>
              <a:buChar char="•"/>
            </a:pPr>
            <a:r>
              <a:rPr lang="en-US" sz="1000" dirty="0">
                <a:solidFill>
                  <a:srgbClr val="1A2430"/>
                </a:solidFill>
                <a:latin typeface="Arial" pitchFamily="34" charset="0"/>
                <a:ea typeface="Arial" pitchFamily="34" charset="-122"/>
                <a:cs typeface="Arial" pitchFamily="34" charset="-120"/>
              </a:rPr>
              <a:t>Any threshold without a published source is labelled as ours, in the app</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19456"/>
          </a:xfrm>
          <a:prstGeom prst="rect">
            <a:avLst/>
          </a:prstGeom>
          <a:noFill/>
          <a:ln/>
        </p:spPr>
        <p:txBody>
          <a:bodyPr wrap="square" lIns="0" tIns="0" rIns="0" bIns="0" rtlCol="0" anchor="t"/>
          <a:lstStyle/>
          <a:p>
            <a:pPr indent="0" marL="0">
              <a:buNone/>
            </a:pPr>
            <a:r>
              <a:rPr lang="en-US" sz="1050" b="1" spc="140" kern="0" dirty="0">
                <a:solidFill>
                  <a:srgbClr val="0E7C86"/>
                </a:solidFill>
                <a:latin typeface="Arial" pitchFamily="34" charset="0"/>
                <a:ea typeface="Arial" pitchFamily="34" charset="-122"/>
                <a:cs typeface="Arial" pitchFamily="34" charset="-120"/>
              </a:rPr>
              <a:t>WHAT WE DEMONSTRATED</a:t>
            </a:r>
            <a:endParaRPr lang="en-US" sz="1050" dirty="0"/>
          </a:p>
        </p:txBody>
      </p:sp>
      <p:sp>
        <p:nvSpPr>
          <p:cNvPr id="3" name="Text 1"/>
          <p:cNvSpPr txBox="1"/>
          <p:nvPr/>
        </p:nvSpPr>
        <p:spPr>
          <a:xfrm>
            <a:off x="548640" y="566928"/>
            <a:ext cx="11064240" cy="512064"/>
          </a:xfrm>
          <a:prstGeom prst="rect">
            <a:avLst/>
          </a:prstGeom>
          <a:noFill/>
          <a:ln/>
        </p:spPr>
        <p:txBody>
          <a:bodyPr wrap="square" lIns="0" tIns="0" rIns="0" bIns="0" rtlCol="0" anchor="t"/>
          <a:lstStyle/>
          <a:p>
            <a:pPr indent="0" marL="0">
              <a:buNone/>
            </a:pPr>
            <a:r>
              <a:rPr lang="en-US" sz="2900" b="1" dirty="0">
                <a:solidFill>
                  <a:srgbClr val="1A2430"/>
                </a:solidFill>
                <a:latin typeface="Arial" pitchFamily="34" charset="0"/>
                <a:ea typeface="Arial" pitchFamily="34" charset="-122"/>
                <a:cs typeface="Arial" pitchFamily="34" charset="-120"/>
              </a:rPr>
              <a:t>Six faults on one drive</a:t>
            </a:r>
            <a:endParaRPr lang="en-US" sz="2900" dirty="0"/>
          </a:p>
        </p:txBody>
      </p:sp>
      <p:sp>
        <p:nvSpPr>
          <p:cNvPr id="4" name="Text 2"/>
          <p:cNvSpPr txBox="1"/>
          <p:nvPr/>
        </p:nvSpPr>
        <p:spPr>
          <a:xfrm>
            <a:off x="548640" y="6327648"/>
            <a:ext cx="5486400" cy="219456"/>
          </a:xfrm>
          <a:prstGeom prst="rect">
            <a:avLst/>
          </a:prstGeom>
          <a:noFill/>
          <a:ln/>
        </p:spPr>
        <p:txBody>
          <a:bodyPr wrap="square" lIns="0" tIns="0" rIns="0" bIns="0" rtlCol="0" anchor="ctr"/>
          <a:lstStyle/>
          <a:p>
            <a:pPr indent="0" marL="0">
              <a:buNone/>
            </a:pPr>
            <a:r>
              <a:rPr lang="en-US" sz="900" dirty="0">
                <a:solidFill>
                  <a:srgbClr val="6B7A86"/>
                </a:solidFill>
                <a:latin typeface="Arial" pitchFamily="34" charset="0"/>
                <a:ea typeface="Arial" pitchFamily="34" charset="-122"/>
                <a:cs typeface="Arial" pitchFamily="34" charset="-120"/>
              </a:rPr>
              <a:t>AURA-LIFT  ·  Team Immortal</a:t>
            </a:r>
            <a:endParaRPr lang="en-US" sz="900" dirty="0"/>
          </a:p>
        </p:txBody>
      </p:sp>
      <p:sp>
        <p:nvSpPr>
          <p:cNvPr id="5" name="Text 3"/>
          <p:cNvSpPr txBox="1"/>
          <p:nvPr/>
        </p:nvSpPr>
        <p:spPr>
          <a:xfrm>
            <a:off x="10972800" y="6327648"/>
            <a:ext cx="667512" cy="219456"/>
          </a:xfrm>
          <a:prstGeom prst="rect">
            <a:avLst/>
          </a:prstGeom>
          <a:noFill/>
          <a:ln/>
        </p:spPr>
        <p:txBody>
          <a:bodyPr wrap="square" lIns="0" tIns="0" rIns="0" bIns="0" rtlCol="0" anchor="ctr"/>
          <a:lstStyle/>
          <a:p>
            <a:pPr algn="r" indent="0" marL="0">
              <a:buNone/>
            </a:pPr>
            <a:r>
              <a:rPr lang="en-US" sz="900" dirty="0">
                <a:solidFill>
                  <a:srgbClr val="6B7A86"/>
                </a:solidFill>
                <a:latin typeface="Arial" pitchFamily="34" charset="0"/>
                <a:ea typeface="Arial" pitchFamily="34" charset="-122"/>
                <a:cs typeface="Arial" pitchFamily="34" charset="-120"/>
              </a:rPr>
              <a:t>7</a:t>
            </a:r>
            <a:endParaRPr lang="en-US" sz="900" dirty="0"/>
          </a:p>
        </p:txBody>
      </p:sp>
      <p:sp>
        <p:nvSpPr>
          <p:cNvPr id="6" name="Shape 4"/>
          <p:cNvSpPr/>
          <p:nvPr/>
        </p:nvSpPr>
        <p:spPr>
          <a:xfrm>
            <a:off x="10524744" y="658368"/>
            <a:ext cx="1115568" cy="219456"/>
          </a:xfrm>
          <a:prstGeom prst="roundRect">
            <a:avLst>
              <a:gd name="adj" fmla="val 50000"/>
            </a:avLst>
          </a:prstGeom>
          <a:solidFill>
            <a:srgbClr val="B4530A"/>
          </a:solidFill>
          <a:ln/>
        </p:spPr>
      </p:sp>
      <p:sp>
        <p:nvSpPr>
          <p:cNvPr id="7" name="Text 5"/>
          <p:cNvSpPr txBox="1"/>
          <p:nvPr/>
        </p:nvSpPr>
        <p:spPr>
          <a:xfrm>
            <a:off x="10524744" y="658368"/>
            <a:ext cx="1115568"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SIMULATED</a:t>
            </a:r>
            <a:endParaRPr lang="en-US" sz="900" dirty="0"/>
          </a:p>
        </p:txBody>
      </p:sp>
      <p:sp>
        <p:nvSpPr>
          <p:cNvPr id="8" name="Text 6"/>
          <p:cNvSpPr txBox="1"/>
          <p:nvPr/>
        </p:nvSpPr>
        <p:spPr>
          <a:xfrm>
            <a:off x="548640" y="1143000"/>
            <a:ext cx="9692640" cy="274320"/>
          </a:xfrm>
          <a:prstGeom prst="rect">
            <a:avLst/>
          </a:prstGeom>
          <a:noFill/>
          <a:ln/>
        </p:spPr>
        <p:txBody>
          <a:bodyPr wrap="square" lIns="0" tIns="0" rIns="0" bIns="0" rtlCol="0" anchor="t"/>
          <a:lstStyle/>
          <a:p>
            <a:pPr indent="0" marL="0">
              <a:lnSpc>
                <a:spcPts val="1632"/>
              </a:lnSpc>
              <a:buNone/>
            </a:pPr>
            <a:r>
              <a:rPr lang="en-US" sz="1200" dirty="0">
                <a:solidFill>
                  <a:srgbClr val="5B6B7A"/>
                </a:solidFill>
                <a:latin typeface="Arial" pitchFamily="34" charset="0"/>
                <a:ea typeface="Arial" pitchFamily="34" charset="-122"/>
                <a:cs typeface="Arial" pitchFamily="34" charset="-120"/>
              </a:rPr>
              <a:t>Six faults spanning the whole power path, all on the same plant with nothing retuned between them.</a:t>
            </a:r>
            <a:endParaRPr lang="en-US" sz="1200" dirty="0"/>
          </a:p>
        </p:txBody>
      </p:sp>
      <p:sp>
        <p:nvSpPr>
          <p:cNvPr id="9" name="Shape 7"/>
          <p:cNvSpPr/>
          <p:nvPr/>
        </p:nvSpPr>
        <p:spPr>
          <a:xfrm>
            <a:off x="548640" y="2761488"/>
            <a:ext cx="1481328" cy="676656"/>
          </a:xfrm>
          <a:prstGeom prst="roundRect">
            <a:avLst>
              <a:gd name="adj" fmla="val 8108"/>
            </a:avLst>
          </a:prstGeom>
          <a:solidFill>
            <a:srgbClr val="16202B"/>
          </a:solidFill>
          <a:ln/>
        </p:spPr>
      </p:sp>
      <p:sp>
        <p:nvSpPr>
          <p:cNvPr id="10" name="Text 8"/>
          <p:cNvSpPr txBox="1"/>
          <p:nvPr/>
        </p:nvSpPr>
        <p:spPr>
          <a:xfrm>
            <a:off x="548640" y="2852928"/>
            <a:ext cx="1481328"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400 V mains</a:t>
            </a:r>
            <a:endParaRPr lang="en-US" sz="1000" dirty="0"/>
          </a:p>
        </p:txBody>
      </p:sp>
      <p:sp>
        <p:nvSpPr>
          <p:cNvPr id="11" name="Text 9"/>
          <p:cNvSpPr txBox="1"/>
          <p:nvPr/>
        </p:nvSpPr>
        <p:spPr>
          <a:xfrm>
            <a:off x="548640" y="3099816"/>
            <a:ext cx="1481328" cy="201168"/>
          </a:xfrm>
          <a:prstGeom prst="rect">
            <a:avLst/>
          </a:prstGeom>
          <a:noFill/>
          <a:ln/>
        </p:spPr>
        <p:txBody>
          <a:bodyPr wrap="square" lIns="0" tIns="0" rIns="0" bIns="0" rtlCol="0" anchor="ctr"/>
          <a:lstStyle/>
          <a:p>
            <a:pPr algn="ctr" indent="0" marL="0">
              <a:buNone/>
            </a:pPr>
            <a:r>
              <a:rPr lang="en-US" sz="850" dirty="0">
                <a:solidFill>
                  <a:srgbClr val="8FA2B0"/>
                </a:solidFill>
                <a:latin typeface="Arial" pitchFamily="34" charset="0"/>
                <a:ea typeface="Arial" pitchFamily="34" charset="-122"/>
                <a:cs typeface="Arial" pitchFamily="34" charset="-120"/>
              </a:rPr>
              <a:t>3-phase</a:t>
            </a:r>
            <a:endParaRPr lang="en-US" sz="850" dirty="0"/>
          </a:p>
        </p:txBody>
      </p:sp>
      <p:sp>
        <p:nvSpPr>
          <p:cNvPr id="12" name="Shape 10"/>
          <p:cNvSpPr/>
          <p:nvPr/>
        </p:nvSpPr>
        <p:spPr>
          <a:xfrm>
            <a:off x="2043684" y="3099816"/>
            <a:ext cx="82296" cy="0"/>
          </a:xfrm>
          <a:prstGeom prst="line">
            <a:avLst/>
          </a:prstGeom>
          <a:noFill/>
          <a:ln w="16510">
            <a:solidFill>
              <a:srgbClr val="A8B7C2"/>
            </a:solidFill>
            <a:prstDash val="solid"/>
            <a:tailEnd type="triangle"/>
          </a:ln>
        </p:spPr>
      </p:sp>
      <p:sp>
        <p:nvSpPr>
          <p:cNvPr id="13" name="Shape 11"/>
          <p:cNvSpPr/>
          <p:nvPr/>
        </p:nvSpPr>
        <p:spPr>
          <a:xfrm>
            <a:off x="2139696" y="2761488"/>
            <a:ext cx="1481328" cy="676656"/>
          </a:xfrm>
          <a:prstGeom prst="roundRect">
            <a:avLst>
              <a:gd name="adj" fmla="val 8108"/>
            </a:avLst>
          </a:prstGeom>
          <a:solidFill>
            <a:srgbClr val="16202B"/>
          </a:solidFill>
          <a:ln/>
        </p:spPr>
      </p:sp>
      <p:sp>
        <p:nvSpPr>
          <p:cNvPr id="14" name="Text 12"/>
          <p:cNvSpPr txBox="1"/>
          <p:nvPr/>
        </p:nvSpPr>
        <p:spPr>
          <a:xfrm>
            <a:off x="2139696" y="2852928"/>
            <a:ext cx="1481328"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Rectifier</a:t>
            </a:r>
            <a:endParaRPr lang="en-US" sz="1000" dirty="0"/>
          </a:p>
        </p:txBody>
      </p:sp>
      <p:sp>
        <p:nvSpPr>
          <p:cNvPr id="15" name="Text 13"/>
          <p:cNvSpPr txBox="1"/>
          <p:nvPr/>
        </p:nvSpPr>
        <p:spPr>
          <a:xfrm>
            <a:off x="2139696" y="3099816"/>
            <a:ext cx="1481328" cy="201168"/>
          </a:xfrm>
          <a:prstGeom prst="rect">
            <a:avLst/>
          </a:prstGeom>
          <a:noFill/>
          <a:ln/>
        </p:spPr>
        <p:txBody>
          <a:bodyPr wrap="square" lIns="0" tIns="0" rIns="0" bIns="0" rtlCol="0" anchor="ctr"/>
          <a:lstStyle/>
          <a:p>
            <a:pPr algn="ctr" indent="0" marL="0">
              <a:buNone/>
            </a:pPr>
            <a:r>
              <a:rPr lang="en-US" sz="850" dirty="0">
                <a:solidFill>
                  <a:srgbClr val="8FA2B0"/>
                </a:solidFill>
                <a:latin typeface="Arial" pitchFamily="34" charset="0"/>
                <a:ea typeface="Arial" pitchFamily="34" charset="-122"/>
                <a:cs typeface="Arial" pitchFamily="34" charset="-120"/>
              </a:rPr>
              <a:t>six-pulse</a:t>
            </a:r>
            <a:endParaRPr lang="en-US" sz="850" dirty="0"/>
          </a:p>
        </p:txBody>
      </p:sp>
      <p:sp>
        <p:nvSpPr>
          <p:cNvPr id="16" name="Shape 14"/>
          <p:cNvSpPr/>
          <p:nvPr/>
        </p:nvSpPr>
        <p:spPr>
          <a:xfrm>
            <a:off x="3634740" y="3099816"/>
            <a:ext cx="82296" cy="0"/>
          </a:xfrm>
          <a:prstGeom prst="line">
            <a:avLst/>
          </a:prstGeom>
          <a:noFill/>
          <a:ln w="16510">
            <a:solidFill>
              <a:srgbClr val="A8B7C2"/>
            </a:solidFill>
            <a:prstDash val="solid"/>
            <a:tailEnd type="triangle"/>
          </a:ln>
        </p:spPr>
      </p:sp>
      <p:sp>
        <p:nvSpPr>
          <p:cNvPr id="17" name="Shape 15"/>
          <p:cNvSpPr/>
          <p:nvPr/>
        </p:nvSpPr>
        <p:spPr>
          <a:xfrm>
            <a:off x="3730752" y="2761488"/>
            <a:ext cx="1481328" cy="676656"/>
          </a:xfrm>
          <a:prstGeom prst="roundRect">
            <a:avLst>
              <a:gd name="adj" fmla="val 8108"/>
            </a:avLst>
          </a:prstGeom>
          <a:solidFill>
            <a:srgbClr val="16202B"/>
          </a:solidFill>
          <a:ln/>
        </p:spPr>
      </p:sp>
      <p:sp>
        <p:nvSpPr>
          <p:cNvPr id="18" name="Text 16"/>
          <p:cNvSpPr txBox="1"/>
          <p:nvPr/>
        </p:nvSpPr>
        <p:spPr>
          <a:xfrm>
            <a:off x="3730752" y="2852928"/>
            <a:ext cx="1481328"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DC choke</a:t>
            </a:r>
            <a:endParaRPr lang="en-US" sz="1000" dirty="0"/>
          </a:p>
        </p:txBody>
      </p:sp>
      <p:sp>
        <p:nvSpPr>
          <p:cNvPr id="19" name="Text 17"/>
          <p:cNvSpPr txBox="1"/>
          <p:nvPr/>
        </p:nvSpPr>
        <p:spPr>
          <a:xfrm>
            <a:off x="3730752" y="3099816"/>
            <a:ext cx="1481328" cy="201168"/>
          </a:xfrm>
          <a:prstGeom prst="rect">
            <a:avLst/>
          </a:prstGeom>
          <a:noFill/>
          <a:ln/>
        </p:spPr>
        <p:txBody>
          <a:bodyPr wrap="square" lIns="0" tIns="0" rIns="0" bIns="0" rtlCol="0" anchor="ctr"/>
          <a:lstStyle/>
          <a:p>
            <a:pPr algn="ctr" indent="0" marL="0">
              <a:buNone/>
            </a:pPr>
            <a:r>
              <a:rPr lang="en-US" sz="850" dirty="0">
                <a:solidFill>
                  <a:srgbClr val="8FA2B0"/>
                </a:solidFill>
                <a:latin typeface="Arial" pitchFamily="34" charset="0"/>
                <a:ea typeface="Arial" pitchFamily="34" charset="-122"/>
                <a:cs typeface="Arial" pitchFamily="34" charset="-120"/>
              </a:rPr>
              <a:t>4 mH</a:t>
            </a:r>
            <a:endParaRPr lang="en-US" sz="850" dirty="0"/>
          </a:p>
        </p:txBody>
      </p:sp>
      <p:sp>
        <p:nvSpPr>
          <p:cNvPr id="20" name="Shape 18"/>
          <p:cNvSpPr/>
          <p:nvPr/>
        </p:nvSpPr>
        <p:spPr>
          <a:xfrm>
            <a:off x="5225796" y="3099816"/>
            <a:ext cx="82296" cy="0"/>
          </a:xfrm>
          <a:prstGeom prst="line">
            <a:avLst/>
          </a:prstGeom>
          <a:noFill/>
          <a:ln w="16510">
            <a:solidFill>
              <a:srgbClr val="A8B7C2"/>
            </a:solidFill>
            <a:prstDash val="solid"/>
            <a:tailEnd type="triangle"/>
          </a:ln>
        </p:spPr>
      </p:sp>
      <p:sp>
        <p:nvSpPr>
          <p:cNvPr id="21" name="Shape 19"/>
          <p:cNvSpPr/>
          <p:nvPr/>
        </p:nvSpPr>
        <p:spPr>
          <a:xfrm>
            <a:off x="5321808" y="2761488"/>
            <a:ext cx="1481328" cy="676656"/>
          </a:xfrm>
          <a:prstGeom prst="roundRect">
            <a:avLst>
              <a:gd name="adj" fmla="val 8108"/>
            </a:avLst>
          </a:prstGeom>
          <a:solidFill>
            <a:srgbClr val="16202B"/>
          </a:solidFill>
          <a:ln/>
        </p:spPr>
      </p:sp>
      <p:sp>
        <p:nvSpPr>
          <p:cNvPr id="22" name="Text 20"/>
          <p:cNvSpPr txBox="1"/>
          <p:nvPr/>
        </p:nvSpPr>
        <p:spPr>
          <a:xfrm>
            <a:off x="5321808" y="2852928"/>
            <a:ext cx="1481328"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DC link</a:t>
            </a:r>
            <a:endParaRPr lang="en-US" sz="1000" dirty="0"/>
          </a:p>
        </p:txBody>
      </p:sp>
      <p:sp>
        <p:nvSpPr>
          <p:cNvPr id="23" name="Text 21"/>
          <p:cNvSpPr txBox="1"/>
          <p:nvPr/>
        </p:nvSpPr>
        <p:spPr>
          <a:xfrm>
            <a:off x="5321808" y="3099816"/>
            <a:ext cx="1481328" cy="201168"/>
          </a:xfrm>
          <a:prstGeom prst="rect">
            <a:avLst/>
          </a:prstGeom>
          <a:noFill/>
          <a:ln/>
        </p:spPr>
        <p:txBody>
          <a:bodyPr wrap="square" lIns="0" tIns="0" rIns="0" bIns="0" rtlCol="0" anchor="ctr"/>
          <a:lstStyle/>
          <a:p>
            <a:pPr algn="ctr" indent="0" marL="0">
              <a:buNone/>
            </a:pPr>
            <a:r>
              <a:rPr lang="en-US" sz="850" dirty="0">
                <a:solidFill>
                  <a:srgbClr val="8FA2B0"/>
                </a:solidFill>
                <a:latin typeface="Arial" pitchFamily="34" charset="0"/>
                <a:ea typeface="Arial" pitchFamily="34" charset="-122"/>
                <a:cs typeface="Arial" pitchFamily="34" charset="-120"/>
              </a:rPr>
              <a:t>500 µF</a:t>
            </a:r>
            <a:endParaRPr lang="en-US" sz="850" dirty="0"/>
          </a:p>
        </p:txBody>
      </p:sp>
      <p:sp>
        <p:nvSpPr>
          <p:cNvPr id="24" name="Shape 22"/>
          <p:cNvSpPr/>
          <p:nvPr/>
        </p:nvSpPr>
        <p:spPr>
          <a:xfrm>
            <a:off x="6816852" y="3099816"/>
            <a:ext cx="82296" cy="0"/>
          </a:xfrm>
          <a:prstGeom prst="line">
            <a:avLst/>
          </a:prstGeom>
          <a:noFill/>
          <a:ln w="16510">
            <a:solidFill>
              <a:srgbClr val="A8B7C2"/>
            </a:solidFill>
            <a:prstDash val="solid"/>
            <a:tailEnd type="triangle"/>
          </a:ln>
        </p:spPr>
      </p:sp>
      <p:sp>
        <p:nvSpPr>
          <p:cNvPr id="25" name="Shape 23"/>
          <p:cNvSpPr/>
          <p:nvPr/>
        </p:nvSpPr>
        <p:spPr>
          <a:xfrm>
            <a:off x="6912864" y="2761488"/>
            <a:ext cx="1481328" cy="676656"/>
          </a:xfrm>
          <a:prstGeom prst="roundRect">
            <a:avLst>
              <a:gd name="adj" fmla="val 8108"/>
            </a:avLst>
          </a:prstGeom>
          <a:solidFill>
            <a:srgbClr val="16202B"/>
          </a:solidFill>
          <a:ln/>
        </p:spPr>
      </p:sp>
      <p:sp>
        <p:nvSpPr>
          <p:cNvPr id="26" name="Text 24"/>
          <p:cNvSpPr txBox="1"/>
          <p:nvPr/>
        </p:nvSpPr>
        <p:spPr>
          <a:xfrm>
            <a:off x="6912864" y="2852928"/>
            <a:ext cx="1481328"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Inverter</a:t>
            </a:r>
            <a:endParaRPr lang="en-US" sz="1000" dirty="0"/>
          </a:p>
        </p:txBody>
      </p:sp>
      <p:sp>
        <p:nvSpPr>
          <p:cNvPr id="27" name="Text 25"/>
          <p:cNvSpPr txBox="1"/>
          <p:nvPr/>
        </p:nvSpPr>
        <p:spPr>
          <a:xfrm>
            <a:off x="6912864" y="3099816"/>
            <a:ext cx="1481328" cy="201168"/>
          </a:xfrm>
          <a:prstGeom prst="rect">
            <a:avLst/>
          </a:prstGeom>
          <a:noFill/>
          <a:ln/>
        </p:spPr>
        <p:txBody>
          <a:bodyPr wrap="square" lIns="0" tIns="0" rIns="0" bIns="0" rtlCol="0" anchor="ctr"/>
          <a:lstStyle/>
          <a:p>
            <a:pPr algn="ctr" indent="0" marL="0">
              <a:buNone/>
            </a:pPr>
            <a:r>
              <a:rPr lang="en-US" sz="850" dirty="0">
                <a:solidFill>
                  <a:srgbClr val="8FA2B0"/>
                </a:solidFill>
                <a:latin typeface="Arial" pitchFamily="34" charset="0"/>
                <a:ea typeface="Arial" pitchFamily="34" charset="-122"/>
                <a:cs typeface="Arial" pitchFamily="34" charset="-120"/>
              </a:rPr>
              <a:t>6 IGBT</a:t>
            </a:r>
            <a:endParaRPr lang="en-US" sz="850" dirty="0"/>
          </a:p>
        </p:txBody>
      </p:sp>
      <p:sp>
        <p:nvSpPr>
          <p:cNvPr id="28" name="Shape 26"/>
          <p:cNvSpPr/>
          <p:nvPr/>
        </p:nvSpPr>
        <p:spPr>
          <a:xfrm>
            <a:off x="8407908" y="3099816"/>
            <a:ext cx="82296" cy="0"/>
          </a:xfrm>
          <a:prstGeom prst="line">
            <a:avLst/>
          </a:prstGeom>
          <a:noFill/>
          <a:ln w="16510">
            <a:solidFill>
              <a:srgbClr val="A8B7C2"/>
            </a:solidFill>
            <a:prstDash val="solid"/>
            <a:tailEnd type="triangle"/>
          </a:ln>
        </p:spPr>
      </p:sp>
      <p:sp>
        <p:nvSpPr>
          <p:cNvPr id="29" name="Shape 27"/>
          <p:cNvSpPr/>
          <p:nvPr/>
        </p:nvSpPr>
        <p:spPr>
          <a:xfrm>
            <a:off x="8503920" y="2761488"/>
            <a:ext cx="1481328" cy="676656"/>
          </a:xfrm>
          <a:prstGeom prst="roundRect">
            <a:avLst>
              <a:gd name="adj" fmla="val 8108"/>
            </a:avLst>
          </a:prstGeom>
          <a:solidFill>
            <a:srgbClr val="16202B"/>
          </a:solidFill>
          <a:ln/>
        </p:spPr>
      </p:sp>
      <p:sp>
        <p:nvSpPr>
          <p:cNvPr id="30" name="Text 28"/>
          <p:cNvSpPr txBox="1"/>
          <p:nvPr/>
        </p:nvSpPr>
        <p:spPr>
          <a:xfrm>
            <a:off x="8503920" y="2852928"/>
            <a:ext cx="1481328"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PM machine</a:t>
            </a:r>
            <a:endParaRPr lang="en-US" sz="1000" dirty="0"/>
          </a:p>
        </p:txBody>
      </p:sp>
      <p:sp>
        <p:nvSpPr>
          <p:cNvPr id="31" name="Text 29"/>
          <p:cNvSpPr txBox="1"/>
          <p:nvPr/>
        </p:nvSpPr>
        <p:spPr>
          <a:xfrm>
            <a:off x="8503920" y="3099816"/>
            <a:ext cx="1481328" cy="201168"/>
          </a:xfrm>
          <a:prstGeom prst="rect">
            <a:avLst/>
          </a:prstGeom>
          <a:noFill/>
          <a:ln/>
        </p:spPr>
        <p:txBody>
          <a:bodyPr wrap="square" lIns="0" tIns="0" rIns="0" bIns="0" rtlCol="0" anchor="ctr"/>
          <a:lstStyle/>
          <a:p>
            <a:pPr algn="ctr" indent="0" marL="0">
              <a:buNone/>
            </a:pPr>
            <a:r>
              <a:rPr lang="en-US" sz="850" dirty="0">
                <a:solidFill>
                  <a:srgbClr val="8FA2B0"/>
                </a:solidFill>
                <a:latin typeface="Arial" pitchFamily="34" charset="0"/>
                <a:ea typeface="Arial" pitchFamily="34" charset="-122"/>
                <a:cs typeface="Arial" pitchFamily="34" charset="-120"/>
              </a:rPr>
              <a:t>2.2 kW</a:t>
            </a:r>
            <a:endParaRPr lang="en-US" sz="850" dirty="0"/>
          </a:p>
        </p:txBody>
      </p:sp>
      <p:sp>
        <p:nvSpPr>
          <p:cNvPr id="32" name="Shape 30"/>
          <p:cNvSpPr/>
          <p:nvPr/>
        </p:nvSpPr>
        <p:spPr>
          <a:xfrm>
            <a:off x="9998964" y="3099816"/>
            <a:ext cx="82296" cy="0"/>
          </a:xfrm>
          <a:prstGeom prst="line">
            <a:avLst/>
          </a:prstGeom>
          <a:noFill/>
          <a:ln w="16510">
            <a:solidFill>
              <a:srgbClr val="A8B7C2"/>
            </a:solidFill>
            <a:prstDash val="solid"/>
            <a:tailEnd type="triangle"/>
          </a:ln>
        </p:spPr>
      </p:sp>
      <p:sp>
        <p:nvSpPr>
          <p:cNvPr id="33" name="Shape 31"/>
          <p:cNvSpPr/>
          <p:nvPr/>
        </p:nvSpPr>
        <p:spPr>
          <a:xfrm>
            <a:off x="10094976" y="2761488"/>
            <a:ext cx="1481328" cy="676656"/>
          </a:xfrm>
          <a:prstGeom prst="roundRect">
            <a:avLst>
              <a:gd name="adj" fmla="val 8108"/>
            </a:avLst>
          </a:prstGeom>
          <a:solidFill>
            <a:srgbClr val="16202B"/>
          </a:solidFill>
          <a:ln/>
        </p:spPr>
      </p:sp>
      <p:sp>
        <p:nvSpPr>
          <p:cNvPr id="34" name="Text 32"/>
          <p:cNvSpPr txBox="1"/>
          <p:nvPr/>
        </p:nvSpPr>
        <p:spPr>
          <a:xfrm>
            <a:off x="10094976" y="2852928"/>
            <a:ext cx="1481328"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Car + c/wt</a:t>
            </a:r>
            <a:endParaRPr lang="en-US" sz="1000" dirty="0"/>
          </a:p>
        </p:txBody>
      </p:sp>
      <p:sp>
        <p:nvSpPr>
          <p:cNvPr id="35" name="Text 33"/>
          <p:cNvSpPr txBox="1"/>
          <p:nvPr/>
        </p:nvSpPr>
        <p:spPr>
          <a:xfrm>
            <a:off x="10094976" y="3099816"/>
            <a:ext cx="1481328" cy="201168"/>
          </a:xfrm>
          <a:prstGeom prst="rect">
            <a:avLst/>
          </a:prstGeom>
          <a:noFill/>
          <a:ln/>
        </p:spPr>
        <p:txBody>
          <a:bodyPr wrap="square" lIns="0" tIns="0" rIns="0" bIns="0" rtlCol="0" anchor="ctr"/>
          <a:lstStyle/>
          <a:p>
            <a:pPr algn="ctr" indent="0" marL="0">
              <a:buNone/>
            </a:pPr>
            <a:r>
              <a:rPr lang="en-US" sz="850" dirty="0">
                <a:solidFill>
                  <a:srgbClr val="8FA2B0"/>
                </a:solidFill>
                <a:latin typeface="Arial" pitchFamily="34" charset="0"/>
                <a:ea typeface="Arial" pitchFamily="34" charset="-122"/>
                <a:cs typeface="Arial" pitchFamily="34" charset="-120"/>
              </a:rPr>
              <a:t>45% bal.</a:t>
            </a:r>
            <a:endParaRPr lang="en-US" sz="850" dirty="0"/>
          </a:p>
        </p:txBody>
      </p:sp>
      <p:sp>
        <p:nvSpPr>
          <p:cNvPr id="36" name="Shape 34"/>
          <p:cNvSpPr/>
          <p:nvPr/>
        </p:nvSpPr>
        <p:spPr>
          <a:xfrm>
            <a:off x="1289304" y="2724912"/>
            <a:ext cx="0" cy="-457200"/>
          </a:xfrm>
          <a:prstGeom prst="line">
            <a:avLst/>
          </a:prstGeom>
          <a:noFill/>
          <a:ln w="15240">
            <a:solidFill>
              <a:srgbClr val="B4530A"/>
            </a:solidFill>
            <a:prstDash val="solid"/>
          </a:ln>
        </p:spPr>
      </p:sp>
      <p:sp>
        <p:nvSpPr>
          <p:cNvPr id="37" name="Shape 35"/>
          <p:cNvSpPr/>
          <p:nvPr/>
        </p:nvSpPr>
        <p:spPr>
          <a:xfrm>
            <a:off x="1133856" y="1956816"/>
            <a:ext cx="310896" cy="310896"/>
          </a:xfrm>
          <a:prstGeom prst="ellipse">
            <a:avLst/>
          </a:prstGeom>
          <a:solidFill>
            <a:srgbClr val="B4530A"/>
          </a:solidFill>
          <a:ln/>
        </p:spPr>
      </p:sp>
      <p:sp>
        <p:nvSpPr>
          <p:cNvPr id="38" name="Text 36"/>
          <p:cNvSpPr txBox="1"/>
          <p:nvPr/>
        </p:nvSpPr>
        <p:spPr>
          <a:xfrm>
            <a:off x="1133856" y="1956816"/>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06</a:t>
            </a:r>
            <a:endParaRPr lang="en-US" sz="950" dirty="0"/>
          </a:p>
        </p:txBody>
      </p:sp>
      <p:sp>
        <p:nvSpPr>
          <p:cNvPr id="39" name="Text 37"/>
          <p:cNvSpPr txBox="1"/>
          <p:nvPr/>
        </p:nvSpPr>
        <p:spPr>
          <a:xfrm>
            <a:off x="374904" y="1682496"/>
            <a:ext cx="1828800" cy="237744"/>
          </a:xfrm>
          <a:prstGeom prst="rect">
            <a:avLst/>
          </a:prstGeom>
          <a:noFill/>
          <a:ln/>
        </p:spPr>
        <p:txBody>
          <a:bodyPr wrap="square" lIns="0" tIns="0" rIns="0" bIns="0" rtlCol="0" anchor="ctr"/>
          <a:lstStyle/>
          <a:p>
            <a:pPr algn="ctr" indent="0" marL="0">
              <a:buNone/>
            </a:pPr>
            <a:r>
              <a:rPr lang="en-US" sz="1000" b="1" dirty="0">
                <a:solidFill>
                  <a:srgbClr val="1A2430"/>
                </a:solidFill>
                <a:latin typeface="Arial" pitchFamily="34" charset="0"/>
                <a:ea typeface="Arial" pitchFamily="34" charset="-122"/>
                <a:cs typeface="Arial" pitchFamily="34" charset="-120"/>
              </a:rPr>
              <a:t>supply sag</a:t>
            </a:r>
            <a:endParaRPr lang="en-US" sz="1000" dirty="0"/>
          </a:p>
        </p:txBody>
      </p:sp>
      <p:sp>
        <p:nvSpPr>
          <p:cNvPr id="40" name="Shape 38"/>
          <p:cNvSpPr/>
          <p:nvPr/>
        </p:nvSpPr>
        <p:spPr>
          <a:xfrm>
            <a:off x="2880360" y="2724912"/>
            <a:ext cx="0" cy="-457200"/>
          </a:xfrm>
          <a:prstGeom prst="line">
            <a:avLst/>
          </a:prstGeom>
          <a:noFill/>
          <a:ln w="15240">
            <a:solidFill>
              <a:srgbClr val="B4530A"/>
            </a:solidFill>
            <a:prstDash val="solid"/>
          </a:ln>
        </p:spPr>
      </p:sp>
      <p:sp>
        <p:nvSpPr>
          <p:cNvPr id="41" name="Shape 39"/>
          <p:cNvSpPr/>
          <p:nvPr/>
        </p:nvSpPr>
        <p:spPr>
          <a:xfrm>
            <a:off x="2724912" y="1956816"/>
            <a:ext cx="310896" cy="310896"/>
          </a:xfrm>
          <a:prstGeom prst="ellipse">
            <a:avLst/>
          </a:prstGeom>
          <a:solidFill>
            <a:srgbClr val="B4530A"/>
          </a:solidFill>
          <a:ln/>
        </p:spPr>
      </p:sp>
      <p:sp>
        <p:nvSpPr>
          <p:cNvPr id="42" name="Text 40"/>
          <p:cNvSpPr txBox="1"/>
          <p:nvPr/>
        </p:nvSpPr>
        <p:spPr>
          <a:xfrm>
            <a:off x="2724912" y="1956816"/>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03</a:t>
            </a:r>
            <a:endParaRPr lang="en-US" sz="950" dirty="0"/>
          </a:p>
        </p:txBody>
      </p:sp>
      <p:sp>
        <p:nvSpPr>
          <p:cNvPr id="43" name="Text 41"/>
          <p:cNvSpPr txBox="1"/>
          <p:nvPr/>
        </p:nvSpPr>
        <p:spPr>
          <a:xfrm>
            <a:off x="1965960" y="1682496"/>
            <a:ext cx="1828800" cy="237744"/>
          </a:xfrm>
          <a:prstGeom prst="rect">
            <a:avLst/>
          </a:prstGeom>
          <a:noFill/>
          <a:ln/>
        </p:spPr>
        <p:txBody>
          <a:bodyPr wrap="square" lIns="0" tIns="0" rIns="0" bIns="0" rtlCol="0" anchor="ctr"/>
          <a:lstStyle/>
          <a:p>
            <a:pPr algn="ctr" indent="0" marL="0">
              <a:buNone/>
            </a:pPr>
            <a:r>
              <a:rPr lang="en-US" sz="1000" b="1" dirty="0">
                <a:solidFill>
                  <a:srgbClr val="1A2430"/>
                </a:solidFill>
                <a:latin typeface="Arial" pitchFamily="34" charset="0"/>
                <a:ea typeface="Arial" pitchFamily="34" charset="-122"/>
                <a:cs typeface="Arial" pitchFamily="34" charset="-120"/>
              </a:rPr>
              <a:t>phase loss</a:t>
            </a:r>
            <a:endParaRPr lang="en-US" sz="1000" dirty="0"/>
          </a:p>
        </p:txBody>
      </p:sp>
      <p:sp>
        <p:nvSpPr>
          <p:cNvPr id="44" name="Shape 42"/>
          <p:cNvSpPr/>
          <p:nvPr/>
        </p:nvSpPr>
        <p:spPr>
          <a:xfrm>
            <a:off x="5532120" y="2724912"/>
            <a:ext cx="0" cy="-457200"/>
          </a:xfrm>
          <a:prstGeom prst="line">
            <a:avLst/>
          </a:prstGeom>
          <a:noFill/>
          <a:ln w="15240">
            <a:solidFill>
              <a:srgbClr val="B4530A"/>
            </a:solidFill>
            <a:prstDash val="solid"/>
          </a:ln>
        </p:spPr>
      </p:sp>
      <p:sp>
        <p:nvSpPr>
          <p:cNvPr id="45" name="Shape 43"/>
          <p:cNvSpPr/>
          <p:nvPr/>
        </p:nvSpPr>
        <p:spPr>
          <a:xfrm>
            <a:off x="5376672" y="1956816"/>
            <a:ext cx="310896" cy="310896"/>
          </a:xfrm>
          <a:prstGeom prst="ellipse">
            <a:avLst/>
          </a:prstGeom>
          <a:solidFill>
            <a:srgbClr val="B4530A"/>
          </a:solidFill>
          <a:ln/>
        </p:spPr>
      </p:sp>
      <p:sp>
        <p:nvSpPr>
          <p:cNvPr id="46" name="Text 44"/>
          <p:cNvSpPr txBox="1"/>
          <p:nvPr/>
        </p:nvSpPr>
        <p:spPr>
          <a:xfrm>
            <a:off x="5376672" y="1956816"/>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01</a:t>
            </a:r>
            <a:endParaRPr lang="en-US" sz="950" dirty="0"/>
          </a:p>
        </p:txBody>
      </p:sp>
      <p:sp>
        <p:nvSpPr>
          <p:cNvPr id="47" name="Text 45"/>
          <p:cNvSpPr txBox="1"/>
          <p:nvPr/>
        </p:nvSpPr>
        <p:spPr>
          <a:xfrm>
            <a:off x="4617720" y="1682496"/>
            <a:ext cx="1828800" cy="237744"/>
          </a:xfrm>
          <a:prstGeom prst="rect">
            <a:avLst/>
          </a:prstGeom>
          <a:noFill/>
          <a:ln/>
        </p:spPr>
        <p:txBody>
          <a:bodyPr wrap="square" lIns="0" tIns="0" rIns="0" bIns="0" rtlCol="0" anchor="ctr"/>
          <a:lstStyle/>
          <a:p>
            <a:pPr algn="ctr" indent="0" marL="0">
              <a:buNone/>
            </a:pPr>
            <a:r>
              <a:rPr lang="en-US" sz="1000" b="1" dirty="0">
                <a:solidFill>
                  <a:srgbClr val="1A2430"/>
                </a:solidFill>
                <a:latin typeface="Arial" pitchFamily="34" charset="0"/>
                <a:ea typeface="Arial" pitchFamily="34" charset="-122"/>
                <a:cs typeface="Arial" pitchFamily="34" charset="-120"/>
              </a:rPr>
              <a:t>capacitor</a:t>
            </a:r>
            <a:endParaRPr lang="en-US" sz="1000" dirty="0"/>
          </a:p>
        </p:txBody>
      </p:sp>
      <p:sp>
        <p:nvSpPr>
          <p:cNvPr id="48" name="Shape 46"/>
          <p:cNvSpPr/>
          <p:nvPr/>
        </p:nvSpPr>
        <p:spPr>
          <a:xfrm>
            <a:off x="6592824" y="2724912"/>
            <a:ext cx="0" cy="-457200"/>
          </a:xfrm>
          <a:prstGeom prst="line">
            <a:avLst/>
          </a:prstGeom>
          <a:noFill/>
          <a:ln w="15240">
            <a:solidFill>
              <a:srgbClr val="B4530A"/>
            </a:solidFill>
            <a:prstDash val="solid"/>
          </a:ln>
        </p:spPr>
      </p:sp>
      <p:sp>
        <p:nvSpPr>
          <p:cNvPr id="49" name="Shape 47"/>
          <p:cNvSpPr/>
          <p:nvPr/>
        </p:nvSpPr>
        <p:spPr>
          <a:xfrm>
            <a:off x="6437376" y="1956816"/>
            <a:ext cx="310896" cy="310896"/>
          </a:xfrm>
          <a:prstGeom prst="ellipse">
            <a:avLst/>
          </a:prstGeom>
          <a:solidFill>
            <a:srgbClr val="B4530A"/>
          </a:solidFill>
          <a:ln/>
        </p:spPr>
      </p:sp>
      <p:sp>
        <p:nvSpPr>
          <p:cNvPr id="50" name="Text 48"/>
          <p:cNvSpPr txBox="1"/>
          <p:nvPr/>
        </p:nvSpPr>
        <p:spPr>
          <a:xfrm>
            <a:off x="6437376" y="1956816"/>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05</a:t>
            </a:r>
            <a:endParaRPr lang="en-US" sz="950" dirty="0"/>
          </a:p>
        </p:txBody>
      </p:sp>
      <p:sp>
        <p:nvSpPr>
          <p:cNvPr id="51" name="Text 49"/>
          <p:cNvSpPr txBox="1"/>
          <p:nvPr/>
        </p:nvSpPr>
        <p:spPr>
          <a:xfrm>
            <a:off x="5678424" y="1682496"/>
            <a:ext cx="1828800" cy="237744"/>
          </a:xfrm>
          <a:prstGeom prst="rect">
            <a:avLst/>
          </a:prstGeom>
          <a:noFill/>
          <a:ln/>
        </p:spPr>
        <p:txBody>
          <a:bodyPr wrap="square" lIns="0" tIns="0" rIns="0" bIns="0" rtlCol="0" anchor="ctr"/>
          <a:lstStyle/>
          <a:p>
            <a:pPr algn="ctr" indent="0" marL="0">
              <a:buNone/>
            </a:pPr>
            <a:r>
              <a:rPr lang="en-US" sz="1000" b="1" dirty="0">
                <a:solidFill>
                  <a:srgbClr val="1A2430"/>
                </a:solidFill>
                <a:latin typeface="Arial" pitchFamily="34" charset="0"/>
                <a:ea typeface="Arial" pitchFamily="34" charset="-122"/>
                <a:cs typeface="Arial" pitchFamily="34" charset="-120"/>
              </a:rPr>
              <a:t>overvoltage</a:t>
            </a:r>
            <a:endParaRPr lang="en-US" sz="1000" dirty="0"/>
          </a:p>
        </p:txBody>
      </p:sp>
      <p:sp>
        <p:nvSpPr>
          <p:cNvPr id="52" name="Shape 50"/>
          <p:cNvSpPr/>
          <p:nvPr/>
        </p:nvSpPr>
        <p:spPr>
          <a:xfrm>
            <a:off x="7653528" y="2724912"/>
            <a:ext cx="0" cy="-457200"/>
          </a:xfrm>
          <a:prstGeom prst="line">
            <a:avLst/>
          </a:prstGeom>
          <a:noFill/>
          <a:ln w="15240">
            <a:solidFill>
              <a:srgbClr val="B4530A"/>
            </a:solidFill>
            <a:prstDash val="solid"/>
          </a:ln>
        </p:spPr>
      </p:sp>
      <p:sp>
        <p:nvSpPr>
          <p:cNvPr id="53" name="Shape 51"/>
          <p:cNvSpPr/>
          <p:nvPr/>
        </p:nvSpPr>
        <p:spPr>
          <a:xfrm>
            <a:off x="7498080" y="1956816"/>
            <a:ext cx="310896" cy="310896"/>
          </a:xfrm>
          <a:prstGeom prst="ellipse">
            <a:avLst/>
          </a:prstGeom>
          <a:solidFill>
            <a:srgbClr val="B4530A"/>
          </a:solidFill>
          <a:ln/>
        </p:spPr>
      </p:sp>
      <p:sp>
        <p:nvSpPr>
          <p:cNvPr id="54" name="Text 52"/>
          <p:cNvSpPr txBox="1"/>
          <p:nvPr/>
        </p:nvSpPr>
        <p:spPr>
          <a:xfrm>
            <a:off x="7498080" y="1956816"/>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02</a:t>
            </a:r>
            <a:endParaRPr lang="en-US" sz="950" dirty="0"/>
          </a:p>
        </p:txBody>
      </p:sp>
      <p:sp>
        <p:nvSpPr>
          <p:cNvPr id="55" name="Text 53"/>
          <p:cNvSpPr txBox="1"/>
          <p:nvPr/>
        </p:nvSpPr>
        <p:spPr>
          <a:xfrm>
            <a:off x="6739128" y="1682496"/>
            <a:ext cx="1828800" cy="237744"/>
          </a:xfrm>
          <a:prstGeom prst="rect">
            <a:avLst/>
          </a:prstGeom>
          <a:noFill/>
          <a:ln/>
        </p:spPr>
        <p:txBody>
          <a:bodyPr wrap="square" lIns="0" tIns="0" rIns="0" bIns="0" rtlCol="0" anchor="ctr"/>
          <a:lstStyle/>
          <a:p>
            <a:pPr algn="ctr" indent="0" marL="0">
              <a:buNone/>
            </a:pPr>
            <a:r>
              <a:rPr lang="en-US" sz="1000" b="1" dirty="0">
                <a:solidFill>
                  <a:srgbClr val="1A2430"/>
                </a:solidFill>
                <a:latin typeface="Arial" pitchFamily="34" charset="0"/>
                <a:ea typeface="Arial" pitchFamily="34" charset="-122"/>
                <a:cs typeface="Arial" pitchFamily="34" charset="-120"/>
              </a:rPr>
              <a:t>switch fault</a:t>
            </a:r>
            <a:endParaRPr lang="en-US" sz="1000" dirty="0"/>
          </a:p>
        </p:txBody>
      </p:sp>
      <p:sp>
        <p:nvSpPr>
          <p:cNvPr id="56" name="Shape 54"/>
          <p:cNvSpPr/>
          <p:nvPr/>
        </p:nvSpPr>
        <p:spPr>
          <a:xfrm>
            <a:off x="10835640" y="2724912"/>
            <a:ext cx="0" cy="-457200"/>
          </a:xfrm>
          <a:prstGeom prst="line">
            <a:avLst/>
          </a:prstGeom>
          <a:noFill/>
          <a:ln w="15240">
            <a:solidFill>
              <a:srgbClr val="B4530A"/>
            </a:solidFill>
            <a:prstDash val="solid"/>
          </a:ln>
        </p:spPr>
      </p:sp>
      <p:sp>
        <p:nvSpPr>
          <p:cNvPr id="57" name="Shape 55"/>
          <p:cNvSpPr/>
          <p:nvPr/>
        </p:nvSpPr>
        <p:spPr>
          <a:xfrm>
            <a:off x="10680192" y="1956816"/>
            <a:ext cx="310896" cy="310896"/>
          </a:xfrm>
          <a:prstGeom prst="ellipse">
            <a:avLst/>
          </a:prstGeom>
          <a:solidFill>
            <a:srgbClr val="B4530A"/>
          </a:solidFill>
          <a:ln/>
        </p:spPr>
      </p:sp>
      <p:sp>
        <p:nvSpPr>
          <p:cNvPr id="58" name="Text 56"/>
          <p:cNvSpPr txBox="1"/>
          <p:nvPr/>
        </p:nvSpPr>
        <p:spPr>
          <a:xfrm>
            <a:off x="10680192" y="1956816"/>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04</a:t>
            </a:r>
            <a:endParaRPr lang="en-US" sz="950" dirty="0"/>
          </a:p>
        </p:txBody>
      </p:sp>
      <p:sp>
        <p:nvSpPr>
          <p:cNvPr id="59" name="Text 57"/>
          <p:cNvSpPr txBox="1"/>
          <p:nvPr/>
        </p:nvSpPr>
        <p:spPr>
          <a:xfrm>
            <a:off x="9921240" y="1682496"/>
            <a:ext cx="1828800" cy="237744"/>
          </a:xfrm>
          <a:prstGeom prst="rect">
            <a:avLst/>
          </a:prstGeom>
          <a:noFill/>
          <a:ln/>
        </p:spPr>
        <p:txBody>
          <a:bodyPr wrap="square" lIns="0" tIns="0" rIns="0" bIns="0" rtlCol="0" anchor="ctr"/>
          <a:lstStyle/>
          <a:p>
            <a:pPr algn="ctr" indent="0" marL="0">
              <a:buNone/>
            </a:pPr>
            <a:r>
              <a:rPr lang="en-US" sz="1000" b="1" dirty="0">
                <a:solidFill>
                  <a:srgbClr val="1A2430"/>
                </a:solidFill>
                <a:latin typeface="Arial" pitchFamily="34" charset="0"/>
                <a:ea typeface="Arial" pitchFamily="34" charset="-122"/>
                <a:cs typeface="Arial" pitchFamily="34" charset="-120"/>
              </a:rPr>
              <a:t>overcurrent</a:t>
            </a:r>
            <a:endParaRPr lang="en-US" sz="1000" dirty="0"/>
          </a:p>
        </p:txBody>
      </p:sp>
      <p:sp>
        <p:nvSpPr>
          <p:cNvPr id="60" name="Shape 58"/>
          <p:cNvSpPr/>
          <p:nvPr/>
        </p:nvSpPr>
        <p:spPr>
          <a:xfrm>
            <a:off x="6062472" y="3675888"/>
            <a:ext cx="3182112" cy="0"/>
          </a:xfrm>
          <a:prstGeom prst="line">
            <a:avLst/>
          </a:prstGeom>
          <a:noFill/>
          <a:ln w="16510">
            <a:solidFill>
              <a:srgbClr val="B4530A"/>
            </a:solidFill>
            <a:prstDash val="dash"/>
            <a:headEnd type="triangle"/>
          </a:ln>
        </p:spPr>
      </p:sp>
      <p:sp>
        <p:nvSpPr>
          <p:cNvPr id="61" name="Text 59"/>
          <p:cNvSpPr txBox="1"/>
          <p:nvPr/>
        </p:nvSpPr>
        <p:spPr>
          <a:xfrm>
            <a:off x="5166360" y="3749040"/>
            <a:ext cx="4937760" cy="219456"/>
          </a:xfrm>
          <a:prstGeom prst="rect">
            <a:avLst/>
          </a:prstGeom>
          <a:noFill/>
          <a:ln/>
        </p:spPr>
        <p:txBody>
          <a:bodyPr wrap="square" lIns="0" tIns="0" rIns="0" bIns="0" rtlCol="0" anchor="ctr"/>
          <a:lstStyle/>
          <a:p>
            <a:pPr algn="ctr" indent="0" marL="0">
              <a:buNone/>
            </a:pPr>
            <a:r>
              <a:rPr lang="en-US" sz="950" dirty="0">
                <a:solidFill>
                  <a:srgbClr val="B4530A"/>
                </a:solidFill>
                <a:latin typeface="Arial" pitchFamily="34" charset="0"/>
                <a:ea typeface="Arial" pitchFamily="34" charset="-122"/>
                <a:cs typeface="Arial" pitchFamily="34" charset="-120"/>
              </a:rPr>
              <a:t>regenerated energy — a diode bridge cannot return it to the mains</a:t>
            </a:r>
            <a:endParaRPr lang="en-US" sz="950" dirty="0"/>
          </a:p>
        </p:txBody>
      </p:sp>
      <p:pic>
        <p:nvPicPr>
          <p:cNvPr id="62" name="Image 0" descr="preencoded.png">    </p:cNvPr>
          <p:cNvPicPr>
            <a:picLocks noChangeAspect="1"/>
          </p:cNvPicPr>
          <p:nvPr/>
        </p:nvPicPr>
        <p:blipFill>
          <a:blip r:embed="rId1"/>
          <a:stretch>
            <a:fillRect/>
          </a:stretch>
        </p:blipFill>
        <p:spPr>
          <a:xfrm>
            <a:off x="548640" y="4261104"/>
            <a:ext cx="5358384" cy="1783080"/>
          </a:xfrm>
          <a:prstGeom prst="rect">
            <a:avLst/>
          </a:prstGeom>
        </p:spPr>
      </p:pic>
      <p:sp>
        <p:nvSpPr>
          <p:cNvPr id="63" name="Shape 60"/>
          <p:cNvSpPr/>
          <p:nvPr/>
        </p:nvSpPr>
        <p:spPr>
          <a:xfrm>
            <a:off x="6181344" y="4187952"/>
            <a:ext cx="5458968" cy="2029968"/>
          </a:xfrm>
          <a:prstGeom prst="roundRect">
            <a:avLst>
              <a:gd name="adj" fmla="val 3153"/>
            </a:avLst>
          </a:prstGeom>
          <a:solidFill>
            <a:srgbClr val="F2F5F7"/>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64" name="Text 61"/>
          <p:cNvSpPr txBox="1"/>
          <p:nvPr/>
        </p:nvSpPr>
        <p:spPr>
          <a:xfrm>
            <a:off x="6437376" y="4370832"/>
            <a:ext cx="4937760" cy="237744"/>
          </a:xfrm>
          <a:prstGeom prst="rect">
            <a:avLst/>
          </a:prstGeom>
          <a:noFill/>
          <a:ln/>
        </p:spPr>
        <p:txBody>
          <a:bodyPr wrap="square" lIns="0" tIns="0" rIns="0" bIns="0" rtlCol="0" anchor="t"/>
          <a:lstStyle/>
          <a:p>
            <a:pPr indent="0" marL="0">
              <a:buNone/>
            </a:pPr>
            <a:r>
              <a:rPr lang="en-US" sz="1300" b="1" spc="50" kern="0" dirty="0">
                <a:solidFill>
                  <a:srgbClr val="1A2430"/>
                </a:solidFill>
                <a:latin typeface="Arial" pitchFamily="34" charset="0"/>
                <a:ea typeface="Arial" pitchFamily="34" charset="-122"/>
                <a:cs typeface="Arial" pitchFamily="34" charset="-120"/>
              </a:rPr>
              <a:t>ONE MODEL, RUNNING</a:t>
            </a:r>
            <a:endParaRPr lang="en-US" sz="1300" dirty="0"/>
          </a:p>
        </p:txBody>
      </p:sp>
      <p:sp>
        <p:nvSpPr>
          <p:cNvPr id="65" name="Text 62"/>
          <p:cNvSpPr txBox="1"/>
          <p:nvPr/>
        </p:nvSpPr>
        <p:spPr>
          <a:xfrm>
            <a:off x="6437376" y="4681728"/>
            <a:ext cx="4937760" cy="786384"/>
          </a:xfrm>
          <a:prstGeom prst="rect">
            <a:avLst/>
          </a:prstGeom>
          <a:noFill/>
          <a:ln/>
        </p:spPr>
        <p:txBody>
          <a:bodyPr wrap="square" lIns="0" tIns="0" rIns="0" bIns="0" rtlCol="0" anchor="t"/>
          <a:lstStyle/>
          <a:p>
            <a:pPr indent="0" marL="0">
              <a:lnSpc>
                <a:spcPts val="1360"/>
              </a:lnSpc>
              <a:buNone/>
            </a:pPr>
            <a:r>
              <a:rPr lang="en-US" sz="1000" dirty="0">
                <a:solidFill>
                  <a:srgbClr val="1A2430"/>
                </a:solidFill>
                <a:latin typeface="Arial" pitchFamily="34" charset="0"/>
                <a:ea typeface="Arial" pitchFamily="34" charset="-122"/>
                <a:cs typeface="Arial" pitchFamily="34" charset="-120"/>
              </a:rPr>
              <a:t>The overvoltage model solved over a single journey. Bus voltage in blue against the manufacturer’s published trip and chopper levels; motor power in green, going negative where the car regenerates and drives the bus up.</a:t>
            </a:r>
            <a:endParaRPr lang="en-US" sz="1000" dirty="0"/>
          </a:p>
        </p:txBody>
      </p:sp>
      <p:sp>
        <p:nvSpPr>
          <p:cNvPr id="66" name="Text 63"/>
          <p:cNvSpPr txBox="1"/>
          <p:nvPr/>
        </p:nvSpPr>
        <p:spPr>
          <a:xfrm>
            <a:off x="6437376" y="5541264"/>
            <a:ext cx="4937760" cy="566928"/>
          </a:xfrm>
          <a:prstGeom prst="rect">
            <a:avLst/>
          </a:prstGeom>
          <a:noFill/>
          <a:ln/>
        </p:spPr>
        <p:txBody>
          <a:bodyPr wrap="square" lIns="0" tIns="0" rIns="0" bIns="0" rtlCol="0" anchor="t"/>
          <a:lstStyle/>
          <a:p>
            <a:pPr indent="0" marL="0">
              <a:lnSpc>
                <a:spcPts val="1360"/>
              </a:lnSpc>
              <a:buNone/>
            </a:pPr>
            <a:r>
              <a:rPr lang="en-US" sz="1000" dirty="0">
                <a:solidFill>
                  <a:srgbClr val="5B6B7A"/>
                </a:solidFill>
                <a:latin typeface="Arial" pitchFamily="34" charset="0"/>
                <a:ea typeface="Arial" pitchFamily="34" charset="-122"/>
                <a:cs typeface="Arial" pitchFamily="34" charset="-120"/>
              </a:rPr>
              <a:t>Every model reports its features in engineering units, a verdict with the reasoning shown, and the evidence grade behind each number.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19456"/>
          </a:xfrm>
          <a:prstGeom prst="rect">
            <a:avLst/>
          </a:prstGeom>
          <a:noFill/>
          <a:ln/>
        </p:spPr>
        <p:txBody>
          <a:bodyPr wrap="square" lIns="0" tIns="0" rIns="0" bIns="0" rtlCol="0" anchor="t"/>
          <a:lstStyle/>
          <a:p>
            <a:pPr indent="0" marL="0">
              <a:buNone/>
            </a:pPr>
            <a:r>
              <a:rPr lang="en-US" sz="1050" b="1" spc="140" kern="0" dirty="0">
                <a:solidFill>
                  <a:srgbClr val="0E7C86"/>
                </a:solidFill>
                <a:latin typeface="Arial" pitchFamily="34" charset="0"/>
                <a:ea typeface="Arial" pitchFamily="34" charset="-122"/>
                <a:cs typeface="Arial" pitchFamily="34" charset="-120"/>
              </a:rPr>
              <a:t>WHAT WE DISCOVERED</a:t>
            </a:r>
            <a:endParaRPr lang="en-US" sz="1050" dirty="0"/>
          </a:p>
        </p:txBody>
      </p:sp>
      <p:sp>
        <p:nvSpPr>
          <p:cNvPr id="3" name="Text 1"/>
          <p:cNvSpPr txBox="1"/>
          <p:nvPr/>
        </p:nvSpPr>
        <p:spPr>
          <a:xfrm>
            <a:off x="548640" y="566928"/>
            <a:ext cx="11064240" cy="512064"/>
          </a:xfrm>
          <a:prstGeom prst="rect">
            <a:avLst/>
          </a:prstGeom>
          <a:noFill/>
          <a:ln/>
        </p:spPr>
        <p:txBody>
          <a:bodyPr wrap="square" lIns="0" tIns="0" rIns="0" bIns="0" rtlCol="0" anchor="t"/>
          <a:lstStyle/>
          <a:p>
            <a:pPr indent="0" marL="0">
              <a:buNone/>
            </a:pPr>
            <a:r>
              <a:rPr lang="en-US" sz="2900" b="1" dirty="0">
                <a:solidFill>
                  <a:srgbClr val="1A2430"/>
                </a:solidFill>
                <a:latin typeface="Arial" pitchFamily="34" charset="0"/>
                <a:ea typeface="Arial" pitchFamily="34" charset="-122"/>
                <a:cs typeface="Arial" pitchFamily="34" charset="-120"/>
              </a:rPr>
              <a:t>An evidence map, not a detection claim</a:t>
            </a:r>
            <a:endParaRPr lang="en-US" sz="2900" dirty="0"/>
          </a:p>
        </p:txBody>
      </p:sp>
      <p:sp>
        <p:nvSpPr>
          <p:cNvPr id="4" name="Text 2"/>
          <p:cNvSpPr txBox="1"/>
          <p:nvPr/>
        </p:nvSpPr>
        <p:spPr>
          <a:xfrm>
            <a:off x="548640" y="6327648"/>
            <a:ext cx="5486400" cy="219456"/>
          </a:xfrm>
          <a:prstGeom prst="rect">
            <a:avLst/>
          </a:prstGeom>
          <a:noFill/>
          <a:ln/>
        </p:spPr>
        <p:txBody>
          <a:bodyPr wrap="square" lIns="0" tIns="0" rIns="0" bIns="0" rtlCol="0" anchor="ctr"/>
          <a:lstStyle/>
          <a:p>
            <a:pPr indent="0" marL="0">
              <a:buNone/>
            </a:pPr>
            <a:r>
              <a:rPr lang="en-US" sz="900" dirty="0">
                <a:solidFill>
                  <a:srgbClr val="6B7A86"/>
                </a:solidFill>
                <a:latin typeface="Arial" pitchFamily="34" charset="0"/>
                <a:ea typeface="Arial" pitchFamily="34" charset="-122"/>
                <a:cs typeface="Arial" pitchFamily="34" charset="-120"/>
              </a:rPr>
              <a:t>AURA-LIFT  ·  Team Immortal</a:t>
            </a:r>
            <a:endParaRPr lang="en-US" sz="900" dirty="0"/>
          </a:p>
        </p:txBody>
      </p:sp>
      <p:sp>
        <p:nvSpPr>
          <p:cNvPr id="5" name="Text 3"/>
          <p:cNvSpPr txBox="1"/>
          <p:nvPr/>
        </p:nvSpPr>
        <p:spPr>
          <a:xfrm>
            <a:off x="10972800" y="6327648"/>
            <a:ext cx="667512" cy="219456"/>
          </a:xfrm>
          <a:prstGeom prst="rect">
            <a:avLst/>
          </a:prstGeom>
          <a:noFill/>
          <a:ln/>
        </p:spPr>
        <p:txBody>
          <a:bodyPr wrap="square" lIns="0" tIns="0" rIns="0" bIns="0" rtlCol="0" anchor="ctr"/>
          <a:lstStyle/>
          <a:p>
            <a:pPr algn="r" indent="0" marL="0">
              <a:buNone/>
            </a:pPr>
            <a:r>
              <a:rPr lang="en-US" sz="900" dirty="0">
                <a:solidFill>
                  <a:srgbClr val="6B7A86"/>
                </a:solidFill>
                <a:latin typeface="Arial" pitchFamily="34" charset="0"/>
                <a:ea typeface="Arial" pitchFamily="34" charset="-122"/>
                <a:cs typeface="Arial" pitchFamily="34" charset="-120"/>
              </a:rPr>
              <a:t>8</a:t>
            </a:r>
            <a:endParaRPr lang="en-US" sz="900" dirty="0"/>
          </a:p>
        </p:txBody>
      </p:sp>
      <p:sp>
        <p:nvSpPr>
          <p:cNvPr id="6" name="Text 4"/>
          <p:cNvSpPr txBox="1"/>
          <p:nvPr/>
        </p:nvSpPr>
        <p:spPr>
          <a:xfrm>
            <a:off x="548640" y="1143000"/>
            <a:ext cx="11091672" cy="274320"/>
          </a:xfrm>
          <a:prstGeom prst="rect">
            <a:avLst/>
          </a:prstGeom>
          <a:noFill/>
          <a:ln/>
        </p:spPr>
        <p:txBody>
          <a:bodyPr wrap="square" lIns="0" tIns="0" rIns="0" bIns="0" rtlCol="0" anchor="t"/>
          <a:lstStyle/>
          <a:p>
            <a:pPr indent="0" marL="0">
              <a:lnSpc>
                <a:spcPts val="1632"/>
              </a:lnSpc>
              <a:buNone/>
            </a:pPr>
            <a:r>
              <a:rPr lang="en-US" sz="1200" dirty="0">
                <a:solidFill>
                  <a:srgbClr val="5B6B7A"/>
                </a:solidFill>
                <a:latin typeface="Arial" pitchFamily="34" charset="0"/>
                <a:ea typeface="Arial" pitchFamily="34" charset="-122"/>
                <a:cs typeface="Arial" pitchFamily="34" charset="-120"/>
              </a:rPr>
              <a:t>All six faults are detectable from current and voltage. Which of them can be traced to a cause turned out to be the more useful question.</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1672" cy="914400"/>
        </p:xfrm>
        <a:graphic>
          <a:graphicData uri="http://schemas.openxmlformats.org/drawingml/2006/table">
            <a:tbl>
              <a:tblPr/>
              <a:tblGrid>
                <a:gridCol w="3108960"/>
                <a:gridCol w="1828800"/>
                <a:gridCol w="6153912"/>
              </a:tblGrid>
              <a:tr h="352044">
                <a:tc>
                  <a:txBody>
                    <a:bodyPr/>
                    <a:lstStyle/>
                    <a:p>
                      <a:pPr indent="0" marL="0">
                        <a:buNone/>
                      </a:pPr>
                      <a:r>
                        <a:rPr lang="en-US" sz="1100" b="1" dirty="0">
                          <a:solidFill>
                            <a:srgbClr val="FFFFFF"/>
                          </a:solidFill>
                          <a:latin typeface="Arial" pitchFamily="34" charset="0"/>
                          <a:ea typeface="Arial" pitchFamily="34" charset="-122"/>
                          <a:cs typeface="Arial" pitchFamily="34" charset="-120"/>
                        </a:rPr>
                        <a:t>FAULT MODEL</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0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CAUSE IDENTIFIED</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02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THE EVIDENCE SHOWS</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02B"/>
                    </a:solidFill>
                  </a:tcPr>
                </a:tc>
              </a:tr>
              <a:tr h="352044">
                <a:tc>
                  <a:txBody>
                    <a:bodyPr/>
                    <a:lstStyle/>
                    <a:p>
                      <a:pPr indent="0" marL="0">
                        <a:buNone/>
                      </a:pPr>
                      <a:r>
                        <a:rPr lang="en-US" sz="1100" b="1" dirty="0">
                          <a:solidFill>
                            <a:srgbClr val="1A2430"/>
                          </a:solidFill>
                          <a:latin typeface="Arial" pitchFamily="34" charset="0"/>
                          <a:ea typeface="Arial" pitchFamily="34" charset="-122"/>
                          <a:cs typeface="Arial" pitchFamily="34" charset="-120"/>
                        </a:rPr>
                        <a:t>01  Capacitor ageing</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100" b="1" dirty="0">
                          <a:solidFill>
                            <a:srgbClr val="15803D"/>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indent="0" marL="0">
                        <a:buNone/>
                      </a:pPr>
                      <a:r>
                        <a:rPr lang="en-US" sz="1100" dirty="0">
                          <a:solidFill>
                            <a:srgbClr val="33434F"/>
                          </a:solidFill>
                          <a:latin typeface="Arial" pitchFamily="34" charset="0"/>
                          <a:ea typeface="Arial" pitchFamily="34" charset="-122"/>
                          <a:cs typeface="Arial" pitchFamily="34" charset="-120"/>
                        </a:rPr>
                        <a:t>capacitance and ESR act on different parts of the spectrum, so they separate</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r>
              <a:tr h="352044">
                <a:tc>
                  <a:txBody>
                    <a:bodyPr/>
                    <a:lstStyle/>
                    <a:p>
                      <a:pPr indent="0" marL="0">
                        <a:buNone/>
                      </a:pPr>
                      <a:r>
                        <a:rPr lang="en-US" sz="1100" b="1" dirty="0">
                          <a:solidFill>
                            <a:srgbClr val="1A2430"/>
                          </a:solidFill>
                          <a:latin typeface="Arial" pitchFamily="34" charset="0"/>
                          <a:ea typeface="Arial" pitchFamily="34" charset="-122"/>
                          <a:cs typeface="Arial" pitchFamily="34" charset="-120"/>
                        </a:rPr>
                        <a:t>05  DC-bus overvoltage</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100" b="1" dirty="0">
                          <a:solidFill>
                            <a:srgbClr val="15803D"/>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indent="0" marL="0">
                        <a:buNone/>
                      </a:pPr>
                      <a:r>
                        <a:rPr lang="en-US" sz="1100" dirty="0">
                          <a:solidFill>
                            <a:srgbClr val="33434F"/>
                          </a:solidFill>
                          <a:latin typeface="Arial" pitchFamily="34" charset="0"/>
                          <a:ea typeface="Arial" pitchFamily="34" charset="-122"/>
                          <a:cs typeface="Arial" pitchFamily="34" charset="-120"/>
                        </a:rPr>
                        <a:t>supply-side and regeneration-side indicators reverse together</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r>
              <a:tr h="352044">
                <a:tc>
                  <a:txBody>
                    <a:bodyPr/>
                    <a:lstStyle/>
                    <a:p>
                      <a:pPr indent="0" marL="0">
                        <a:buNone/>
                      </a:pPr>
                      <a:r>
                        <a:rPr lang="en-US" sz="1100" b="1" dirty="0">
                          <a:solidFill>
                            <a:srgbClr val="1A2430"/>
                          </a:solidFill>
                          <a:latin typeface="Arial" pitchFamily="34" charset="0"/>
                          <a:ea typeface="Arial" pitchFamily="34" charset="-122"/>
                          <a:cs typeface="Arial" pitchFamily="34" charset="-120"/>
                        </a:rPr>
                        <a:t>03  Rectifier phase loss</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100" b="1" dirty="0">
                          <a:solidFill>
                            <a:srgbClr val="B4530A"/>
                          </a:solidFill>
                          <a:latin typeface="Arial" pitchFamily="34" charset="0"/>
                          <a:ea typeface="Arial" pitchFamily="34" charset="-122"/>
                          <a:cs typeface="Arial" pitchFamily="34" charset="-120"/>
                        </a:rPr>
                        <a:t>PARTLY</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indent="0" marL="0">
                        <a:buNone/>
                      </a:pPr>
                      <a:r>
                        <a:rPr lang="en-US" sz="1100" dirty="0">
                          <a:solidFill>
                            <a:srgbClr val="33434F"/>
                          </a:solidFill>
                          <a:latin typeface="Arial" pitchFamily="34" charset="0"/>
                          <a:ea typeface="Arial" pitchFamily="34" charset="-122"/>
                          <a:cs typeface="Arial" pitchFamily="34" charset="-120"/>
                        </a:rPr>
                        <a:t>a supply unbalance within its own standard overlaps the indicator</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r>
              <a:tr h="352044">
                <a:tc>
                  <a:txBody>
                    <a:bodyPr/>
                    <a:lstStyle/>
                    <a:p>
                      <a:pPr indent="0" marL="0">
                        <a:buNone/>
                      </a:pPr>
                      <a:r>
                        <a:rPr lang="en-US" sz="1100" b="1" dirty="0">
                          <a:solidFill>
                            <a:srgbClr val="1A2430"/>
                          </a:solidFill>
                          <a:latin typeface="Arial" pitchFamily="34" charset="0"/>
                          <a:ea typeface="Arial" pitchFamily="34" charset="-122"/>
                          <a:cs typeface="Arial" pitchFamily="34" charset="-120"/>
                        </a:rPr>
                        <a:t>06  Supply sag</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100" b="1" dirty="0">
                          <a:solidFill>
                            <a:srgbClr val="B4530A"/>
                          </a:solidFill>
                          <a:latin typeface="Arial" pitchFamily="34" charset="0"/>
                          <a:ea typeface="Arial" pitchFamily="34" charset="-122"/>
                          <a:cs typeface="Arial" pitchFamily="34" charset="-120"/>
                        </a:rPr>
                        <a:t>PARTLY</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indent="0" marL="0">
                        <a:buNone/>
                      </a:pPr>
                      <a:r>
                        <a:rPr lang="en-US" sz="1100" dirty="0">
                          <a:solidFill>
                            <a:srgbClr val="33434F"/>
                          </a:solidFill>
                          <a:latin typeface="Arial" pitchFamily="34" charset="0"/>
                          <a:ea typeface="Arial" pitchFamily="34" charset="-122"/>
                          <a:cs typeface="Arial" pitchFamily="34" charset="-120"/>
                        </a:rPr>
                        <a:t>below a critical residual, a deep sag and an interruption become identical</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r>
              <a:tr h="352044">
                <a:tc>
                  <a:txBody>
                    <a:bodyPr/>
                    <a:lstStyle/>
                    <a:p>
                      <a:pPr indent="0" marL="0">
                        <a:buNone/>
                      </a:pPr>
                      <a:r>
                        <a:rPr lang="en-US" sz="1100" b="1" dirty="0">
                          <a:solidFill>
                            <a:srgbClr val="1A2430"/>
                          </a:solidFill>
                          <a:latin typeface="Arial" pitchFamily="34" charset="0"/>
                          <a:ea typeface="Arial" pitchFamily="34" charset="-122"/>
                          <a:cs typeface="Arial" pitchFamily="34" charset="-120"/>
                        </a:rPr>
                        <a:t>02  Inverter switch fault</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100" b="1" dirty="0">
                          <a:solidFill>
                            <a:srgbClr val="B02A20"/>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indent="0" marL="0">
                        <a:buNone/>
                      </a:pPr>
                      <a:r>
                        <a:rPr lang="en-US" sz="1100" dirty="0">
                          <a:solidFill>
                            <a:srgbClr val="33434F"/>
                          </a:solidFill>
                          <a:latin typeface="Arial" pitchFamily="34" charset="0"/>
                          <a:ea typeface="Arial" pitchFamily="34" charset="-122"/>
                          <a:cs typeface="Arial" pitchFamily="34" charset="-120"/>
                        </a:rPr>
                        <a:t>a failed device and a dead gate driver produce the same signature</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r>
              <a:tr h="352044">
                <a:tc>
                  <a:txBody>
                    <a:bodyPr/>
                    <a:lstStyle/>
                    <a:p>
                      <a:pPr indent="0" marL="0">
                        <a:buNone/>
                      </a:pPr>
                      <a:r>
                        <a:rPr lang="en-US" sz="1100" b="1" dirty="0">
                          <a:solidFill>
                            <a:srgbClr val="1A2430"/>
                          </a:solidFill>
                          <a:latin typeface="Arial" pitchFamily="34" charset="0"/>
                          <a:ea typeface="Arial" pitchFamily="34" charset="-122"/>
                          <a:cs typeface="Arial" pitchFamily="34" charset="-120"/>
                        </a:rPr>
                        <a:t>04  Overcurrent</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100" b="1" dirty="0">
                          <a:solidFill>
                            <a:srgbClr val="B02A20"/>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c>
                  <a:txBody>
                    <a:bodyPr/>
                    <a:lstStyle/>
                    <a:p>
                      <a:pPr indent="0" marL="0">
                        <a:buNone/>
                      </a:pPr>
                      <a:r>
                        <a:rPr lang="en-US" sz="1100" dirty="0">
                          <a:solidFill>
                            <a:srgbClr val="33434F"/>
                          </a:solidFill>
                          <a:latin typeface="Arial" pitchFamily="34" charset="0"/>
                          <a:ea typeface="Arial" pitchFamily="34" charset="-122"/>
                          <a:cs typeface="Arial" pitchFamily="34" charset="-120"/>
                        </a:rPr>
                        <a:t>manufacturer manuals list eight causes behind the one fault code</a:t>
                      </a:r>
                      <a:endParaRPr lang="en-US" sz="1100" dirty="0">
                        <a:latin typeface="Arial" charset="0"/>
                        <a:ea typeface="Arial" charset="0"/>
                        <a:cs typeface="Arial" charset="0"/>
                      </a:endParaRPr>
                    </a:p>
                  </a:txBody>
                  <a:tcPr marL="128016" marR="128016"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5F7"/>
                    </a:solidFill>
                  </a:tcPr>
                </a:tc>
              </a:tr>
            </a:tbl>
          </a:graphicData>
        </a:graphic>
      </p:graphicFrame>
      <p:sp>
        <p:nvSpPr>
          <p:cNvPr id="8" name="Shape 5"/>
          <p:cNvSpPr/>
          <p:nvPr/>
        </p:nvSpPr>
        <p:spPr>
          <a:xfrm>
            <a:off x="548640" y="4297680"/>
            <a:ext cx="3538728" cy="1920240"/>
          </a:xfrm>
          <a:prstGeom prst="roundRect">
            <a:avLst>
              <a:gd name="adj" fmla="val 3333"/>
            </a:avLst>
          </a:prstGeom>
          <a:solidFill>
            <a:srgbClr val="E2F1F2"/>
          </a:solidFill>
          <a:ln w="12700">
            <a:solidFill>
              <a:srgbClr val="B9DEE1"/>
            </a:solidFill>
            <a:prstDash val="solid"/>
          </a:ln>
          <a:effectLst>
            <a:outerShdw sx="100000" sy="100000" kx="0" ky="0" algn="bl" rotWithShape="0" blurRad="88900" dist="25400" dir="5400000">
              <a:srgbClr val="AEBDC7">
                <a:alpha val="22000"/>
              </a:srgbClr>
            </a:outerShdw>
          </a:effectLst>
        </p:spPr>
      </p:sp>
      <p:sp>
        <p:nvSpPr>
          <p:cNvPr id="9" name="Text 6"/>
          <p:cNvSpPr txBox="1"/>
          <p:nvPr/>
        </p:nvSpPr>
        <p:spPr>
          <a:xfrm>
            <a:off x="804672" y="4462272"/>
            <a:ext cx="3108960" cy="237744"/>
          </a:xfrm>
          <a:prstGeom prst="rect">
            <a:avLst/>
          </a:prstGeom>
          <a:noFill/>
          <a:ln/>
        </p:spPr>
        <p:txBody>
          <a:bodyPr wrap="square" lIns="0" tIns="0" rIns="0" bIns="0" rtlCol="0" anchor="t"/>
          <a:lstStyle/>
          <a:p>
            <a:pPr indent="0" marL="0">
              <a:buNone/>
            </a:pPr>
            <a:r>
              <a:rPr lang="en-US" sz="1300" b="1" spc="50" kern="0" dirty="0">
                <a:solidFill>
                  <a:srgbClr val="0E7C86"/>
                </a:solidFill>
                <a:latin typeface="Arial" pitchFamily="34" charset="0"/>
                <a:ea typeface="Arial" pitchFamily="34" charset="-122"/>
                <a:cs typeface="Arial" pitchFamily="34" charset="-120"/>
              </a:rPr>
              <a:t>WE CHECKED OUR MODELS</a:t>
            </a:r>
            <a:endParaRPr lang="en-US" sz="1300" dirty="0"/>
          </a:p>
        </p:txBody>
      </p:sp>
      <p:sp>
        <p:nvSpPr>
          <p:cNvPr id="10" name="Text 7"/>
          <p:cNvSpPr txBox="1"/>
          <p:nvPr/>
        </p:nvSpPr>
        <p:spPr>
          <a:xfrm>
            <a:off x="804672" y="4754880"/>
            <a:ext cx="3063240" cy="1371600"/>
          </a:xfrm>
          <a:prstGeom prst="rect">
            <a:avLst/>
          </a:prstGeom>
          <a:noFill/>
          <a:ln/>
        </p:spPr>
        <p:txBody>
          <a:bodyPr wrap="square" lIns="0" tIns="0" rIns="0" bIns="0" rtlCol="0" anchor="t"/>
          <a:lstStyle/>
          <a:p>
            <a:pPr marL="177800" indent="-177800">
              <a:lnSpc>
                <a:spcPts val="1380"/>
              </a:lnSpc>
              <a:spcAft>
                <a:spcPts val="600"/>
              </a:spcAft>
              <a:buSzPct val="100000"/>
              <a:buChar char="•"/>
            </a:pPr>
            <a:r>
              <a:rPr lang="en-US" sz="1000" dirty="0">
                <a:solidFill>
                  <a:srgbClr val="1A2430"/>
                </a:solidFill>
                <a:latin typeface="Arial" pitchFamily="34" charset="0"/>
                <a:ea typeface="Arial" pitchFamily="34" charset="-122"/>
                <a:cs typeface="Arial" pitchFamily="34" charset="-120"/>
              </a:rPr>
              <a:t>Three published manufacturer worked examples reproduced exactly</a:t>
            </a:r>
            <a:endParaRPr lang="en-US" sz="1000" dirty="0"/>
          </a:p>
          <a:p>
            <a:pPr marL="177800" indent="-177800">
              <a:lnSpc>
                <a:spcPts val="1380"/>
              </a:lnSpc>
              <a:spcAft>
                <a:spcPts val="600"/>
              </a:spcAft>
              <a:buSzPct val="100000"/>
              <a:buChar char="•"/>
            </a:pPr>
            <a:r>
              <a:rPr lang="en-US" sz="1000" dirty="0">
                <a:solidFill>
                  <a:srgbClr val="1A2430"/>
                </a:solidFill>
                <a:latin typeface="Arial" pitchFamily="34" charset="0"/>
                <a:ea typeface="Arial" pitchFamily="34" charset="-122"/>
                <a:cs typeface="Arial" pitchFamily="34" charset="-120"/>
              </a:rPr>
              <a:t>Protection levels cross-checked across four manufacturers</a:t>
            </a:r>
            <a:endParaRPr lang="en-US" sz="1000" dirty="0"/>
          </a:p>
          <a:p>
            <a:pPr marL="177800" indent="-177800">
              <a:lnSpc>
                <a:spcPts val="1380"/>
              </a:lnSpc>
              <a:spcAft>
                <a:spcPts val="600"/>
              </a:spcAft>
              <a:buSzPct val="100000"/>
              <a:buChar char="•"/>
            </a:pPr>
            <a:r>
              <a:rPr lang="en-US" sz="1000" dirty="0">
                <a:solidFill>
                  <a:srgbClr val="1A2430"/>
                </a:solidFill>
                <a:latin typeface="Arial" pitchFamily="34" charset="0"/>
                <a:ea typeface="Arial" pitchFamily="34" charset="-122"/>
                <a:cs typeface="Arial" pitchFamily="34" charset="-120"/>
              </a:rPr>
              <a:t>Four arithmetic errors found in the published sources</a:t>
            </a:r>
            <a:endParaRPr lang="en-US" sz="1000" dirty="0"/>
          </a:p>
        </p:txBody>
      </p:sp>
      <p:sp>
        <p:nvSpPr>
          <p:cNvPr id="11" name="Shape 8"/>
          <p:cNvSpPr/>
          <p:nvPr/>
        </p:nvSpPr>
        <p:spPr>
          <a:xfrm>
            <a:off x="4325112" y="4297680"/>
            <a:ext cx="3538728" cy="1920240"/>
          </a:xfrm>
          <a:prstGeom prst="roundRect">
            <a:avLst>
              <a:gd name="adj" fmla="val 3333"/>
            </a:avLst>
          </a:prstGeom>
          <a:solidFill>
            <a:srgbClr val="FBEEE2"/>
          </a:solidFill>
          <a:ln w="12700">
            <a:solidFill>
              <a:srgbClr val="EED6BE"/>
            </a:solidFill>
            <a:prstDash val="solid"/>
          </a:ln>
          <a:effectLst>
            <a:outerShdw sx="100000" sy="100000" kx="0" ky="0" algn="bl" rotWithShape="0" blurRad="88900" dist="25400" dir="5400000">
              <a:srgbClr val="AEBDC7">
                <a:alpha val="22000"/>
              </a:srgbClr>
            </a:outerShdw>
          </a:effectLst>
        </p:spPr>
      </p:sp>
      <p:sp>
        <p:nvSpPr>
          <p:cNvPr id="12" name="Text 9"/>
          <p:cNvSpPr txBox="1"/>
          <p:nvPr/>
        </p:nvSpPr>
        <p:spPr>
          <a:xfrm>
            <a:off x="4581144" y="4462272"/>
            <a:ext cx="3108960" cy="237744"/>
          </a:xfrm>
          <a:prstGeom prst="rect">
            <a:avLst/>
          </a:prstGeom>
          <a:noFill/>
          <a:ln/>
        </p:spPr>
        <p:txBody>
          <a:bodyPr wrap="square" lIns="0" tIns="0" rIns="0" bIns="0" rtlCol="0" anchor="t"/>
          <a:lstStyle/>
          <a:p>
            <a:pPr indent="0" marL="0">
              <a:buNone/>
            </a:pPr>
            <a:r>
              <a:rPr lang="en-US" sz="1300" b="1" spc="50" kern="0" dirty="0">
                <a:solidFill>
                  <a:srgbClr val="B4530A"/>
                </a:solidFill>
                <a:latin typeface="Arial" pitchFamily="34" charset="0"/>
                <a:ea typeface="Arial" pitchFamily="34" charset="-122"/>
                <a:cs typeface="Arial" pitchFamily="34" charset="-120"/>
              </a:rPr>
              <a:t>AND FOUND SOMETHING ELSE</a:t>
            </a:r>
            <a:endParaRPr lang="en-US" sz="1300" dirty="0"/>
          </a:p>
        </p:txBody>
      </p:sp>
      <p:sp>
        <p:nvSpPr>
          <p:cNvPr id="13" name="Text 10"/>
          <p:cNvSpPr txBox="1"/>
          <p:nvPr/>
        </p:nvSpPr>
        <p:spPr>
          <a:xfrm>
            <a:off x="4581144" y="4754880"/>
            <a:ext cx="3063240" cy="1371600"/>
          </a:xfrm>
          <a:prstGeom prst="rect">
            <a:avLst/>
          </a:prstGeom>
          <a:noFill/>
          <a:ln/>
        </p:spPr>
        <p:txBody>
          <a:bodyPr wrap="square" lIns="0" tIns="0" rIns="0" bIns="0" rtlCol="0" anchor="t"/>
          <a:lstStyle/>
          <a:p>
            <a:pPr indent="0" marL="0">
              <a:lnSpc>
                <a:spcPts val="1360"/>
              </a:lnSpc>
              <a:buNone/>
            </a:pPr>
            <a:r>
              <a:rPr lang="en-US" sz="1000" dirty="0">
                <a:solidFill>
                  <a:srgbClr val="1A2430"/>
                </a:solidFill>
                <a:latin typeface="Arial" pitchFamily="34" charset="0"/>
                <a:ea typeface="Arial" pitchFamily="34" charset="-122"/>
                <a:cs typeface="Arial" pitchFamily="34" charset="-120"/>
              </a:rPr>
              <a:t>Protection thresholds are not uniformly published. Bus overvoltage and undervoltage limits appear in four manuals out of five, but an overcurrent trip level in only one, and a ripple threshold for phase loss in none at all.</a:t>
            </a:r>
            <a:endParaRPr lang="en-US" sz="1000" dirty="0"/>
          </a:p>
        </p:txBody>
      </p:sp>
      <p:sp>
        <p:nvSpPr>
          <p:cNvPr id="14" name="Shape 11"/>
          <p:cNvSpPr/>
          <p:nvPr/>
        </p:nvSpPr>
        <p:spPr>
          <a:xfrm>
            <a:off x="8101584" y="4297680"/>
            <a:ext cx="3538728" cy="1920240"/>
          </a:xfrm>
          <a:prstGeom prst="roundRect">
            <a:avLst>
              <a:gd name="adj" fmla="val 3333"/>
            </a:avLst>
          </a:prstGeom>
          <a:solidFill>
            <a:srgbClr val="16202B"/>
          </a:solidFill>
          <a:ln w="12700">
            <a:solidFill>
              <a:srgbClr val="16202B"/>
            </a:solidFill>
            <a:prstDash val="solid"/>
          </a:ln>
          <a:effectLst>
            <a:outerShdw sx="100000" sy="100000" kx="0" ky="0" algn="bl" rotWithShape="0" blurRad="88900" dist="25400" dir="5400000">
              <a:srgbClr val="AEBDC7">
                <a:alpha val="22000"/>
              </a:srgbClr>
            </a:outerShdw>
          </a:effectLst>
        </p:spPr>
      </p:sp>
      <p:sp>
        <p:nvSpPr>
          <p:cNvPr id="15" name="Text 12"/>
          <p:cNvSpPr txBox="1"/>
          <p:nvPr/>
        </p:nvSpPr>
        <p:spPr>
          <a:xfrm>
            <a:off x="8357616" y="4462272"/>
            <a:ext cx="306324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Why the map is the result</a:t>
            </a:r>
            <a:endParaRPr lang="en-US" sz="1300" dirty="0"/>
          </a:p>
        </p:txBody>
      </p:sp>
      <p:sp>
        <p:nvSpPr>
          <p:cNvPr id="16" name="Text 13"/>
          <p:cNvSpPr txBox="1"/>
          <p:nvPr/>
        </p:nvSpPr>
        <p:spPr>
          <a:xfrm>
            <a:off x="8357616" y="4791456"/>
            <a:ext cx="3063240" cy="1298448"/>
          </a:xfrm>
          <a:prstGeom prst="rect">
            <a:avLst/>
          </a:prstGeom>
          <a:noFill/>
          <a:ln/>
        </p:spPr>
        <p:txBody>
          <a:bodyPr wrap="square" lIns="0" tIns="0" rIns="0" bIns="0" rtlCol="0" anchor="t"/>
          <a:lstStyle/>
          <a:p>
            <a:pPr indent="0" marL="0">
              <a:lnSpc>
                <a:spcPts val="1450"/>
              </a:lnSpc>
              <a:buNone/>
            </a:pPr>
            <a:r>
              <a:rPr lang="en-US" sz="1050" dirty="0">
                <a:solidFill>
                  <a:srgbClr val="A9BAC6"/>
                </a:solidFill>
                <a:latin typeface="Arial" pitchFamily="34" charset="0"/>
                <a:ea typeface="Arial" pitchFamily="34" charset="-122"/>
                <a:cs typeface="Arial" pitchFamily="34" charset="-120"/>
              </a:rPr>
              <a:t>A monitor claiming six of six invites one counter-example and loses the room. Showing exactly where each fault’s evidence stops is what makes the other two trustworthy.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19456"/>
          </a:xfrm>
          <a:prstGeom prst="rect">
            <a:avLst/>
          </a:prstGeom>
          <a:noFill/>
          <a:ln/>
        </p:spPr>
        <p:txBody>
          <a:bodyPr wrap="square" lIns="0" tIns="0" rIns="0" bIns="0" rtlCol="0" anchor="t"/>
          <a:lstStyle/>
          <a:p>
            <a:pPr indent="0" marL="0">
              <a:buNone/>
            </a:pPr>
            <a:r>
              <a:rPr lang="en-US" sz="1050" b="1" spc="140" kern="0" dirty="0">
                <a:solidFill>
                  <a:srgbClr val="0E7C86"/>
                </a:solidFill>
                <a:latin typeface="Arial" pitchFamily="34" charset="0"/>
                <a:ea typeface="Arial" pitchFamily="34" charset="-122"/>
                <a:cs typeface="Arial" pitchFamily="34" charset="-120"/>
              </a:rPr>
              <a:t>WHY IT MATTERS</a:t>
            </a:r>
            <a:endParaRPr lang="en-US" sz="1050" dirty="0"/>
          </a:p>
        </p:txBody>
      </p:sp>
      <p:sp>
        <p:nvSpPr>
          <p:cNvPr id="3" name="Text 1"/>
          <p:cNvSpPr txBox="1"/>
          <p:nvPr/>
        </p:nvSpPr>
        <p:spPr>
          <a:xfrm>
            <a:off x="548640" y="566928"/>
            <a:ext cx="11064240" cy="512064"/>
          </a:xfrm>
          <a:prstGeom prst="rect">
            <a:avLst/>
          </a:prstGeom>
          <a:noFill/>
          <a:ln/>
        </p:spPr>
        <p:txBody>
          <a:bodyPr wrap="square" lIns="0" tIns="0" rIns="0" bIns="0" rtlCol="0" anchor="t"/>
          <a:lstStyle/>
          <a:p>
            <a:pPr indent="0" marL="0">
              <a:buNone/>
            </a:pPr>
            <a:r>
              <a:rPr lang="en-US" sz="2900" b="1" dirty="0">
                <a:solidFill>
                  <a:srgbClr val="1A2430"/>
                </a:solidFill>
                <a:latin typeface="Arial" pitchFamily="34" charset="0"/>
                <a:ea typeface="Arial" pitchFamily="34" charset="-122"/>
                <a:cs typeface="Arial" pitchFamily="34" charset="-120"/>
              </a:rPr>
              <a:t>Where this leads</a:t>
            </a:r>
            <a:endParaRPr lang="en-US" sz="2900" dirty="0"/>
          </a:p>
        </p:txBody>
      </p:sp>
      <p:sp>
        <p:nvSpPr>
          <p:cNvPr id="4" name="Text 2"/>
          <p:cNvSpPr txBox="1"/>
          <p:nvPr/>
        </p:nvSpPr>
        <p:spPr>
          <a:xfrm>
            <a:off x="548640" y="6327648"/>
            <a:ext cx="5486400" cy="219456"/>
          </a:xfrm>
          <a:prstGeom prst="rect">
            <a:avLst/>
          </a:prstGeom>
          <a:noFill/>
          <a:ln/>
        </p:spPr>
        <p:txBody>
          <a:bodyPr wrap="square" lIns="0" tIns="0" rIns="0" bIns="0" rtlCol="0" anchor="ctr"/>
          <a:lstStyle/>
          <a:p>
            <a:pPr indent="0" marL="0">
              <a:buNone/>
            </a:pPr>
            <a:r>
              <a:rPr lang="en-US" sz="900" dirty="0">
                <a:solidFill>
                  <a:srgbClr val="6B7A86"/>
                </a:solidFill>
                <a:latin typeface="Arial" pitchFamily="34" charset="0"/>
                <a:ea typeface="Arial" pitchFamily="34" charset="-122"/>
                <a:cs typeface="Arial" pitchFamily="34" charset="-120"/>
              </a:rPr>
              <a:t>AURA-LIFT  ·  Team Immortal</a:t>
            </a:r>
            <a:endParaRPr lang="en-US" sz="900" dirty="0"/>
          </a:p>
        </p:txBody>
      </p:sp>
      <p:sp>
        <p:nvSpPr>
          <p:cNvPr id="5" name="Text 3"/>
          <p:cNvSpPr txBox="1"/>
          <p:nvPr/>
        </p:nvSpPr>
        <p:spPr>
          <a:xfrm>
            <a:off x="10972800" y="6327648"/>
            <a:ext cx="667512" cy="219456"/>
          </a:xfrm>
          <a:prstGeom prst="rect">
            <a:avLst/>
          </a:prstGeom>
          <a:noFill/>
          <a:ln/>
        </p:spPr>
        <p:txBody>
          <a:bodyPr wrap="square" lIns="0" tIns="0" rIns="0" bIns="0" rtlCol="0" anchor="ctr"/>
          <a:lstStyle/>
          <a:p>
            <a:pPr algn="r" indent="0" marL="0">
              <a:buNone/>
            </a:pPr>
            <a:r>
              <a:rPr lang="en-US" sz="900" dirty="0">
                <a:solidFill>
                  <a:srgbClr val="6B7A86"/>
                </a:solidFill>
                <a:latin typeface="Arial" pitchFamily="34" charset="0"/>
                <a:ea typeface="Arial" pitchFamily="34" charset="-122"/>
                <a:cs typeface="Arial" pitchFamily="34" charset="-120"/>
              </a:rPr>
              <a:t>9</a:t>
            </a:r>
            <a:endParaRPr lang="en-US" sz="900" dirty="0"/>
          </a:p>
        </p:txBody>
      </p:sp>
      <p:sp>
        <p:nvSpPr>
          <p:cNvPr id="6" name="Text 4"/>
          <p:cNvSpPr txBox="1"/>
          <p:nvPr/>
        </p:nvSpPr>
        <p:spPr>
          <a:xfrm>
            <a:off x="548640" y="1143000"/>
            <a:ext cx="11091672" cy="274320"/>
          </a:xfrm>
          <a:prstGeom prst="rect">
            <a:avLst/>
          </a:prstGeom>
          <a:noFill/>
          <a:ln/>
        </p:spPr>
        <p:txBody>
          <a:bodyPr wrap="square" lIns="0" tIns="0" rIns="0" bIns="0" rtlCol="0" anchor="t"/>
          <a:lstStyle/>
          <a:p>
            <a:pPr indent="0" marL="0">
              <a:lnSpc>
                <a:spcPts val="1632"/>
              </a:lnSpc>
              <a:buNone/>
            </a:pPr>
            <a:r>
              <a:rPr lang="en-US" sz="1200" dirty="0">
                <a:solidFill>
                  <a:srgbClr val="5B6B7A"/>
                </a:solidFill>
                <a:latin typeface="Arial" pitchFamily="34" charset="0"/>
                <a:ea typeface="Arial" pitchFamily="34" charset="-122"/>
                <a:cs typeface="Arial" pitchFamily="34" charset="-120"/>
              </a:rPr>
              <a:t>The value of a diagnostic built only on current and voltage is that it needs nothing added to the machine.</a:t>
            </a:r>
            <a:endParaRPr lang="en-US" sz="1200" dirty="0"/>
          </a:p>
        </p:txBody>
      </p:sp>
      <p:sp>
        <p:nvSpPr>
          <p:cNvPr id="7" name="Shape 5"/>
          <p:cNvSpPr/>
          <p:nvPr/>
        </p:nvSpPr>
        <p:spPr>
          <a:xfrm>
            <a:off x="548640" y="1554480"/>
            <a:ext cx="3575304" cy="1700784"/>
          </a:xfrm>
          <a:prstGeom prst="roundRect">
            <a:avLst>
              <a:gd name="adj" fmla="val 3763"/>
            </a:avLst>
          </a:prstGeom>
          <a:solidFill>
            <a:srgbClr val="E2F1F2"/>
          </a:solidFill>
          <a:ln w="12700">
            <a:solidFill>
              <a:srgbClr val="B9DEE1"/>
            </a:solidFill>
            <a:prstDash val="solid"/>
          </a:ln>
          <a:effectLst>
            <a:outerShdw sx="100000" sy="100000" kx="0" ky="0" algn="bl" rotWithShape="0" blurRad="88900" dist="25400" dir="5400000">
              <a:srgbClr val="AEBDC7">
                <a:alpha val="22000"/>
              </a:srgbClr>
            </a:outerShdw>
          </a:effectLst>
        </p:spPr>
      </p:sp>
      <p:sp>
        <p:nvSpPr>
          <p:cNvPr id="8" name="Text 6"/>
          <p:cNvSpPr txBox="1"/>
          <p:nvPr/>
        </p:nvSpPr>
        <p:spPr>
          <a:xfrm>
            <a:off x="768096" y="1737360"/>
            <a:ext cx="3154680" cy="274320"/>
          </a:xfrm>
          <a:prstGeom prst="rect">
            <a:avLst/>
          </a:prstGeom>
          <a:noFill/>
          <a:ln/>
        </p:spPr>
        <p:txBody>
          <a:bodyPr wrap="square" lIns="0" tIns="0" rIns="0" bIns="0" rtlCol="0" anchor="t"/>
          <a:lstStyle/>
          <a:p>
            <a:pPr indent="0" marL="0">
              <a:buNone/>
            </a:pPr>
            <a:r>
              <a:rPr lang="en-US" sz="1300" b="1" dirty="0">
                <a:solidFill>
                  <a:srgbClr val="0E7C86"/>
                </a:solidFill>
                <a:latin typeface="Arial" pitchFamily="34" charset="0"/>
                <a:ea typeface="Arial" pitchFamily="34" charset="-122"/>
                <a:cs typeface="Arial" pitchFamily="34" charset="-120"/>
              </a:rPr>
              <a:t>For the technician</a:t>
            </a:r>
            <a:endParaRPr lang="en-US" sz="1300" dirty="0"/>
          </a:p>
        </p:txBody>
      </p:sp>
      <p:sp>
        <p:nvSpPr>
          <p:cNvPr id="9" name="Text 7"/>
          <p:cNvSpPr txBox="1"/>
          <p:nvPr/>
        </p:nvSpPr>
        <p:spPr>
          <a:xfrm>
            <a:off x="768096" y="2066544"/>
            <a:ext cx="3154680" cy="1060704"/>
          </a:xfrm>
          <a:prstGeom prst="rect">
            <a:avLst/>
          </a:prstGeom>
          <a:noFill/>
          <a:ln/>
        </p:spPr>
        <p:txBody>
          <a:bodyPr wrap="square" lIns="0" tIns="0" rIns="0" bIns="0" rtlCol="0" anchor="t"/>
          <a:lstStyle/>
          <a:p>
            <a:pPr indent="0" marL="0">
              <a:lnSpc>
                <a:spcPts val="1428"/>
              </a:lnSpc>
              <a:buNone/>
            </a:pPr>
            <a:r>
              <a:rPr lang="en-US" sz="1050" dirty="0">
                <a:solidFill>
                  <a:srgbClr val="1A2430"/>
                </a:solidFill>
                <a:latin typeface="Arial" pitchFamily="34" charset="0"/>
                <a:ea typeface="Arial" pitchFamily="34" charset="-122"/>
                <a:cs typeface="Arial" pitchFamily="34" charset="-120"/>
              </a:rPr>
              <a:t>Arrives with a named subsystem and the evidence behind it, instead of a fault code with several possible causes and a process of substitution.</a:t>
            </a:r>
            <a:endParaRPr lang="en-US" sz="1050" dirty="0"/>
          </a:p>
        </p:txBody>
      </p:sp>
      <p:sp>
        <p:nvSpPr>
          <p:cNvPr id="10" name="Shape 8"/>
          <p:cNvSpPr/>
          <p:nvPr/>
        </p:nvSpPr>
        <p:spPr>
          <a:xfrm>
            <a:off x="4306824" y="1554480"/>
            <a:ext cx="3575304" cy="1700784"/>
          </a:xfrm>
          <a:prstGeom prst="roundRect">
            <a:avLst>
              <a:gd name="adj" fmla="val 3763"/>
            </a:avLst>
          </a:prstGeom>
          <a:solidFill>
            <a:srgbClr val="E2F1F2"/>
          </a:solidFill>
          <a:ln w="12700">
            <a:solidFill>
              <a:srgbClr val="B9DEE1"/>
            </a:solidFill>
            <a:prstDash val="solid"/>
          </a:ln>
          <a:effectLst>
            <a:outerShdw sx="100000" sy="100000" kx="0" ky="0" algn="bl" rotWithShape="0" blurRad="88900" dist="25400" dir="5400000">
              <a:srgbClr val="AEBDC7">
                <a:alpha val="22000"/>
              </a:srgbClr>
            </a:outerShdw>
          </a:effectLst>
        </p:spPr>
      </p:sp>
      <p:sp>
        <p:nvSpPr>
          <p:cNvPr id="11" name="Text 9"/>
          <p:cNvSpPr txBox="1"/>
          <p:nvPr/>
        </p:nvSpPr>
        <p:spPr>
          <a:xfrm>
            <a:off x="4526280" y="1737360"/>
            <a:ext cx="3154680" cy="274320"/>
          </a:xfrm>
          <a:prstGeom prst="rect">
            <a:avLst/>
          </a:prstGeom>
          <a:noFill/>
          <a:ln/>
        </p:spPr>
        <p:txBody>
          <a:bodyPr wrap="square" lIns="0" tIns="0" rIns="0" bIns="0" rtlCol="0" anchor="t"/>
          <a:lstStyle/>
          <a:p>
            <a:pPr indent="0" marL="0">
              <a:buNone/>
            </a:pPr>
            <a:r>
              <a:rPr lang="en-US" sz="1300" b="1" dirty="0">
                <a:solidFill>
                  <a:srgbClr val="0E7C86"/>
                </a:solidFill>
                <a:latin typeface="Arial" pitchFamily="34" charset="0"/>
                <a:ea typeface="Arial" pitchFamily="34" charset="-122"/>
                <a:cs typeface="Arial" pitchFamily="34" charset="-120"/>
              </a:rPr>
              <a:t>For maintenance planning</a:t>
            </a:r>
            <a:endParaRPr lang="en-US" sz="1300" dirty="0"/>
          </a:p>
        </p:txBody>
      </p:sp>
      <p:sp>
        <p:nvSpPr>
          <p:cNvPr id="12" name="Text 10"/>
          <p:cNvSpPr txBox="1"/>
          <p:nvPr/>
        </p:nvSpPr>
        <p:spPr>
          <a:xfrm>
            <a:off x="4526280" y="2066544"/>
            <a:ext cx="3154680" cy="1060704"/>
          </a:xfrm>
          <a:prstGeom prst="rect">
            <a:avLst/>
          </a:prstGeom>
          <a:noFill/>
          <a:ln/>
        </p:spPr>
        <p:txBody>
          <a:bodyPr wrap="square" lIns="0" tIns="0" rIns="0" bIns="0" rtlCol="0" anchor="t"/>
          <a:lstStyle/>
          <a:p>
            <a:pPr indent="0" marL="0">
              <a:lnSpc>
                <a:spcPts val="1428"/>
              </a:lnSpc>
              <a:buNone/>
            </a:pPr>
            <a:r>
              <a:rPr lang="en-US" sz="1050" dirty="0">
                <a:solidFill>
                  <a:srgbClr val="1A2430"/>
                </a:solidFill>
                <a:latin typeface="Arial" pitchFamily="34" charset="0"/>
                <a:ea typeface="Arial" pitchFamily="34" charset="-122"/>
                <a:cs typeface="Arial" pitchFamily="34" charset="-120"/>
              </a:rPr>
              <a:t>Degradation reported in engineering units against a published limit turns an emergency call-out into a task inside a visit already scheduled.</a:t>
            </a:r>
            <a:endParaRPr lang="en-US" sz="1050" dirty="0"/>
          </a:p>
        </p:txBody>
      </p:sp>
      <p:sp>
        <p:nvSpPr>
          <p:cNvPr id="13" name="Shape 11"/>
          <p:cNvSpPr/>
          <p:nvPr/>
        </p:nvSpPr>
        <p:spPr>
          <a:xfrm>
            <a:off x="8065008" y="1554480"/>
            <a:ext cx="3575304" cy="1700784"/>
          </a:xfrm>
          <a:prstGeom prst="roundRect">
            <a:avLst>
              <a:gd name="adj" fmla="val 3763"/>
            </a:avLst>
          </a:prstGeom>
          <a:solidFill>
            <a:srgbClr val="E2F1F2"/>
          </a:solidFill>
          <a:ln w="12700">
            <a:solidFill>
              <a:srgbClr val="B9DEE1"/>
            </a:solidFill>
            <a:prstDash val="solid"/>
          </a:ln>
          <a:effectLst>
            <a:outerShdw sx="100000" sy="100000" kx="0" ky="0" algn="bl" rotWithShape="0" blurRad="88900" dist="25400" dir="5400000">
              <a:srgbClr val="AEBDC7">
                <a:alpha val="22000"/>
              </a:srgbClr>
            </a:outerShdw>
          </a:effectLst>
        </p:spPr>
      </p:sp>
      <p:sp>
        <p:nvSpPr>
          <p:cNvPr id="14" name="Text 12"/>
          <p:cNvSpPr txBox="1"/>
          <p:nvPr/>
        </p:nvSpPr>
        <p:spPr>
          <a:xfrm>
            <a:off x="8284464" y="1737360"/>
            <a:ext cx="3154680" cy="274320"/>
          </a:xfrm>
          <a:prstGeom prst="rect">
            <a:avLst/>
          </a:prstGeom>
          <a:noFill/>
          <a:ln/>
        </p:spPr>
        <p:txBody>
          <a:bodyPr wrap="square" lIns="0" tIns="0" rIns="0" bIns="0" rtlCol="0" anchor="t"/>
          <a:lstStyle/>
          <a:p>
            <a:pPr indent="0" marL="0">
              <a:buNone/>
            </a:pPr>
            <a:r>
              <a:rPr lang="en-US" sz="1300" b="1" dirty="0">
                <a:solidFill>
                  <a:srgbClr val="0E7C86"/>
                </a:solidFill>
                <a:latin typeface="Arial" pitchFamily="34" charset="0"/>
                <a:ea typeface="Arial" pitchFamily="34" charset="-122"/>
                <a:cs typeface="Arial" pitchFamily="34" charset="-120"/>
              </a:rPr>
              <a:t>For the equipment owner</a:t>
            </a:r>
            <a:endParaRPr lang="en-US" sz="1300" dirty="0"/>
          </a:p>
        </p:txBody>
      </p:sp>
      <p:sp>
        <p:nvSpPr>
          <p:cNvPr id="15" name="Text 13"/>
          <p:cNvSpPr txBox="1"/>
          <p:nvPr/>
        </p:nvSpPr>
        <p:spPr>
          <a:xfrm>
            <a:off x="8284464" y="2066544"/>
            <a:ext cx="3154680" cy="1060704"/>
          </a:xfrm>
          <a:prstGeom prst="rect">
            <a:avLst/>
          </a:prstGeom>
          <a:noFill/>
          <a:ln/>
        </p:spPr>
        <p:txBody>
          <a:bodyPr wrap="square" lIns="0" tIns="0" rIns="0" bIns="0" rtlCol="0" anchor="t"/>
          <a:lstStyle/>
          <a:p>
            <a:pPr indent="0" marL="0">
              <a:lnSpc>
                <a:spcPts val="1428"/>
              </a:lnSpc>
              <a:buNone/>
            </a:pPr>
            <a:r>
              <a:rPr lang="en-US" sz="1050" dirty="0">
                <a:solidFill>
                  <a:srgbClr val="1A2430"/>
                </a:solidFill>
                <a:latin typeface="Arial" pitchFamily="34" charset="0"/>
                <a:ea typeface="Arial" pitchFamily="34" charset="-122"/>
                <a:cs typeface="Arial" pitchFamily="34" charset="-120"/>
              </a:rPr>
              <a:t>It reads signals the drive already produces, so it can reach old and modernised equipment as software rather than as a retrofit.</a:t>
            </a:r>
            <a:endParaRPr lang="en-US" sz="1050" dirty="0"/>
          </a:p>
        </p:txBody>
      </p:sp>
      <p:sp>
        <p:nvSpPr>
          <p:cNvPr id="16" name="Text 14"/>
          <p:cNvSpPr txBox="1"/>
          <p:nvPr/>
        </p:nvSpPr>
        <p:spPr>
          <a:xfrm>
            <a:off x="548640" y="3401568"/>
            <a:ext cx="11091672" cy="237744"/>
          </a:xfrm>
          <a:prstGeom prst="rect">
            <a:avLst/>
          </a:prstGeom>
          <a:noFill/>
          <a:ln/>
        </p:spPr>
        <p:txBody>
          <a:bodyPr wrap="square" lIns="0" tIns="0" rIns="0" bIns="0" rtlCol="0" anchor="t"/>
          <a:lstStyle/>
          <a:p>
            <a:pPr indent="0" marL="0">
              <a:lnSpc>
                <a:spcPts val="1292"/>
              </a:lnSpc>
              <a:buNone/>
            </a:pPr>
            <a:r>
              <a:rPr lang="en-US" sz="950" dirty="0">
                <a:solidFill>
                  <a:srgbClr val="5B6B7A"/>
                </a:solidFill>
                <a:latin typeface="Arial" pitchFamily="34" charset="0"/>
                <a:ea typeface="Arial" pitchFamily="34" charset="-122"/>
                <a:cs typeface="Arial" pitchFamily="34" charset="-120"/>
              </a:rPr>
              <a:t>Stated as mechanisms. We claim no percentage saving — measuring one needs field data we do not have.</a:t>
            </a:r>
            <a:endParaRPr lang="en-US" sz="950" dirty="0"/>
          </a:p>
        </p:txBody>
      </p:sp>
      <p:sp>
        <p:nvSpPr>
          <p:cNvPr id="17" name="Shape 15"/>
          <p:cNvSpPr/>
          <p:nvPr/>
        </p:nvSpPr>
        <p:spPr>
          <a:xfrm>
            <a:off x="548640" y="3785616"/>
            <a:ext cx="2615184" cy="2432304"/>
          </a:xfrm>
          <a:prstGeom prst="roundRect">
            <a:avLst>
              <a:gd name="adj" fmla="val 2632"/>
            </a:avLst>
          </a:prstGeom>
          <a:solidFill>
            <a:srgbClr val="F2F5F7"/>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18" name="Shape 16"/>
          <p:cNvSpPr/>
          <p:nvPr/>
        </p:nvSpPr>
        <p:spPr>
          <a:xfrm>
            <a:off x="768096" y="3968496"/>
            <a:ext cx="896112" cy="237744"/>
          </a:xfrm>
          <a:prstGeom prst="roundRect">
            <a:avLst>
              <a:gd name="adj" fmla="val 50000"/>
            </a:avLst>
          </a:prstGeom>
          <a:solidFill>
            <a:srgbClr val="0E7C86"/>
          </a:solidFill>
          <a:ln/>
        </p:spPr>
      </p:sp>
      <p:sp>
        <p:nvSpPr>
          <p:cNvPr id="19" name="Text 17"/>
          <p:cNvSpPr txBox="1"/>
          <p:nvPr/>
        </p:nvSpPr>
        <p:spPr>
          <a:xfrm>
            <a:off x="768096" y="3968496"/>
            <a:ext cx="896112" cy="237744"/>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Arial" pitchFamily="34" charset="0"/>
                <a:ea typeface="Arial" pitchFamily="34" charset="-122"/>
                <a:cs typeface="Arial" pitchFamily="34" charset="-120"/>
              </a:rPr>
              <a:t>NEXT</a:t>
            </a:r>
            <a:endParaRPr lang="en-US" sz="850" dirty="0"/>
          </a:p>
        </p:txBody>
      </p:sp>
      <p:sp>
        <p:nvSpPr>
          <p:cNvPr id="20" name="Text 18"/>
          <p:cNvSpPr txBox="1"/>
          <p:nvPr/>
        </p:nvSpPr>
        <p:spPr>
          <a:xfrm>
            <a:off x="768096" y="4315968"/>
            <a:ext cx="2240280" cy="274320"/>
          </a:xfrm>
          <a:prstGeom prst="rect">
            <a:avLst/>
          </a:prstGeom>
          <a:noFill/>
          <a:ln/>
        </p:spPr>
        <p:txBody>
          <a:bodyPr wrap="square" lIns="0" tIns="0" rIns="0" bIns="0" rtlCol="0" anchor="t"/>
          <a:lstStyle/>
          <a:p>
            <a:pPr indent="0" marL="0">
              <a:buNone/>
            </a:pPr>
            <a:r>
              <a:rPr lang="en-US" sz="1250" b="1" dirty="0">
                <a:solidFill>
                  <a:srgbClr val="1A2430"/>
                </a:solidFill>
                <a:latin typeface="Arial" pitchFamily="34" charset="0"/>
                <a:ea typeface="Arial" pitchFamily="34" charset="-122"/>
                <a:cs typeface="Arial" pitchFamily="34" charset="-120"/>
              </a:rPr>
              <a:t>Close the loop</a:t>
            </a:r>
            <a:endParaRPr lang="en-US" sz="1250" dirty="0"/>
          </a:p>
        </p:txBody>
      </p:sp>
      <p:sp>
        <p:nvSpPr>
          <p:cNvPr id="21" name="Text 19"/>
          <p:cNvSpPr txBox="1"/>
          <p:nvPr/>
        </p:nvSpPr>
        <p:spPr>
          <a:xfrm>
            <a:off x="768096" y="4645152"/>
            <a:ext cx="2240280" cy="1371600"/>
          </a:xfrm>
          <a:prstGeom prst="rect">
            <a:avLst/>
          </a:prstGeom>
          <a:noFill/>
          <a:ln/>
        </p:spPr>
        <p:txBody>
          <a:bodyPr wrap="square" lIns="0" tIns="0" rIns="0" bIns="0" rtlCol="0" anchor="t"/>
          <a:lstStyle/>
          <a:p>
            <a:pPr indent="0" marL="0">
              <a:lnSpc>
                <a:spcPts val="1292"/>
              </a:lnSpc>
              <a:buNone/>
            </a:pPr>
            <a:r>
              <a:rPr lang="en-US" sz="950" dirty="0">
                <a:solidFill>
                  <a:srgbClr val="1A2430"/>
                </a:solidFill>
                <a:latin typeface="Arial" pitchFamily="34" charset="0"/>
                <a:ea typeface="Arial" pitchFamily="34" charset="-122"/>
                <a:cs typeface="Arial" pitchFamily="34" charset="-120"/>
              </a:rPr>
              <a:t>Inject a real fault on the bench — a degraded capacitor, a disconnected phase — and check whether the measured signature moves the way the model predicts.</a:t>
            </a:r>
            <a:endParaRPr lang="en-US" sz="950" dirty="0"/>
          </a:p>
        </p:txBody>
      </p:sp>
      <p:sp>
        <p:nvSpPr>
          <p:cNvPr id="22" name="Shape 20"/>
          <p:cNvSpPr/>
          <p:nvPr/>
        </p:nvSpPr>
        <p:spPr>
          <a:xfrm>
            <a:off x="3191256" y="5001768"/>
            <a:ext cx="109728" cy="0"/>
          </a:xfrm>
          <a:prstGeom prst="line">
            <a:avLst/>
          </a:prstGeom>
          <a:noFill/>
          <a:ln w="16510">
            <a:solidFill>
              <a:srgbClr val="A8B7C2"/>
            </a:solidFill>
            <a:prstDash val="solid"/>
            <a:tailEnd type="triangle"/>
          </a:ln>
        </p:spPr>
      </p:sp>
      <p:sp>
        <p:nvSpPr>
          <p:cNvPr id="23" name="Shape 21"/>
          <p:cNvSpPr/>
          <p:nvPr/>
        </p:nvSpPr>
        <p:spPr>
          <a:xfrm>
            <a:off x="3374136" y="3785616"/>
            <a:ext cx="2615184" cy="2432304"/>
          </a:xfrm>
          <a:prstGeom prst="roundRect">
            <a:avLst>
              <a:gd name="adj" fmla="val 2632"/>
            </a:avLst>
          </a:prstGeom>
          <a:solidFill>
            <a:srgbClr val="F2F5F7"/>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24" name="Shape 22"/>
          <p:cNvSpPr/>
          <p:nvPr/>
        </p:nvSpPr>
        <p:spPr>
          <a:xfrm>
            <a:off x="3593592" y="3968496"/>
            <a:ext cx="896112" cy="237744"/>
          </a:xfrm>
          <a:prstGeom prst="roundRect">
            <a:avLst>
              <a:gd name="adj" fmla="val 50000"/>
            </a:avLst>
          </a:prstGeom>
          <a:solidFill>
            <a:srgbClr val="0E7C86"/>
          </a:solidFill>
          <a:ln/>
        </p:spPr>
      </p:sp>
      <p:sp>
        <p:nvSpPr>
          <p:cNvPr id="25" name="Text 23"/>
          <p:cNvSpPr txBox="1"/>
          <p:nvPr/>
        </p:nvSpPr>
        <p:spPr>
          <a:xfrm>
            <a:off x="3593592" y="3968496"/>
            <a:ext cx="896112" cy="237744"/>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Arial" pitchFamily="34" charset="0"/>
                <a:ea typeface="Arial" pitchFamily="34" charset="-122"/>
                <a:cs typeface="Arial" pitchFamily="34" charset="-120"/>
              </a:rPr>
              <a:t>THEN</a:t>
            </a:r>
            <a:endParaRPr lang="en-US" sz="850" dirty="0"/>
          </a:p>
        </p:txBody>
      </p:sp>
      <p:sp>
        <p:nvSpPr>
          <p:cNvPr id="26" name="Text 24"/>
          <p:cNvSpPr txBox="1"/>
          <p:nvPr/>
        </p:nvSpPr>
        <p:spPr>
          <a:xfrm>
            <a:off x="3593592" y="4315968"/>
            <a:ext cx="2240280" cy="274320"/>
          </a:xfrm>
          <a:prstGeom prst="rect">
            <a:avLst/>
          </a:prstGeom>
          <a:noFill/>
          <a:ln/>
        </p:spPr>
        <p:txBody>
          <a:bodyPr wrap="square" lIns="0" tIns="0" rIns="0" bIns="0" rtlCol="0" anchor="t"/>
          <a:lstStyle/>
          <a:p>
            <a:pPr indent="0" marL="0">
              <a:buNone/>
            </a:pPr>
            <a:r>
              <a:rPr lang="en-US" sz="1250" b="1" dirty="0">
                <a:solidFill>
                  <a:srgbClr val="1A2430"/>
                </a:solidFill>
                <a:latin typeface="Arial" pitchFamily="34" charset="0"/>
                <a:ea typeface="Arial" pitchFamily="34" charset="-122"/>
                <a:cs typeface="Arial" pitchFamily="34" charset="-120"/>
              </a:rPr>
              <a:t>Attribution layer</a:t>
            </a:r>
            <a:endParaRPr lang="en-US" sz="1250" dirty="0"/>
          </a:p>
        </p:txBody>
      </p:sp>
      <p:sp>
        <p:nvSpPr>
          <p:cNvPr id="27" name="Text 25"/>
          <p:cNvSpPr txBox="1"/>
          <p:nvPr/>
        </p:nvSpPr>
        <p:spPr>
          <a:xfrm>
            <a:off x="3593592" y="4645152"/>
            <a:ext cx="2240280" cy="1371600"/>
          </a:xfrm>
          <a:prstGeom prst="rect">
            <a:avLst/>
          </a:prstGeom>
          <a:noFill/>
          <a:ln/>
        </p:spPr>
        <p:txBody>
          <a:bodyPr wrap="square" lIns="0" tIns="0" rIns="0" bIns="0" rtlCol="0" anchor="t"/>
          <a:lstStyle/>
          <a:p>
            <a:pPr indent="0" marL="0">
              <a:lnSpc>
                <a:spcPts val="1292"/>
              </a:lnSpc>
              <a:buNone/>
            </a:pPr>
            <a:r>
              <a:rPr lang="en-US" sz="950" dirty="0">
                <a:solidFill>
                  <a:srgbClr val="1A2430"/>
                </a:solidFill>
                <a:latin typeface="Arial" pitchFamily="34" charset="0"/>
                <a:ea typeface="Arial" pitchFamily="34" charset="-122"/>
                <a:cs typeface="Arial" pitchFamily="34" charset="-120"/>
              </a:rPr>
              <a:t>Add persistence testing and evidence fusion above the segmentation and UP/DOWN pairing already running, to move from detection to a ranked cause.</a:t>
            </a:r>
            <a:endParaRPr lang="en-US" sz="950" dirty="0"/>
          </a:p>
        </p:txBody>
      </p:sp>
      <p:sp>
        <p:nvSpPr>
          <p:cNvPr id="28" name="Shape 26"/>
          <p:cNvSpPr/>
          <p:nvPr/>
        </p:nvSpPr>
        <p:spPr>
          <a:xfrm>
            <a:off x="6016752" y="5001768"/>
            <a:ext cx="109728" cy="0"/>
          </a:xfrm>
          <a:prstGeom prst="line">
            <a:avLst/>
          </a:prstGeom>
          <a:noFill/>
          <a:ln w="16510">
            <a:solidFill>
              <a:srgbClr val="A8B7C2"/>
            </a:solidFill>
            <a:prstDash val="solid"/>
            <a:tailEnd type="triangle"/>
          </a:ln>
        </p:spPr>
      </p:sp>
      <p:sp>
        <p:nvSpPr>
          <p:cNvPr id="29" name="Shape 27"/>
          <p:cNvSpPr/>
          <p:nvPr/>
        </p:nvSpPr>
        <p:spPr>
          <a:xfrm>
            <a:off x="6199632" y="3785616"/>
            <a:ext cx="2615184" cy="2432304"/>
          </a:xfrm>
          <a:prstGeom prst="roundRect">
            <a:avLst>
              <a:gd name="adj" fmla="val 2632"/>
            </a:avLst>
          </a:prstGeom>
          <a:solidFill>
            <a:srgbClr val="F2F5F7"/>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30" name="Shape 28"/>
          <p:cNvSpPr/>
          <p:nvPr/>
        </p:nvSpPr>
        <p:spPr>
          <a:xfrm>
            <a:off x="6419088" y="3968496"/>
            <a:ext cx="896112" cy="237744"/>
          </a:xfrm>
          <a:prstGeom prst="roundRect">
            <a:avLst>
              <a:gd name="adj" fmla="val 50000"/>
            </a:avLst>
          </a:prstGeom>
          <a:solidFill>
            <a:srgbClr val="5B6B7A"/>
          </a:solidFill>
          <a:ln/>
        </p:spPr>
      </p:sp>
      <p:sp>
        <p:nvSpPr>
          <p:cNvPr id="31" name="Text 29"/>
          <p:cNvSpPr txBox="1"/>
          <p:nvPr/>
        </p:nvSpPr>
        <p:spPr>
          <a:xfrm>
            <a:off x="6419088" y="3968496"/>
            <a:ext cx="896112" cy="237744"/>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Arial" pitchFamily="34" charset="0"/>
                <a:ea typeface="Arial" pitchFamily="34" charset="-122"/>
                <a:cs typeface="Arial" pitchFamily="34" charset="-120"/>
              </a:rPr>
              <a:t>LATER</a:t>
            </a:r>
            <a:endParaRPr lang="en-US" sz="850" dirty="0"/>
          </a:p>
        </p:txBody>
      </p:sp>
      <p:sp>
        <p:nvSpPr>
          <p:cNvPr id="32" name="Text 30"/>
          <p:cNvSpPr txBox="1"/>
          <p:nvPr/>
        </p:nvSpPr>
        <p:spPr>
          <a:xfrm>
            <a:off x="6419088" y="4315968"/>
            <a:ext cx="2240280" cy="274320"/>
          </a:xfrm>
          <a:prstGeom prst="rect">
            <a:avLst/>
          </a:prstGeom>
          <a:noFill/>
          <a:ln/>
        </p:spPr>
        <p:txBody>
          <a:bodyPr wrap="square" lIns="0" tIns="0" rIns="0" bIns="0" rtlCol="0" anchor="t"/>
          <a:lstStyle/>
          <a:p>
            <a:pPr indent="0" marL="0">
              <a:buNone/>
            </a:pPr>
            <a:r>
              <a:rPr lang="en-US" sz="1250" b="1" dirty="0">
                <a:solidFill>
                  <a:srgbClr val="1A2430"/>
                </a:solidFill>
                <a:latin typeface="Arial" pitchFamily="34" charset="0"/>
                <a:ea typeface="Arial" pitchFamily="34" charset="-122"/>
                <a:cs typeface="Arial" pitchFamily="34" charset="-120"/>
              </a:rPr>
              <a:t>Real-drive validation</a:t>
            </a:r>
            <a:endParaRPr lang="en-US" sz="1250" dirty="0"/>
          </a:p>
        </p:txBody>
      </p:sp>
      <p:sp>
        <p:nvSpPr>
          <p:cNvPr id="33" name="Text 31"/>
          <p:cNvSpPr txBox="1"/>
          <p:nvPr/>
        </p:nvSpPr>
        <p:spPr>
          <a:xfrm>
            <a:off x="6419088" y="4645152"/>
            <a:ext cx="2240280" cy="1371600"/>
          </a:xfrm>
          <a:prstGeom prst="rect">
            <a:avLst/>
          </a:prstGeom>
          <a:noFill/>
          <a:ln/>
        </p:spPr>
        <p:txBody>
          <a:bodyPr wrap="square" lIns="0" tIns="0" rIns="0" bIns="0" rtlCol="0" anchor="t"/>
          <a:lstStyle/>
          <a:p>
            <a:pPr indent="0" marL="0">
              <a:lnSpc>
                <a:spcPts val="1292"/>
              </a:lnSpc>
              <a:buNone/>
            </a:pPr>
            <a:r>
              <a:rPr lang="en-US" sz="950" dirty="0">
                <a:solidFill>
                  <a:srgbClr val="1A2430"/>
                </a:solidFill>
                <a:latin typeface="Arial" pitchFamily="34" charset="0"/>
                <a:ea typeface="Arial" pitchFamily="34" charset="-122"/>
                <a:cs typeface="Arial" pitchFamily="34" charset="-120"/>
              </a:rPr>
              <a:t>Logged data from a working drive, the capacitance estimate calibrated against instrument measurement, and a false-alarm rate over a long healthy run.</a:t>
            </a:r>
            <a:endParaRPr lang="en-US" sz="950" dirty="0"/>
          </a:p>
        </p:txBody>
      </p:sp>
      <p:sp>
        <p:nvSpPr>
          <p:cNvPr id="34" name="Shape 32"/>
          <p:cNvSpPr/>
          <p:nvPr/>
        </p:nvSpPr>
        <p:spPr>
          <a:xfrm>
            <a:off x="8842248" y="5001768"/>
            <a:ext cx="109728" cy="0"/>
          </a:xfrm>
          <a:prstGeom prst="line">
            <a:avLst/>
          </a:prstGeom>
          <a:noFill/>
          <a:ln w="16510">
            <a:solidFill>
              <a:srgbClr val="A8B7C2"/>
            </a:solidFill>
            <a:prstDash val="solid"/>
            <a:tailEnd type="triangle"/>
          </a:ln>
        </p:spPr>
      </p:sp>
      <p:sp>
        <p:nvSpPr>
          <p:cNvPr id="35" name="Shape 33"/>
          <p:cNvSpPr/>
          <p:nvPr/>
        </p:nvSpPr>
        <p:spPr>
          <a:xfrm>
            <a:off x="9025128" y="3785616"/>
            <a:ext cx="2615184" cy="2432304"/>
          </a:xfrm>
          <a:prstGeom prst="roundRect">
            <a:avLst>
              <a:gd name="adj" fmla="val 2632"/>
            </a:avLst>
          </a:prstGeom>
          <a:solidFill>
            <a:srgbClr val="F2F5F7"/>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36" name="Shape 34"/>
          <p:cNvSpPr/>
          <p:nvPr/>
        </p:nvSpPr>
        <p:spPr>
          <a:xfrm>
            <a:off x="9244584" y="3968496"/>
            <a:ext cx="896112" cy="237744"/>
          </a:xfrm>
          <a:prstGeom prst="roundRect">
            <a:avLst>
              <a:gd name="adj" fmla="val 50000"/>
            </a:avLst>
          </a:prstGeom>
          <a:solidFill>
            <a:srgbClr val="16202B"/>
          </a:solidFill>
          <a:ln/>
        </p:spPr>
      </p:sp>
      <p:sp>
        <p:nvSpPr>
          <p:cNvPr id="37" name="Text 35"/>
          <p:cNvSpPr txBox="1"/>
          <p:nvPr/>
        </p:nvSpPr>
        <p:spPr>
          <a:xfrm>
            <a:off x="9244584" y="3968496"/>
            <a:ext cx="896112" cy="237744"/>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Arial" pitchFamily="34" charset="0"/>
                <a:ea typeface="Arial" pitchFamily="34" charset="-122"/>
                <a:cs typeface="Arial" pitchFamily="34" charset="-120"/>
              </a:rPr>
              <a:t>GOAL</a:t>
            </a:r>
            <a:endParaRPr lang="en-US" sz="850" dirty="0"/>
          </a:p>
        </p:txBody>
      </p:sp>
      <p:sp>
        <p:nvSpPr>
          <p:cNvPr id="38" name="Text 36"/>
          <p:cNvSpPr txBox="1"/>
          <p:nvPr/>
        </p:nvSpPr>
        <p:spPr>
          <a:xfrm>
            <a:off x="9244584" y="4315968"/>
            <a:ext cx="2240280" cy="274320"/>
          </a:xfrm>
          <a:prstGeom prst="rect">
            <a:avLst/>
          </a:prstGeom>
          <a:noFill/>
          <a:ln/>
        </p:spPr>
        <p:txBody>
          <a:bodyPr wrap="square" lIns="0" tIns="0" rIns="0" bIns="0" rtlCol="0" anchor="t"/>
          <a:lstStyle/>
          <a:p>
            <a:pPr indent="0" marL="0">
              <a:buNone/>
            </a:pPr>
            <a:r>
              <a:rPr lang="en-US" sz="1250" b="1" dirty="0">
                <a:solidFill>
                  <a:srgbClr val="1A2430"/>
                </a:solidFill>
                <a:latin typeface="Arial" pitchFamily="34" charset="0"/>
                <a:ea typeface="Arial" pitchFamily="34" charset="-122"/>
                <a:cs typeface="Arial" pitchFamily="34" charset="-120"/>
              </a:rPr>
              <a:t>Explainable diagnosis</a:t>
            </a:r>
            <a:endParaRPr lang="en-US" sz="1250" dirty="0"/>
          </a:p>
        </p:txBody>
      </p:sp>
      <p:sp>
        <p:nvSpPr>
          <p:cNvPr id="39" name="Text 37"/>
          <p:cNvSpPr txBox="1"/>
          <p:nvPr/>
        </p:nvSpPr>
        <p:spPr>
          <a:xfrm>
            <a:off x="9244584" y="4645152"/>
            <a:ext cx="2240280" cy="1371600"/>
          </a:xfrm>
          <a:prstGeom prst="rect">
            <a:avLst/>
          </a:prstGeom>
          <a:noFill/>
          <a:ln/>
        </p:spPr>
        <p:txBody>
          <a:bodyPr wrap="square" lIns="0" tIns="0" rIns="0" bIns="0" rtlCol="0" anchor="t"/>
          <a:lstStyle/>
          <a:p>
            <a:pPr indent="0" marL="0">
              <a:lnSpc>
                <a:spcPts val="1292"/>
              </a:lnSpc>
              <a:buNone/>
            </a:pPr>
            <a:r>
              <a:rPr lang="en-US" sz="950" dirty="0">
                <a:solidFill>
                  <a:srgbClr val="1A2430"/>
                </a:solidFill>
                <a:latin typeface="Arial" pitchFamily="34" charset="0"/>
                <a:ea typeface="Arial" pitchFamily="34" charset="-122"/>
                <a:cs typeface="Arial" pitchFamily="34" charset="-120"/>
              </a:rPr>
              <a:t>A component-level verdict with the evidence for and against it, delivered from signals the drive already measures.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19456"/>
          </a:xfrm>
          <a:prstGeom prst="rect">
            <a:avLst/>
          </a:prstGeom>
          <a:noFill/>
          <a:ln/>
        </p:spPr>
        <p:txBody>
          <a:bodyPr wrap="square" lIns="0" tIns="0" rIns="0" bIns="0" rtlCol="0" anchor="t"/>
          <a:lstStyle/>
          <a:p>
            <a:pPr indent="0" marL="0">
              <a:buNone/>
            </a:pPr>
            <a:r>
              <a:rPr lang="en-US" sz="1050" b="1" spc="140" kern="0" dirty="0">
                <a:solidFill>
                  <a:srgbClr val="0E7C86"/>
                </a:solidFill>
                <a:latin typeface="Arial" pitchFamily="34" charset="0"/>
                <a:ea typeface="Arial" pitchFamily="34" charset="-122"/>
                <a:cs typeface="Arial" pitchFamily="34" charset="-120"/>
              </a:rPr>
              <a:t>SCOPE</a:t>
            </a:r>
            <a:endParaRPr lang="en-US" sz="1050" dirty="0"/>
          </a:p>
        </p:txBody>
      </p:sp>
      <p:sp>
        <p:nvSpPr>
          <p:cNvPr id="3" name="Text 1"/>
          <p:cNvSpPr txBox="1"/>
          <p:nvPr/>
        </p:nvSpPr>
        <p:spPr>
          <a:xfrm>
            <a:off x="548640" y="566928"/>
            <a:ext cx="11064240" cy="512064"/>
          </a:xfrm>
          <a:prstGeom prst="rect">
            <a:avLst/>
          </a:prstGeom>
          <a:noFill/>
          <a:ln/>
        </p:spPr>
        <p:txBody>
          <a:bodyPr wrap="square" lIns="0" tIns="0" rIns="0" bIns="0" rtlCol="0" anchor="t"/>
          <a:lstStyle/>
          <a:p>
            <a:pPr indent="0" marL="0">
              <a:buNone/>
            </a:pPr>
            <a:r>
              <a:rPr lang="en-US" sz="2900" b="1" dirty="0">
                <a:solidFill>
                  <a:srgbClr val="1A2430"/>
                </a:solidFill>
                <a:latin typeface="Arial" pitchFamily="34" charset="0"/>
                <a:ea typeface="Arial" pitchFamily="34" charset="-122"/>
                <a:cs typeface="Arial" pitchFamily="34" charset="-120"/>
              </a:rPr>
              <a:t>What is proven, and what is not</a:t>
            </a:r>
            <a:endParaRPr lang="en-US" sz="2900" dirty="0"/>
          </a:p>
        </p:txBody>
      </p:sp>
      <p:sp>
        <p:nvSpPr>
          <p:cNvPr id="4" name="Text 2"/>
          <p:cNvSpPr txBox="1"/>
          <p:nvPr/>
        </p:nvSpPr>
        <p:spPr>
          <a:xfrm>
            <a:off x="548640" y="6327648"/>
            <a:ext cx="5486400" cy="219456"/>
          </a:xfrm>
          <a:prstGeom prst="rect">
            <a:avLst/>
          </a:prstGeom>
          <a:noFill/>
          <a:ln/>
        </p:spPr>
        <p:txBody>
          <a:bodyPr wrap="square" lIns="0" tIns="0" rIns="0" bIns="0" rtlCol="0" anchor="ctr"/>
          <a:lstStyle/>
          <a:p>
            <a:pPr indent="0" marL="0">
              <a:buNone/>
            </a:pPr>
            <a:r>
              <a:rPr lang="en-US" sz="900" dirty="0">
                <a:solidFill>
                  <a:srgbClr val="6B7A86"/>
                </a:solidFill>
                <a:latin typeface="Arial" pitchFamily="34" charset="0"/>
                <a:ea typeface="Arial" pitchFamily="34" charset="-122"/>
                <a:cs typeface="Arial" pitchFamily="34" charset="-120"/>
              </a:rPr>
              <a:t>AURA-LIFT  ·  Team Immortal</a:t>
            </a:r>
            <a:endParaRPr lang="en-US" sz="900" dirty="0"/>
          </a:p>
        </p:txBody>
      </p:sp>
      <p:sp>
        <p:nvSpPr>
          <p:cNvPr id="5" name="Text 3"/>
          <p:cNvSpPr txBox="1"/>
          <p:nvPr/>
        </p:nvSpPr>
        <p:spPr>
          <a:xfrm>
            <a:off x="10972800" y="6327648"/>
            <a:ext cx="667512" cy="219456"/>
          </a:xfrm>
          <a:prstGeom prst="rect">
            <a:avLst/>
          </a:prstGeom>
          <a:noFill/>
          <a:ln/>
        </p:spPr>
        <p:txBody>
          <a:bodyPr wrap="square" lIns="0" tIns="0" rIns="0" bIns="0" rtlCol="0" anchor="ctr"/>
          <a:lstStyle/>
          <a:p>
            <a:pPr algn="r" indent="0" marL="0">
              <a:buNone/>
            </a:pPr>
            <a:r>
              <a:rPr lang="en-US" sz="900" dirty="0">
                <a:solidFill>
                  <a:srgbClr val="6B7A86"/>
                </a:solidFill>
                <a:latin typeface="Arial" pitchFamily="34" charset="0"/>
                <a:ea typeface="Arial" pitchFamily="34" charset="-122"/>
                <a:cs typeface="Arial" pitchFamily="34" charset="-120"/>
              </a:rPr>
              <a:t>10</a:t>
            </a:r>
            <a:endParaRPr lang="en-US" sz="900" dirty="0"/>
          </a:p>
        </p:txBody>
      </p:sp>
      <p:sp>
        <p:nvSpPr>
          <p:cNvPr id="6" name="Text 4"/>
          <p:cNvSpPr txBox="1"/>
          <p:nvPr/>
        </p:nvSpPr>
        <p:spPr>
          <a:xfrm>
            <a:off x="548640" y="1143000"/>
            <a:ext cx="11091672" cy="274320"/>
          </a:xfrm>
          <a:prstGeom prst="rect">
            <a:avLst/>
          </a:prstGeom>
          <a:noFill/>
          <a:ln/>
        </p:spPr>
        <p:txBody>
          <a:bodyPr wrap="square" lIns="0" tIns="0" rIns="0" bIns="0" rtlCol="0" anchor="t"/>
          <a:lstStyle/>
          <a:p>
            <a:pPr indent="0" marL="0">
              <a:lnSpc>
                <a:spcPts val="1632"/>
              </a:lnSpc>
              <a:buNone/>
            </a:pPr>
            <a:r>
              <a:rPr lang="en-US" sz="1200" dirty="0">
                <a:solidFill>
                  <a:srgbClr val="5B6B7A"/>
                </a:solidFill>
                <a:latin typeface="Arial" pitchFamily="34" charset="0"/>
                <a:ea typeface="Arial" pitchFamily="34" charset="-122"/>
                <a:cs typeface="Arial" pitchFamily="34" charset="-120"/>
              </a:rPr>
              <a:t>Kept on one slide so that nothing elsewhere in this deck needs a footnote.</a:t>
            </a:r>
            <a:endParaRPr lang="en-US" sz="1200" dirty="0"/>
          </a:p>
        </p:txBody>
      </p:sp>
      <p:sp>
        <p:nvSpPr>
          <p:cNvPr id="7" name="Shape 5"/>
          <p:cNvSpPr/>
          <p:nvPr/>
        </p:nvSpPr>
        <p:spPr>
          <a:xfrm>
            <a:off x="548640" y="1554480"/>
            <a:ext cx="3575304" cy="2651760"/>
          </a:xfrm>
          <a:prstGeom prst="roundRect">
            <a:avLst>
              <a:gd name="adj" fmla="val 2414"/>
            </a:avLst>
          </a:prstGeom>
          <a:solidFill>
            <a:srgbClr val="E2F1F2"/>
          </a:solidFill>
          <a:ln w="12700">
            <a:solidFill>
              <a:srgbClr val="B9DEE1"/>
            </a:solidFill>
            <a:prstDash val="solid"/>
          </a:ln>
          <a:effectLst>
            <a:outerShdw sx="100000" sy="100000" kx="0" ky="0" algn="bl" rotWithShape="0" blurRad="88900" dist="25400" dir="5400000">
              <a:srgbClr val="AEBDC7">
                <a:alpha val="22000"/>
              </a:srgbClr>
            </a:outerShdw>
          </a:effectLst>
        </p:spPr>
      </p:sp>
      <p:sp>
        <p:nvSpPr>
          <p:cNvPr id="8" name="Shape 6"/>
          <p:cNvSpPr/>
          <p:nvPr/>
        </p:nvSpPr>
        <p:spPr>
          <a:xfrm>
            <a:off x="768096" y="1737360"/>
            <a:ext cx="1920240" cy="237744"/>
          </a:xfrm>
          <a:prstGeom prst="roundRect">
            <a:avLst>
              <a:gd name="adj" fmla="val 50000"/>
            </a:avLst>
          </a:prstGeom>
          <a:solidFill>
            <a:srgbClr val="0E7C86"/>
          </a:solidFill>
          <a:ln/>
        </p:spPr>
      </p:sp>
      <p:sp>
        <p:nvSpPr>
          <p:cNvPr id="9" name="Text 7"/>
          <p:cNvSpPr txBox="1"/>
          <p:nvPr/>
        </p:nvSpPr>
        <p:spPr>
          <a:xfrm>
            <a:off x="768096" y="1737360"/>
            <a:ext cx="1920240" cy="237744"/>
          </a:xfrm>
          <a:prstGeom prst="rect">
            <a:avLst/>
          </a:prstGeom>
          <a:noFill/>
          <a:ln/>
        </p:spPr>
        <p:txBody>
          <a:bodyPr wrap="square" lIns="0" tIns="0" rIns="0" bIns="0" rtlCol="0" anchor="ctr"/>
          <a:lstStyle/>
          <a:p>
            <a:pPr algn="ctr" indent="0" marL="0">
              <a:buNone/>
            </a:pPr>
            <a:r>
              <a:rPr lang="en-US" sz="850" b="1" spc="40" kern="0" dirty="0">
                <a:solidFill>
                  <a:srgbClr val="FFFFFF"/>
                </a:solidFill>
                <a:latin typeface="Arial" pitchFamily="34" charset="0"/>
                <a:ea typeface="Arial" pitchFamily="34" charset="-122"/>
                <a:cs typeface="Arial" pitchFamily="34" charset="-120"/>
              </a:rPr>
              <a:t>BUILT AND MEASURED</a:t>
            </a:r>
            <a:endParaRPr lang="en-US" sz="850" dirty="0"/>
          </a:p>
        </p:txBody>
      </p:sp>
      <p:sp>
        <p:nvSpPr>
          <p:cNvPr id="10" name="Text 8"/>
          <p:cNvSpPr txBox="1"/>
          <p:nvPr/>
        </p:nvSpPr>
        <p:spPr>
          <a:xfrm>
            <a:off x="768096" y="2121408"/>
            <a:ext cx="3154680" cy="1920240"/>
          </a:xfrm>
          <a:prstGeom prst="rect">
            <a:avLst/>
          </a:prstGeom>
          <a:noFill/>
          <a:ln/>
        </p:spPr>
        <p:txBody>
          <a:bodyPr wrap="square" lIns="0" tIns="0" rIns="0" bIns="0" rtlCol="0" anchor="t"/>
          <a:lstStyle/>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The bench rig, its sensing, segmentation, dashboard and CSV log</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The UP / DOWN load and loss separation, on real measurements</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Six fault models, validated against published worked examples</a:t>
            </a:r>
            <a:endParaRPr lang="en-US" sz="1050" dirty="0"/>
          </a:p>
        </p:txBody>
      </p:sp>
      <p:sp>
        <p:nvSpPr>
          <p:cNvPr id="11" name="Shape 9"/>
          <p:cNvSpPr/>
          <p:nvPr/>
        </p:nvSpPr>
        <p:spPr>
          <a:xfrm>
            <a:off x="4306824" y="1554480"/>
            <a:ext cx="3575304" cy="2651760"/>
          </a:xfrm>
          <a:prstGeom prst="roundRect">
            <a:avLst>
              <a:gd name="adj" fmla="val 2414"/>
            </a:avLst>
          </a:prstGeom>
          <a:solidFill>
            <a:srgbClr val="FBEEE2"/>
          </a:solidFill>
          <a:ln w="12700">
            <a:solidFill>
              <a:srgbClr val="EED6BE"/>
            </a:solidFill>
            <a:prstDash val="solid"/>
          </a:ln>
          <a:effectLst>
            <a:outerShdw sx="100000" sy="100000" kx="0" ky="0" algn="bl" rotWithShape="0" blurRad="88900" dist="25400" dir="5400000">
              <a:srgbClr val="AEBDC7">
                <a:alpha val="22000"/>
              </a:srgbClr>
            </a:outerShdw>
          </a:effectLst>
        </p:spPr>
      </p:sp>
      <p:sp>
        <p:nvSpPr>
          <p:cNvPr id="12" name="Shape 10"/>
          <p:cNvSpPr/>
          <p:nvPr/>
        </p:nvSpPr>
        <p:spPr>
          <a:xfrm>
            <a:off x="4526280" y="1737360"/>
            <a:ext cx="1920240" cy="237744"/>
          </a:xfrm>
          <a:prstGeom prst="roundRect">
            <a:avLst>
              <a:gd name="adj" fmla="val 50000"/>
            </a:avLst>
          </a:prstGeom>
          <a:solidFill>
            <a:srgbClr val="B4530A"/>
          </a:solidFill>
          <a:ln/>
        </p:spPr>
      </p:sp>
      <p:sp>
        <p:nvSpPr>
          <p:cNvPr id="13" name="Text 11"/>
          <p:cNvSpPr txBox="1"/>
          <p:nvPr/>
        </p:nvSpPr>
        <p:spPr>
          <a:xfrm>
            <a:off x="4526280" y="1737360"/>
            <a:ext cx="1920240" cy="237744"/>
          </a:xfrm>
          <a:prstGeom prst="rect">
            <a:avLst/>
          </a:prstGeom>
          <a:noFill/>
          <a:ln/>
        </p:spPr>
        <p:txBody>
          <a:bodyPr wrap="square" lIns="0" tIns="0" rIns="0" bIns="0" rtlCol="0" anchor="ctr"/>
          <a:lstStyle/>
          <a:p>
            <a:pPr algn="ctr" indent="0" marL="0">
              <a:buNone/>
            </a:pPr>
            <a:r>
              <a:rPr lang="en-US" sz="850" b="1" spc="40" kern="0" dirty="0">
                <a:solidFill>
                  <a:srgbClr val="FFFFFF"/>
                </a:solidFill>
                <a:latin typeface="Arial" pitchFamily="34" charset="0"/>
                <a:ea typeface="Arial" pitchFamily="34" charset="-122"/>
                <a:cs typeface="Arial" pitchFamily="34" charset="-120"/>
              </a:rPr>
              <a:t>SIMULATED, NOT MEASURED</a:t>
            </a:r>
            <a:endParaRPr lang="en-US" sz="850" dirty="0"/>
          </a:p>
        </p:txBody>
      </p:sp>
      <p:sp>
        <p:nvSpPr>
          <p:cNvPr id="14" name="Text 12"/>
          <p:cNvSpPr txBox="1"/>
          <p:nvPr/>
        </p:nvSpPr>
        <p:spPr>
          <a:xfrm>
            <a:off x="4526280" y="2121408"/>
            <a:ext cx="3154680" cy="1920240"/>
          </a:xfrm>
          <a:prstGeom prst="rect">
            <a:avLst/>
          </a:prstGeom>
          <a:noFill/>
          <a:ln/>
        </p:spPr>
        <p:txBody>
          <a:bodyPr wrap="square" lIns="0" tIns="0" rIns="0" bIns="0" rtlCol="0" anchor="t"/>
          <a:lstStyle/>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Every fault waveform in this deck comes from a physics model</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No fault has yet been injected into physical hardware</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The models have never been compared against a real elevator drive</a:t>
            </a:r>
            <a:endParaRPr lang="en-US" sz="1050" dirty="0"/>
          </a:p>
        </p:txBody>
      </p:sp>
      <p:sp>
        <p:nvSpPr>
          <p:cNvPr id="15" name="Shape 13"/>
          <p:cNvSpPr/>
          <p:nvPr/>
        </p:nvSpPr>
        <p:spPr>
          <a:xfrm>
            <a:off x="8065008" y="1554480"/>
            <a:ext cx="3575304" cy="2651760"/>
          </a:xfrm>
          <a:prstGeom prst="roundRect">
            <a:avLst>
              <a:gd name="adj" fmla="val 2414"/>
            </a:avLst>
          </a:prstGeom>
          <a:solidFill>
            <a:srgbClr val="F2F5F7"/>
          </a:solidFill>
          <a:ln w="12700">
            <a:solidFill>
              <a:srgbClr val="D7E0E6"/>
            </a:solidFill>
            <a:prstDash val="solid"/>
          </a:ln>
          <a:effectLst>
            <a:outerShdw sx="100000" sy="100000" kx="0" ky="0" algn="bl" rotWithShape="0" blurRad="88900" dist="25400" dir="5400000">
              <a:srgbClr val="AEBDC7">
                <a:alpha val="22000"/>
              </a:srgbClr>
            </a:outerShdw>
          </a:effectLst>
        </p:spPr>
      </p:sp>
      <p:sp>
        <p:nvSpPr>
          <p:cNvPr id="16" name="Shape 14"/>
          <p:cNvSpPr/>
          <p:nvPr/>
        </p:nvSpPr>
        <p:spPr>
          <a:xfrm>
            <a:off x="8284464" y="1737360"/>
            <a:ext cx="1920240" cy="237744"/>
          </a:xfrm>
          <a:prstGeom prst="roundRect">
            <a:avLst>
              <a:gd name="adj" fmla="val 50000"/>
            </a:avLst>
          </a:prstGeom>
          <a:solidFill>
            <a:srgbClr val="5B6B7A"/>
          </a:solidFill>
          <a:ln/>
        </p:spPr>
      </p:sp>
      <p:sp>
        <p:nvSpPr>
          <p:cNvPr id="17" name="Text 15"/>
          <p:cNvSpPr txBox="1"/>
          <p:nvPr/>
        </p:nvSpPr>
        <p:spPr>
          <a:xfrm>
            <a:off x="8284464" y="1737360"/>
            <a:ext cx="1920240" cy="237744"/>
          </a:xfrm>
          <a:prstGeom prst="rect">
            <a:avLst/>
          </a:prstGeom>
          <a:noFill/>
          <a:ln/>
        </p:spPr>
        <p:txBody>
          <a:bodyPr wrap="square" lIns="0" tIns="0" rIns="0" bIns="0" rtlCol="0" anchor="ctr"/>
          <a:lstStyle/>
          <a:p>
            <a:pPr algn="ctr" indent="0" marL="0">
              <a:buNone/>
            </a:pPr>
            <a:r>
              <a:rPr lang="en-US" sz="850" b="1" spc="40" kern="0" dirty="0">
                <a:solidFill>
                  <a:srgbClr val="FFFFFF"/>
                </a:solidFill>
                <a:latin typeface="Arial" pitchFamily="34" charset="0"/>
                <a:ea typeface="Arial" pitchFamily="34" charset="-122"/>
                <a:cs typeface="Arial" pitchFamily="34" charset="-120"/>
              </a:rPr>
              <a:t>NOT CLAIMED</a:t>
            </a:r>
            <a:endParaRPr lang="en-US" sz="850" dirty="0"/>
          </a:p>
        </p:txBody>
      </p:sp>
      <p:sp>
        <p:nvSpPr>
          <p:cNvPr id="18" name="Text 16"/>
          <p:cNvSpPr txBox="1"/>
          <p:nvPr/>
        </p:nvSpPr>
        <p:spPr>
          <a:xfrm>
            <a:off x="8284464" y="2121408"/>
            <a:ext cx="3154680" cy="1920240"/>
          </a:xfrm>
          <a:prstGeom prst="rect">
            <a:avLst/>
          </a:prstGeom>
          <a:noFill/>
          <a:ln/>
        </p:spPr>
        <p:txBody>
          <a:bodyPr wrap="square" lIns="0" tIns="0" rIns="0" bIns="0" rtlCol="0" anchor="t"/>
          <a:lstStyle/>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No accuracy, detection rate or false-alarm figure — none is measured</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Nothing is tuned to any manufacturer’s equipment</a:t>
            </a:r>
            <a:endParaRPr lang="en-US" sz="1050" dirty="0"/>
          </a:p>
          <a:p>
            <a:pPr marL="177800" indent="-177800">
              <a:lnSpc>
                <a:spcPts val="1449"/>
              </a:lnSpc>
              <a:spcAft>
                <a:spcPts val="600"/>
              </a:spcAft>
              <a:buSzPct val="100000"/>
              <a:buChar char="•"/>
            </a:pPr>
            <a:r>
              <a:rPr lang="en-US" sz="1050" dirty="0">
                <a:solidFill>
                  <a:srgbClr val="1A2430"/>
                </a:solidFill>
                <a:latin typeface="Arial" pitchFamily="34" charset="0"/>
                <a:ea typeface="Arial" pitchFamily="34" charset="-122"/>
                <a:cs typeface="Arial" pitchFamily="34" charset="-120"/>
              </a:rPr>
              <a:t>The rig is a 12 V testbed for the method, not a scaled elevator drive</a:t>
            </a:r>
            <a:endParaRPr lang="en-US" sz="1050" dirty="0"/>
          </a:p>
        </p:txBody>
      </p:sp>
      <p:sp>
        <p:nvSpPr>
          <p:cNvPr id="19" name="Shape 17"/>
          <p:cNvSpPr/>
          <p:nvPr/>
        </p:nvSpPr>
        <p:spPr>
          <a:xfrm>
            <a:off x="548640" y="4425696"/>
            <a:ext cx="11091672" cy="1792224"/>
          </a:xfrm>
          <a:prstGeom prst="roundRect">
            <a:avLst>
              <a:gd name="adj" fmla="val 3571"/>
            </a:avLst>
          </a:prstGeom>
          <a:solidFill>
            <a:srgbClr val="16202B"/>
          </a:solidFill>
          <a:ln w="12700">
            <a:solidFill>
              <a:srgbClr val="16202B"/>
            </a:solidFill>
            <a:prstDash val="solid"/>
          </a:ln>
          <a:effectLst>
            <a:outerShdw sx="100000" sy="100000" kx="0" ky="0" algn="bl" rotWithShape="0" blurRad="88900" dist="25400" dir="5400000">
              <a:srgbClr val="AEBDC7">
                <a:alpha val="22000"/>
              </a:srgbClr>
            </a:outerShdw>
          </a:effectLst>
        </p:spPr>
      </p:sp>
      <p:sp>
        <p:nvSpPr>
          <p:cNvPr id="20" name="Text 18"/>
          <p:cNvSpPr txBox="1"/>
          <p:nvPr/>
        </p:nvSpPr>
        <p:spPr>
          <a:xfrm>
            <a:off x="822960" y="4626864"/>
            <a:ext cx="10515600" cy="329184"/>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What the project set out to do, and did</a:t>
            </a:r>
            <a:endParaRPr lang="en-US" sz="1700" dirty="0"/>
          </a:p>
        </p:txBody>
      </p:sp>
      <p:sp>
        <p:nvSpPr>
          <p:cNvPr id="21" name="Text 19"/>
          <p:cNvSpPr txBox="1"/>
          <p:nvPr/>
        </p:nvSpPr>
        <p:spPr>
          <a:xfrm>
            <a:off x="822960" y="5029200"/>
            <a:ext cx="10515600" cy="1005840"/>
          </a:xfrm>
          <a:prstGeom prst="rect">
            <a:avLst/>
          </a:prstGeom>
          <a:noFill/>
          <a:ln/>
        </p:spPr>
        <p:txBody>
          <a:bodyPr wrap="square" lIns="0" tIns="0" rIns="0" bIns="0" rtlCol="0" anchor="t"/>
          <a:lstStyle/>
          <a:p>
            <a:pPr indent="0" marL="0">
              <a:lnSpc>
                <a:spcPts val="1900"/>
              </a:lnSpc>
              <a:buNone/>
            </a:pPr>
            <a:r>
              <a:rPr lang="en-US" sz="1250" dirty="0">
                <a:solidFill>
                  <a:srgbClr val="A9BAC6"/>
                </a:solidFill>
                <a:latin typeface="Arial" pitchFamily="34" charset="0"/>
                <a:ea typeface="Arial" pitchFamily="34" charset="-122"/>
                <a:cs typeface="Arial" pitchFamily="34" charset="-120"/>
              </a:rPr>
              <a:t>We built hardware that acquires real-time current and voltage and separates load from loss on its own, then built six research-backed fault models that show how each fault reaches those same two signals — and measured, fault by fault, how far the evidence goes. Two of the six can be traced to a cause. For the other four we can say precisely why not, which is the part that makes the first two worth trusting.</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Team Immortal</dc:creator>
  <cp:lastModifiedBy>Team Immortal</cp:lastModifiedBy>
  <cp:revision>1</cp:revision>
  <dcterms:created xsi:type="dcterms:W3CDTF">2026-09-28T16:59:57Z</dcterms:created>
  <dcterms:modified xsi:type="dcterms:W3CDTF">2026-09-28T16:59:57Z</dcterms:modified>
</cp:coreProperties>
</file>